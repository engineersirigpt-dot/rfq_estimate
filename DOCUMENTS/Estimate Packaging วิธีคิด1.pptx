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309" r:id="rId2"/>
    <p:sldId id="257" r:id="rId3"/>
    <p:sldId id="256" r:id="rId4"/>
    <p:sldId id="259" r:id="rId5"/>
    <p:sldId id="260" r:id="rId6"/>
    <p:sldId id="310" r:id="rId7"/>
    <p:sldId id="311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7" r:id="rId34"/>
    <p:sldId id="288" r:id="rId35"/>
    <p:sldId id="289" r:id="rId36"/>
    <p:sldId id="290" r:id="rId37"/>
    <p:sldId id="292" r:id="rId38"/>
    <p:sldId id="291" r:id="rId39"/>
    <p:sldId id="293" r:id="rId40"/>
    <p:sldId id="294" r:id="rId41"/>
    <p:sldId id="296" r:id="rId42"/>
    <p:sldId id="295" r:id="rId43"/>
    <p:sldId id="297" r:id="rId44"/>
    <p:sldId id="298" r:id="rId45"/>
    <p:sldId id="299" r:id="rId46"/>
    <p:sldId id="300" r:id="rId47"/>
    <p:sldId id="301" r:id="rId48"/>
    <p:sldId id="303" r:id="rId49"/>
    <p:sldId id="304" r:id="rId50"/>
    <p:sldId id="305" r:id="rId51"/>
    <p:sldId id="306" r:id="rId52"/>
    <p:sldId id="307" r:id="rId53"/>
    <p:sldId id="308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0C1"/>
    <a:srgbClr val="FFF6D9"/>
    <a:srgbClr val="DBC2B1"/>
    <a:srgbClr val="CDCD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97" autoAdjust="0"/>
  </p:normalViewPr>
  <p:slideViewPr>
    <p:cSldViewPr snapToGrid="0">
      <p:cViewPr varScale="1">
        <p:scale>
          <a:sx n="82" d="100"/>
          <a:sy n="82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B7D6C-9744-420E-9F1D-3BE5647A9DC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8CEA03-28A2-4CDC-9927-845B8AA3A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536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8CEA03-28A2-4CDC-9927-845B8AA3AD6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3709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8CEA03-28A2-4CDC-9927-845B8AA3AD6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8436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8CEA03-28A2-4CDC-9927-845B8AA3AD6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4780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8CEA03-28A2-4CDC-9927-845B8AA3AD6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527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8CEA03-28A2-4CDC-9927-845B8AA3AD60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6624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8CEA03-28A2-4CDC-9927-845B8AA3AD60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1780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8CEA03-28A2-4CDC-9927-845B8AA3AD60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7472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8CEA03-28A2-4CDC-9927-845B8AA3AD60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1060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8CEA03-28A2-4CDC-9927-845B8AA3AD60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3257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8CEA03-28A2-4CDC-9927-845B8AA3AD60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8375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8CEA03-28A2-4CDC-9927-845B8AA3AD60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8705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8CEA03-28A2-4CDC-9927-845B8AA3AD60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3480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8CEA03-28A2-4CDC-9927-845B8AA3AD60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7137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8CEA03-28A2-4CDC-9927-845B8AA3AD60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8662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8CEA03-28A2-4CDC-9927-845B8AA3AD60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7575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8CEA03-28A2-4CDC-9927-845B8AA3AD60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5199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3DFB6-DCF1-4C84-9DF3-40F2794094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E4756C-B15C-4939-A3F4-B52C5B9708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EDD5A-8AD1-4F3D-B32A-C1CDAC688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074B2-63FA-4FB1-8299-8F1353D36CE9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7336C-5049-4A6D-AE46-9D62D019B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5465E-A467-44A0-994E-FE09D8391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E4051-F6B9-42A0-A712-78DD2644C5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539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43CB5-421F-4C7F-97D0-EABBA928A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5C0A5-7CF0-4001-802C-09541F24D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8454B-016C-4D97-A473-06F15F34B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074B2-63FA-4FB1-8299-8F1353D36CE9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D214B-86E9-4168-A14B-3D70D8AC2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63EEBB-27D1-42EF-9F40-84C3D52E2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E4051-F6B9-42A0-A712-78DD2644C5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190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9EB11-013F-4192-963B-FB405E97E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17428C-F734-4250-9E1B-61E201189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5612D-9743-44AA-ABED-64CAE0A10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074B2-63FA-4FB1-8299-8F1353D36CE9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E2F90-64C9-4782-8D3E-FAB27B481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C75E2-5813-4D9F-BD35-1081FBF57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E4051-F6B9-42A0-A712-78DD2644C5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79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7CC48-66C5-4B34-8764-819BC4ACF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0F0D0-AAE5-4B94-9DD8-0E8B7F9A62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E10AF-7B48-46FC-AF99-1697737B0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D5570-C9A3-4802-9AA8-107ED30FC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074B2-63FA-4FB1-8299-8F1353D36CE9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B38AB3-31FB-4320-BA52-E540597C5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601BC6-7189-43FA-AC5E-455B7B5BF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E4051-F6B9-42A0-A712-78DD2644C5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206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A290E-3279-41F9-B43A-4A0232186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A2CD0F-8223-40C7-806F-C93B7E8DD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C36B26-1216-4116-B372-5C7C0040EB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A05D0A-A45C-4F2F-8F44-79820A176C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0F4CA1-A739-4DA6-9F3C-0105ECB8BA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206AC2-2765-48F6-930C-EC86F86ED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074B2-63FA-4FB1-8299-8F1353D36CE9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15D636-2866-461F-AB58-1793485B9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403FD9-7B40-44CE-8935-FB21AE341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E4051-F6B9-42A0-A712-78DD2644C5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080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1FE0E-95C8-4A46-8AD4-83AD8D8FA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720BD-7A9A-4E27-A287-3CDBA4DAD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074B2-63FA-4FB1-8299-8F1353D36CE9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5E4DFD-C751-41FE-940E-3F27BA201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4D1315-856E-4111-9E9A-275C21040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E4051-F6B9-42A0-A712-78DD2644C5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259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A7A9BB-6462-4A71-AB43-A47C8E611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074B2-63FA-4FB1-8299-8F1353D36CE9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EFE380-886F-4C59-B168-6FBBE110D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F66E3-42B2-463B-9AF4-F286A9FF6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E4051-F6B9-42A0-A712-78DD2644C5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573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94169-6EFB-46CF-BD4B-A122C97AE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1E786-2B64-4F20-8090-A2F8C7E73C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D53199-B245-4CAE-8AEF-05F05A0C4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A7A067-51C9-43B7-A0F7-F1C099261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074B2-63FA-4FB1-8299-8F1353D36CE9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1A2739-F6E8-44D9-B4CD-546E6795F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34C518-75B6-4E4B-A262-E402E742E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E4051-F6B9-42A0-A712-78DD2644C5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624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7EB24-EE76-4FCF-8CC5-F875C8DA1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BA5E88-6618-435E-9534-51ACA5E608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97AA12-1DC5-4EAC-A33C-D59AC396A2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24E74C-9F84-4FAA-A378-FEAB1E50C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074B2-63FA-4FB1-8299-8F1353D36CE9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9772EF-2BA5-4EFF-8CE2-B8DA134D7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601081-51E3-4077-81F4-5621D938F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E4051-F6B9-42A0-A712-78DD2644C5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400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E9094-2CFC-44D5-B829-3076CE4FB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33E6E1-C877-400E-AD2F-BC19C058FE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38534-69A4-4971-9886-A28518F94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074B2-63FA-4FB1-8299-8F1353D36CE9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AF31E-A80B-4AE0-A3DD-027F260AA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A1816-5C85-4B31-B583-E2131599C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E4051-F6B9-42A0-A712-78DD2644C5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541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75F2BD-0611-4142-8A07-FB663F763C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E4F15F-5CCD-4B60-B389-AEA34DE55B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11AFA-9BCF-4DEC-99F8-96E13B7BA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074B2-63FA-4FB1-8299-8F1353D36CE9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49439-21E7-48FF-8C22-4F4D50698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F934C-85BD-4F37-97CC-5800A917E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E4051-F6B9-42A0-A712-78DD2644C5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919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EAFF8A-9CD2-446B-89D0-9A6A40C3F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9C32D9-141A-4698-9AFB-B142F91F0E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F537E-5D99-47CF-8B81-58F9B36341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9074B2-63FA-4FB1-8299-8F1353D36CE9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D5682-4494-4DCF-ACC0-41AE208BED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4D5E0-1405-449B-AA8F-826C24BEC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5E4051-F6B9-42A0-A712-78DD2644C5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652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192.168.5.25:4040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emf"/><Relationship Id="rId4" Type="http://schemas.openxmlformats.org/officeDocument/2006/relationships/image" Target="../media/image37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file:///\\192.168.5.25\www\estimate_packaging\controllers\estimate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192.168.5.25:404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D537734-3FB6-4D42-B97A-C09D661C659D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5" name="สี่เหลี่ยมผืนผ้า 33">
              <a:extLst>
                <a:ext uri="{FF2B5EF4-FFF2-40B4-BE49-F238E27FC236}">
                  <a16:creationId xmlns:a16="http://schemas.microsoft.com/office/drawing/2014/main" id="{7B1EED43-3226-433B-A244-AC3353A21066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กล่องข้อความ 34">
              <a:extLst>
                <a:ext uri="{FF2B5EF4-FFF2-40B4-BE49-F238E27FC236}">
                  <a16:creationId xmlns:a16="http://schemas.microsoft.com/office/drawing/2014/main" id="{E70FB1B6-FBFF-45A6-9BA6-0FAE02B3FDBF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CE18029-FED3-40CC-941A-1F266218CF6D}"/>
              </a:ext>
            </a:extLst>
          </p:cNvPr>
          <p:cNvSpPr txBox="1"/>
          <p:nvPr/>
        </p:nvSpPr>
        <p:spPr>
          <a:xfrm>
            <a:off x="1356879" y="2005079"/>
            <a:ext cx="947824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Estimate</a:t>
            </a: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MI2 </a:t>
            </a: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(Packaging)</a:t>
            </a:r>
          </a:p>
        </p:txBody>
      </p:sp>
    </p:spTree>
    <p:extLst>
      <p:ext uri="{BB962C8B-B14F-4D97-AF65-F5344CB8AC3E}">
        <p14:creationId xmlns:p14="http://schemas.microsoft.com/office/powerpoint/2010/main" val="2264606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BE8EA5-EBF5-44DE-8FB4-3FDE5293CF25}"/>
              </a:ext>
            </a:extLst>
          </p:cNvPr>
          <p:cNvSpPr txBox="1"/>
          <p:nvPr/>
        </p:nvSpPr>
        <p:spPr>
          <a:xfrm>
            <a:off x="439064" y="330654"/>
            <a:ext cx="4067176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Packaging Production Flow Chart</a:t>
            </a:r>
          </a:p>
        </p:txBody>
      </p:sp>
      <p:sp>
        <p:nvSpPr>
          <p:cNvPr id="5" name="Flowchart: Terminator 4">
            <a:extLst>
              <a:ext uri="{FF2B5EF4-FFF2-40B4-BE49-F238E27FC236}">
                <a16:creationId xmlns:a16="http://schemas.microsoft.com/office/drawing/2014/main" id="{3B2C0445-96DE-44D2-AD41-5B01D31DBEDF}"/>
              </a:ext>
            </a:extLst>
          </p:cNvPr>
          <p:cNvSpPr/>
          <p:nvPr/>
        </p:nvSpPr>
        <p:spPr>
          <a:xfrm>
            <a:off x="1395412" y="1429983"/>
            <a:ext cx="819151" cy="394960"/>
          </a:xfrm>
          <a:prstGeom prst="flowChartTerminator">
            <a:avLst/>
          </a:prstGeom>
          <a:ln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rdia New" panose="020B0304020202020204" pitchFamily="34" charset="-34"/>
                <a:cs typeface="Cordia New" panose="020B0304020202020204" pitchFamily="34" charset="-34"/>
              </a:rPr>
              <a:t>Start</a:t>
            </a:r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47ED60A2-EA7E-46EC-8D94-C0D96D181B24}"/>
              </a:ext>
            </a:extLst>
          </p:cNvPr>
          <p:cNvSpPr/>
          <p:nvPr/>
        </p:nvSpPr>
        <p:spPr>
          <a:xfrm>
            <a:off x="1065609" y="2178931"/>
            <a:ext cx="1478757" cy="411890"/>
          </a:xfrm>
          <a:prstGeom prst="flowChartAlternateProcess">
            <a:avLst/>
          </a:prstGeom>
          <a:ln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rdia New" panose="020B0304020202020204" pitchFamily="34" charset="-34"/>
                <a:cs typeface="Cordia New" panose="020B0304020202020204" pitchFamily="34" charset="-34"/>
              </a:rPr>
              <a:t>AE </a:t>
            </a:r>
            <a:r>
              <a:rPr lang="th-TH" dirty="0">
                <a:latin typeface="Cordia New" panose="020B0304020202020204" pitchFamily="34" charset="-34"/>
                <a:cs typeface="Cordia New" panose="020B0304020202020204" pitchFamily="34" charset="-34"/>
              </a:rPr>
              <a:t>ดีลงานกับลูกค้า</a:t>
            </a:r>
            <a:endParaRPr lang="en-US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904D654B-78E4-4165-B73C-75DAC2D1A44A}"/>
              </a:ext>
            </a:extLst>
          </p:cNvPr>
          <p:cNvSpPr/>
          <p:nvPr/>
        </p:nvSpPr>
        <p:spPr>
          <a:xfrm>
            <a:off x="676275" y="2944808"/>
            <a:ext cx="2257425" cy="617541"/>
          </a:xfrm>
          <a:prstGeom prst="flowChartAlternateProcess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rdia New" panose="020B0304020202020204" pitchFamily="34" charset="-34"/>
                <a:cs typeface="Cordia New" panose="020B0304020202020204" pitchFamily="34" charset="-34"/>
              </a:rPr>
              <a:t>AE </a:t>
            </a:r>
            <a:r>
              <a:rPr lang="th-TH" dirty="0">
                <a:latin typeface="Cordia New" panose="020B0304020202020204" pitchFamily="34" charset="-34"/>
                <a:cs typeface="Cordia New" panose="020B0304020202020204" pitchFamily="34" charset="-34"/>
              </a:rPr>
              <a:t>เปิด</a:t>
            </a:r>
            <a:r>
              <a:rPr lang="en-US" dirty="0">
                <a:latin typeface="Cordia New" panose="020B0304020202020204" pitchFamily="34" charset="-34"/>
                <a:cs typeface="Cordia New" panose="020B0304020202020204" pitchFamily="34" charset="-34"/>
              </a:rPr>
              <a:t> RFQ</a:t>
            </a:r>
            <a:r>
              <a:rPr lang="th-TH" dirty="0">
                <a:latin typeface="Cordia New" panose="020B0304020202020204" pitchFamily="34" charset="-34"/>
                <a:cs typeface="Cordia New" panose="020B0304020202020204" pitchFamily="34" charset="-34"/>
              </a:rPr>
              <a:t> ใน</a:t>
            </a:r>
            <a:r>
              <a:rPr lang="en-US" dirty="0">
                <a:latin typeface="Cordia New" panose="020B0304020202020204" pitchFamily="34" charset="-34"/>
                <a:cs typeface="Cordia New" panose="020B0304020202020204" pitchFamily="34" charset="-34"/>
              </a:rPr>
              <a:t> MI</a:t>
            </a:r>
            <a:endParaRPr lang="th-TH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algn="ctr"/>
            <a:r>
              <a:rPr lang="th-TH" dirty="0">
                <a:latin typeface="Cordia New" panose="020B0304020202020204" pitchFamily="34" charset="-34"/>
                <a:cs typeface="Cordia New" panose="020B0304020202020204" pitchFamily="34" charset="-34"/>
              </a:rPr>
              <a:t>ส่ง</a:t>
            </a:r>
            <a:r>
              <a:rPr lang="th-TH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สเปค</a:t>
            </a:r>
            <a:r>
              <a:rPr lang="th-TH" dirty="0">
                <a:latin typeface="Cordia New" panose="020B0304020202020204" pitchFamily="34" charset="-34"/>
                <a:cs typeface="Cordia New" panose="020B0304020202020204" pitchFamily="34" charset="-34"/>
              </a:rPr>
              <a:t>งานให้ทีม </a:t>
            </a:r>
            <a:r>
              <a:rPr lang="en-US" dirty="0">
                <a:latin typeface="Cordia New" panose="020B0304020202020204" pitchFamily="34" charset="-34"/>
                <a:cs typeface="Cordia New" panose="020B0304020202020204" pitchFamily="34" charset="-34"/>
              </a:rPr>
              <a:t>Estimate</a:t>
            </a:r>
          </a:p>
        </p:txBody>
      </p:sp>
      <p:sp>
        <p:nvSpPr>
          <p:cNvPr id="22" name="Flowchart: Alternate Process 21">
            <a:extLst>
              <a:ext uri="{FF2B5EF4-FFF2-40B4-BE49-F238E27FC236}">
                <a16:creationId xmlns:a16="http://schemas.microsoft.com/office/drawing/2014/main" id="{BD101016-09E7-4919-A341-A5793E44FE30}"/>
              </a:ext>
            </a:extLst>
          </p:cNvPr>
          <p:cNvSpPr/>
          <p:nvPr/>
        </p:nvSpPr>
        <p:spPr>
          <a:xfrm>
            <a:off x="842963" y="3916336"/>
            <a:ext cx="1924049" cy="707975"/>
          </a:xfrm>
          <a:prstGeom prst="flowChartAlternateProcess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>
                <a:latin typeface="Cordia New" panose="020B0304020202020204" pitchFamily="34" charset="-34"/>
                <a:cs typeface="Cordia New" panose="020B0304020202020204" pitchFamily="34" charset="-34"/>
              </a:rPr>
              <a:t>ทีม </a:t>
            </a:r>
            <a:r>
              <a:rPr lang="en-US" dirty="0">
                <a:latin typeface="Cordia New" panose="020B0304020202020204" pitchFamily="34" charset="-34"/>
                <a:cs typeface="Cordia New" panose="020B0304020202020204" pitchFamily="34" charset="-34"/>
              </a:rPr>
              <a:t>Estimate </a:t>
            </a:r>
            <a:r>
              <a:rPr lang="th-TH" dirty="0">
                <a:latin typeface="Cordia New" panose="020B0304020202020204" pitchFamily="34" charset="-34"/>
                <a:cs typeface="Cordia New" panose="020B0304020202020204" pitchFamily="34" charset="-34"/>
              </a:rPr>
              <a:t>คิดราคางาน และส่งข้อมูลกลับไปที่</a:t>
            </a:r>
            <a:r>
              <a:rPr lang="en-US" dirty="0">
                <a:latin typeface="Cordia New" panose="020B0304020202020204" pitchFamily="34" charset="-34"/>
                <a:cs typeface="Cordia New" panose="020B0304020202020204" pitchFamily="34" charset="-34"/>
              </a:rPr>
              <a:t> AE</a:t>
            </a:r>
          </a:p>
        </p:txBody>
      </p:sp>
      <p:sp>
        <p:nvSpPr>
          <p:cNvPr id="26" name="Flowchart: Alternate Process 25">
            <a:extLst>
              <a:ext uri="{FF2B5EF4-FFF2-40B4-BE49-F238E27FC236}">
                <a16:creationId xmlns:a16="http://schemas.microsoft.com/office/drawing/2014/main" id="{43435D50-20C2-4523-BD3A-537E74C0D90F}"/>
              </a:ext>
            </a:extLst>
          </p:cNvPr>
          <p:cNvSpPr/>
          <p:nvPr/>
        </p:nvSpPr>
        <p:spPr>
          <a:xfrm>
            <a:off x="852486" y="4978298"/>
            <a:ext cx="1905003" cy="707975"/>
          </a:xfrm>
          <a:prstGeom prst="flowChartAlternateProcess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rdia New" panose="020B0304020202020204" pitchFamily="34" charset="-34"/>
                <a:cs typeface="Cordia New" panose="020B0304020202020204" pitchFamily="34" charset="-34"/>
              </a:rPr>
              <a:t>AE</a:t>
            </a:r>
            <a:r>
              <a:rPr lang="th-TH" dirty="0">
                <a:latin typeface="Cordia New" panose="020B0304020202020204" pitchFamily="34" charset="-34"/>
                <a:cs typeface="Cordia New" panose="020B0304020202020204" pitchFamily="34" charset="-34"/>
              </a:rPr>
              <a:t> สร้าง</a:t>
            </a:r>
            <a:r>
              <a:rPr lang="en-US" dirty="0">
                <a:latin typeface="Cordia New" panose="020B0304020202020204" pitchFamily="34" charset="-34"/>
                <a:cs typeface="Cordia New" panose="020B0304020202020204" pitchFamily="34" charset="-34"/>
              </a:rPr>
              <a:t> Quotation</a:t>
            </a:r>
            <a:r>
              <a:rPr lang="th-TH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</a:p>
          <a:p>
            <a:pPr algn="ctr"/>
            <a:r>
              <a:rPr lang="th-TH" dirty="0">
                <a:latin typeface="Cordia New" panose="020B0304020202020204" pitchFamily="34" charset="-34"/>
                <a:cs typeface="Cordia New" panose="020B0304020202020204" pitchFamily="34" charset="-34"/>
              </a:rPr>
              <a:t>เพื่อขายงาน</a:t>
            </a:r>
            <a:endParaRPr lang="en-US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27" name="Flowchart: Decision 26">
            <a:extLst>
              <a:ext uri="{FF2B5EF4-FFF2-40B4-BE49-F238E27FC236}">
                <a16:creationId xmlns:a16="http://schemas.microsoft.com/office/drawing/2014/main" id="{FE55ACA8-9E16-4325-A291-0FE0F47D20DC}"/>
              </a:ext>
            </a:extLst>
          </p:cNvPr>
          <p:cNvSpPr/>
          <p:nvPr/>
        </p:nvSpPr>
        <p:spPr>
          <a:xfrm>
            <a:off x="3571875" y="1429983"/>
            <a:ext cx="1828800" cy="725212"/>
          </a:xfrm>
          <a:prstGeom prst="flowChartDecision">
            <a:avLst/>
          </a:prstGeom>
          <a:ln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rdia New" panose="020B0304020202020204" pitchFamily="34" charset="-34"/>
                <a:cs typeface="Cordia New" panose="020B0304020202020204" pitchFamily="34" charset="-34"/>
              </a:rPr>
              <a:t>AE</a:t>
            </a:r>
            <a:r>
              <a:rPr lang="th-TH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</a:p>
          <a:p>
            <a:pPr algn="ctr"/>
            <a:r>
              <a:rPr lang="th-TH" dirty="0">
                <a:latin typeface="Cordia New" panose="020B0304020202020204" pitchFamily="34" charset="-34"/>
                <a:cs typeface="Cordia New" panose="020B0304020202020204" pitchFamily="34" charset="-34"/>
              </a:rPr>
              <a:t>ขายงานได้</a:t>
            </a:r>
            <a:endParaRPr lang="en-US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FAD9D0E-F4C3-4511-A813-F08C6FC92FDA}"/>
              </a:ext>
            </a:extLst>
          </p:cNvPr>
          <p:cNvSpPr/>
          <p:nvPr/>
        </p:nvSpPr>
        <p:spPr>
          <a:xfrm>
            <a:off x="3746897" y="2480107"/>
            <a:ext cx="1478757" cy="411890"/>
          </a:xfrm>
          <a:prstGeom prst="round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>
                <a:latin typeface="Cordia New" panose="020B0304020202020204" pitchFamily="34" charset="-34"/>
                <a:cs typeface="Cordia New" panose="020B0304020202020204" pitchFamily="34" charset="-34"/>
              </a:rPr>
              <a:t>เปิด</a:t>
            </a:r>
            <a:r>
              <a:rPr lang="en-US" dirty="0">
                <a:latin typeface="Cordia New" panose="020B0304020202020204" pitchFamily="34" charset="-34"/>
                <a:cs typeface="Cordia New" panose="020B0304020202020204" pitchFamily="34" charset="-34"/>
              </a:rPr>
              <a:t> Job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F8C9F20-AE6A-4E68-970F-22ACAAC409DB}"/>
              </a:ext>
            </a:extLst>
          </p:cNvPr>
          <p:cNvSpPr/>
          <p:nvPr/>
        </p:nvSpPr>
        <p:spPr>
          <a:xfrm>
            <a:off x="3746897" y="3253578"/>
            <a:ext cx="1478757" cy="777446"/>
          </a:xfrm>
          <a:prstGeom prst="round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>
                <a:latin typeface="Cordia New" panose="020B0304020202020204" pitchFamily="34" charset="-34"/>
                <a:cs typeface="Cordia New" panose="020B0304020202020204" pitchFamily="34" charset="-34"/>
              </a:rPr>
              <a:t>เข้าสู่ขั้นตอนการวางและผลิต</a:t>
            </a:r>
            <a:endParaRPr lang="en-US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ADE659E-4955-4987-A52A-0141100DAD0D}"/>
              </a:ext>
            </a:extLst>
          </p:cNvPr>
          <p:cNvCxnSpPr>
            <a:cxnSpLocks/>
          </p:cNvCxnSpPr>
          <p:nvPr/>
        </p:nvCxnSpPr>
        <p:spPr>
          <a:xfrm>
            <a:off x="1804987" y="1824943"/>
            <a:ext cx="0" cy="353988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3796942-70DA-4019-9B67-5965A95F0355}"/>
              </a:ext>
            </a:extLst>
          </p:cNvPr>
          <p:cNvCxnSpPr>
            <a:cxnSpLocks/>
          </p:cNvCxnSpPr>
          <p:nvPr/>
        </p:nvCxnSpPr>
        <p:spPr>
          <a:xfrm>
            <a:off x="1802605" y="2590821"/>
            <a:ext cx="0" cy="35398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F5867B0-6341-45C1-A632-DDEA5A813FD2}"/>
              </a:ext>
            </a:extLst>
          </p:cNvPr>
          <p:cNvCxnSpPr>
            <a:cxnSpLocks/>
          </p:cNvCxnSpPr>
          <p:nvPr/>
        </p:nvCxnSpPr>
        <p:spPr>
          <a:xfrm>
            <a:off x="1804987" y="3562349"/>
            <a:ext cx="0" cy="35398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406414B-CE88-4072-A4FD-A963B3356EDD}"/>
              </a:ext>
            </a:extLst>
          </p:cNvPr>
          <p:cNvCxnSpPr>
            <a:cxnSpLocks/>
          </p:cNvCxnSpPr>
          <p:nvPr/>
        </p:nvCxnSpPr>
        <p:spPr>
          <a:xfrm>
            <a:off x="1804987" y="4624311"/>
            <a:ext cx="0" cy="35398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02A61BA5-311F-4624-8EB1-1CD3EED4A2C6}"/>
              </a:ext>
            </a:extLst>
          </p:cNvPr>
          <p:cNvCxnSpPr>
            <a:stCxn id="26" idx="3"/>
            <a:endCxn id="27" idx="1"/>
          </p:cNvCxnSpPr>
          <p:nvPr/>
        </p:nvCxnSpPr>
        <p:spPr>
          <a:xfrm flipV="1">
            <a:off x="2757489" y="1792589"/>
            <a:ext cx="814386" cy="3539697"/>
          </a:xfrm>
          <a:prstGeom prst="bentConnector3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6E303B6-445A-49F9-A67F-2CE4E3C2D0B4}"/>
              </a:ext>
            </a:extLst>
          </p:cNvPr>
          <p:cNvCxnSpPr>
            <a:stCxn id="27" idx="2"/>
            <a:endCxn id="28" idx="0"/>
          </p:cNvCxnSpPr>
          <p:nvPr/>
        </p:nvCxnSpPr>
        <p:spPr>
          <a:xfrm>
            <a:off x="4486275" y="2155195"/>
            <a:ext cx="1" cy="324912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6805387-4B09-4379-B777-1E4A61ECE8A4}"/>
              </a:ext>
            </a:extLst>
          </p:cNvPr>
          <p:cNvCxnSpPr>
            <a:stCxn id="28" idx="2"/>
            <a:endCxn id="29" idx="0"/>
          </p:cNvCxnSpPr>
          <p:nvPr/>
        </p:nvCxnSpPr>
        <p:spPr>
          <a:xfrm>
            <a:off x="4486276" y="2891997"/>
            <a:ext cx="0" cy="361581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Flowchart: Terminator 48">
            <a:extLst>
              <a:ext uri="{FF2B5EF4-FFF2-40B4-BE49-F238E27FC236}">
                <a16:creationId xmlns:a16="http://schemas.microsoft.com/office/drawing/2014/main" id="{96CBCD6E-1E17-4440-812E-FDA917DAE637}"/>
              </a:ext>
            </a:extLst>
          </p:cNvPr>
          <p:cNvSpPr/>
          <p:nvPr/>
        </p:nvSpPr>
        <p:spPr>
          <a:xfrm>
            <a:off x="4071928" y="4392605"/>
            <a:ext cx="819151" cy="394960"/>
          </a:xfrm>
          <a:prstGeom prst="flowChartTerminator">
            <a:avLst/>
          </a:prstGeom>
          <a:ln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rdia New" panose="020B0304020202020204" pitchFamily="34" charset="-34"/>
                <a:cs typeface="Cordia New" panose="020B0304020202020204" pitchFamily="34" charset="-34"/>
              </a:rPr>
              <a:t>End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7F499C3-43B2-4151-AFCA-FD5B7CED5538}"/>
              </a:ext>
            </a:extLst>
          </p:cNvPr>
          <p:cNvCxnSpPr>
            <a:stCxn id="29" idx="2"/>
            <a:endCxn id="49" idx="0"/>
          </p:cNvCxnSpPr>
          <p:nvPr/>
        </p:nvCxnSpPr>
        <p:spPr>
          <a:xfrm flipH="1">
            <a:off x="4481504" y="4031024"/>
            <a:ext cx="4772" cy="361581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0A548CB9-A4BA-4870-952A-A49C4C6298B0}"/>
              </a:ext>
            </a:extLst>
          </p:cNvPr>
          <p:cNvCxnSpPr>
            <a:stCxn id="27" idx="3"/>
            <a:endCxn id="49" idx="3"/>
          </p:cNvCxnSpPr>
          <p:nvPr/>
        </p:nvCxnSpPr>
        <p:spPr>
          <a:xfrm flipH="1">
            <a:off x="4891079" y="1792589"/>
            <a:ext cx="509596" cy="2797496"/>
          </a:xfrm>
          <a:prstGeom prst="bentConnector3">
            <a:avLst>
              <a:gd name="adj1" fmla="val -44859"/>
            </a:avLst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F57977F-DBEE-4B50-9069-F5BCAFC29C62}"/>
              </a:ext>
            </a:extLst>
          </p:cNvPr>
          <p:cNvCxnSpPr>
            <a:cxnSpLocks/>
          </p:cNvCxnSpPr>
          <p:nvPr/>
        </p:nvCxnSpPr>
        <p:spPr>
          <a:xfrm>
            <a:off x="6000750" y="1005830"/>
            <a:ext cx="0" cy="513208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4" name="Group 93">
            <a:extLst>
              <a:ext uri="{FF2B5EF4-FFF2-40B4-BE49-F238E27FC236}">
                <a16:creationId xmlns:a16="http://schemas.microsoft.com/office/drawing/2014/main" id="{686E57E8-6C75-471C-9CDF-F250B0C1B49F}"/>
              </a:ext>
            </a:extLst>
          </p:cNvPr>
          <p:cNvGrpSpPr/>
          <p:nvPr/>
        </p:nvGrpSpPr>
        <p:grpSpPr>
          <a:xfrm>
            <a:off x="6381754" y="1754337"/>
            <a:ext cx="2257425" cy="2741465"/>
            <a:chOff x="6381754" y="1739046"/>
            <a:chExt cx="2257425" cy="2741465"/>
          </a:xfrm>
        </p:grpSpPr>
        <p:sp>
          <p:nvSpPr>
            <p:cNvPr id="87" name="Flowchart: Alternate Process 86">
              <a:extLst>
                <a:ext uri="{FF2B5EF4-FFF2-40B4-BE49-F238E27FC236}">
                  <a16:creationId xmlns:a16="http://schemas.microsoft.com/office/drawing/2014/main" id="{AC9CBFA0-C5D5-4F13-AC0B-0391BE9B6567}"/>
                </a:ext>
              </a:extLst>
            </p:cNvPr>
            <p:cNvSpPr/>
            <p:nvPr/>
          </p:nvSpPr>
          <p:spPr>
            <a:xfrm>
              <a:off x="6381754" y="1739046"/>
              <a:ext cx="2257425" cy="617541"/>
            </a:xfrm>
            <a:prstGeom prst="flowChartAlternateProcess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AE </a:t>
              </a:r>
              <a:r>
                <a:rPr lang="th-TH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รู้สเปคงาน</a:t>
              </a:r>
              <a:endParaRPr lang="en-US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  <p:sp>
          <p:nvSpPr>
            <p:cNvPr id="88" name="Flowchart: Alternate Process 87">
              <a:extLst>
                <a:ext uri="{FF2B5EF4-FFF2-40B4-BE49-F238E27FC236}">
                  <a16:creationId xmlns:a16="http://schemas.microsoft.com/office/drawing/2014/main" id="{BE6C81F9-8B36-48E2-8E1D-F4E4BB95E33F}"/>
                </a:ext>
              </a:extLst>
            </p:cNvPr>
            <p:cNvSpPr/>
            <p:nvPr/>
          </p:nvSpPr>
          <p:spPr>
            <a:xfrm>
              <a:off x="6548442" y="2710574"/>
              <a:ext cx="1924049" cy="707975"/>
            </a:xfrm>
            <a:prstGeom prst="flowChartAlternateProcess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คิดราคาจาก </a:t>
              </a:r>
              <a:r>
                <a:rPr lang="en-US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MI2 </a:t>
              </a:r>
            </a:p>
          </p:txBody>
        </p:sp>
        <p:sp>
          <p:nvSpPr>
            <p:cNvPr id="89" name="Flowchart: Alternate Process 88">
              <a:extLst>
                <a:ext uri="{FF2B5EF4-FFF2-40B4-BE49-F238E27FC236}">
                  <a16:creationId xmlns:a16="http://schemas.microsoft.com/office/drawing/2014/main" id="{C18064FD-2E00-4504-8F97-6E27B33098ED}"/>
                </a:ext>
              </a:extLst>
            </p:cNvPr>
            <p:cNvSpPr/>
            <p:nvPr/>
          </p:nvSpPr>
          <p:spPr>
            <a:xfrm>
              <a:off x="6557965" y="3772536"/>
              <a:ext cx="1905003" cy="707975"/>
            </a:xfrm>
            <a:prstGeom prst="flowChartAlternateProcess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AE</a:t>
              </a:r>
              <a:r>
                <a:rPr lang="th-TH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สร้าง</a:t>
              </a:r>
              <a:r>
                <a:rPr lang="en-US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Quotation</a:t>
              </a:r>
              <a:r>
                <a:rPr lang="th-TH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</a:p>
            <a:p>
              <a:pPr algn="ctr"/>
              <a:r>
                <a:rPr lang="th-TH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เพื่อขายงาน</a:t>
              </a:r>
              <a:endParaRPr lang="en-US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CDC68571-4211-43AB-BFF3-3BBD5138169F}"/>
                </a:ext>
              </a:extLst>
            </p:cNvPr>
            <p:cNvCxnSpPr>
              <a:cxnSpLocks/>
            </p:cNvCxnSpPr>
            <p:nvPr/>
          </p:nvCxnSpPr>
          <p:spPr>
            <a:xfrm>
              <a:off x="7508083" y="2356587"/>
              <a:ext cx="0" cy="353987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96601D58-1133-4B85-9D46-03DDC86A58B0}"/>
                </a:ext>
              </a:extLst>
            </p:cNvPr>
            <p:cNvCxnSpPr>
              <a:cxnSpLocks/>
            </p:cNvCxnSpPr>
            <p:nvPr/>
          </p:nvCxnSpPr>
          <p:spPr>
            <a:xfrm>
              <a:off x="7505705" y="3418549"/>
              <a:ext cx="0" cy="353987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2" name="Flowchart: Alternate Process 91">
            <a:extLst>
              <a:ext uri="{FF2B5EF4-FFF2-40B4-BE49-F238E27FC236}">
                <a16:creationId xmlns:a16="http://schemas.microsoft.com/office/drawing/2014/main" id="{AD28F52C-9D62-4B3D-8E4F-E4A6B8A43632}"/>
              </a:ext>
            </a:extLst>
          </p:cNvPr>
          <p:cNvSpPr/>
          <p:nvPr/>
        </p:nvSpPr>
        <p:spPr>
          <a:xfrm>
            <a:off x="9244026" y="2198348"/>
            <a:ext cx="2105011" cy="1853442"/>
          </a:xfrm>
          <a:prstGeom prst="flowChartAlternateProcess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dirty="0">
                <a:latin typeface="Cordia New" panose="020B0304020202020204" pitchFamily="34" charset="-34"/>
                <a:cs typeface="Cordia New" panose="020B0304020202020204" pitchFamily="34" charset="-34"/>
              </a:rPr>
              <a:t>AE</a:t>
            </a:r>
            <a:r>
              <a:rPr lang="th-TH" dirty="0">
                <a:latin typeface="Cordia New" panose="020B0304020202020204" pitchFamily="34" charset="-34"/>
                <a:cs typeface="Cordia New" panose="020B0304020202020204" pitchFamily="34" charset="-34"/>
              </a:rPr>
              <a:t> ใส่</a:t>
            </a:r>
            <a:r>
              <a:rPr lang="th-TH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สเปค</a:t>
            </a:r>
            <a:r>
              <a:rPr lang="th-TH" dirty="0">
                <a:latin typeface="Cordia New" panose="020B0304020202020204" pitchFamily="34" charset="-34"/>
                <a:cs typeface="Cordia New" panose="020B0304020202020204" pitchFamily="34" charset="-34"/>
              </a:rPr>
              <a:t>งาน เพื่อทำการคิดราคางาน ผ่านระบบ </a:t>
            </a:r>
            <a:r>
              <a:rPr lang="en-US" dirty="0">
                <a:latin typeface="Cordia New" panose="020B0304020202020204" pitchFamily="34" charset="-34"/>
                <a:cs typeface="Cordia New" panose="020B0304020202020204" pitchFamily="34" charset="-34"/>
              </a:rPr>
              <a:t>Estimate Packaging </a:t>
            </a:r>
            <a:r>
              <a:rPr lang="th-TH" dirty="0">
                <a:latin typeface="Cordia New" panose="020B0304020202020204" pitchFamily="34" charset="-34"/>
                <a:cs typeface="Cordia New" panose="020B0304020202020204" pitchFamily="34" charset="-34"/>
              </a:rPr>
              <a:t>และสร้าง</a:t>
            </a:r>
            <a:r>
              <a:rPr lang="en-US" dirty="0">
                <a:latin typeface="Cordia New" panose="020B0304020202020204" pitchFamily="34" charset="-34"/>
                <a:cs typeface="Cordia New" panose="020B0304020202020204" pitchFamily="34" charset="-34"/>
              </a:rPr>
              <a:t> quotation </a:t>
            </a:r>
            <a:r>
              <a:rPr lang="th-TH" dirty="0">
                <a:latin typeface="Cordia New" panose="020B0304020202020204" pitchFamily="34" charset="-34"/>
                <a:cs typeface="Cordia New" panose="020B0304020202020204" pitchFamily="34" charset="-34"/>
              </a:rPr>
              <a:t>เพื่อนำไปขายงาน</a:t>
            </a:r>
            <a:endParaRPr lang="en-US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93" name="Right Brace 92">
            <a:extLst>
              <a:ext uri="{FF2B5EF4-FFF2-40B4-BE49-F238E27FC236}">
                <a16:creationId xmlns:a16="http://schemas.microsoft.com/office/drawing/2014/main" id="{ECF78424-F038-4BD3-BAA5-54FC0095BC9C}"/>
              </a:ext>
            </a:extLst>
          </p:cNvPr>
          <p:cNvSpPr/>
          <p:nvPr/>
        </p:nvSpPr>
        <p:spPr>
          <a:xfrm>
            <a:off x="8867788" y="1660053"/>
            <a:ext cx="209550" cy="2930032"/>
          </a:xfrm>
          <a:prstGeom prst="rightBrac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TextBox 31">
            <a:hlinkClick r:id="rId3"/>
            <a:extLst>
              <a:ext uri="{FF2B5EF4-FFF2-40B4-BE49-F238E27FC236}">
                <a16:creationId xmlns:a16="http://schemas.microsoft.com/office/drawing/2014/main" id="{F462CFF3-D96E-4485-8CA2-ADAB592CBAC3}"/>
              </a:ext>
            </a:extLst>
          </p:cNvPr>
          <p:cNvSpPr txBox="1"/>
          <p:nvPr/>
        </p:nvSpPr>
        <p:spPr>
          <a:xfrm>
            <a:off x="9124056" y="1660053"/>
            <a:ext cx="23449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i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dia New" panose="020B0304020202020204" pitchFamily="34" charset="-34"/>
                <a:cs typeface="Cordia New" panose="020B0304020202020204" pitchFamily="34" charset="-34"/>
              </a:rPr>
              <a:t>Estimate Packaging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1B7E00-BA7D-4A0E-95FE-807733C6490E}"/>
              </a:ext>
            </a:extLst>
          </p:cNvPr>
          <p:cNvSpPr txBox="1"/>
          <p:nvPr/>
        </p:nvSpPr>
        <p:spPr>
          <a:xfrm>
            <a:off x="4069902" y="2110775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rdia New" panose="020B0304020202020204" pitchFamily="34" charset="-34"/>
                <a:cs typeface="Cordia New" panose="020B0304020202020204" pitchFamily="34" charset="-34"/>
              </a:rPr>
              <a:t>Yes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15810FD-12A4-4BE7-BFA8-6994EB69D917}"/>
              </a:ext>
            </a:extLst>
          </p:cNvPr>
          <p:cNvSpPr txBox="1"/>
          <p:nvPr/>
        </p:nvSpPr>
        <p:spPr>
          <a:xfrm>
            <a:off x="5324905" y="1475387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rdia New" panose="020B0304020202020204" pitchFamily="34" charset="-34"/>
                <a:cs typeface="Cordia New" panose="020B0304020202020204" pitchFamily="34" charset="-34"/>
              </a:rPr>
              <a:t>No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6068BF3-CE21-4304-A9FB-85FE4FB7AB4F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36" name="สี่เหลี่ยมผืนผ้า 33">
              <a:extLst>
                <a:ext uri="{FF2B5EF4-FFF2-40B4-BE49-F238E27FC236}">
                  <a16:creationId xmlns:a16="http://schemas.microsoft.com/office/drawing/2014/main" id="{CE47CE8D-CA76-4B43-8A79-6DE8279BBAE2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กล่องข้อความ 34">
              <a:extLst>
                <a:ext uri="{FF2B5EF4-FFF2-40B4-BE49-F238E27FC236}">
                  <a16:creationId xmlns:a16="http://schemas.microsoft.com/office/drawing/2014/main" id="{C4B550B3-24F1-4F32-A68A-8A0E995D2A6B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08087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A5C062A-7D35-451E-8DF0-5E46B90B5D51}"/>
              </a:ext>
            </a:extLst>
          </p:cNvPr>
          <p:cNvSpPr txBox="1"/>
          <p:nvPr/>
        </p:nvSpPr>
        <p:spPr>
          <a:xfrm>
            <a:off x="347954" y="295841"/>
            <a:ext cx="2805794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Packaging Production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BE3551-3B92-4736-8EF8-D6E915D6970F}"/>
              </a:ext>
            </a:extLst>
          </p:cNvPr>
          <p:cNvSpPr txBox="1"/>
          <p:nvPr/>
        </p:nvSpPr>
        <p:spPr>
          <a:xfrm>
            <a:off x="1247774" y="1037570"/>
            <a:ext cx="377209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b="1" u="sng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Materials</a:t>
            </a:r>
            <a:endParaRPr lang="th-TH" sz="2400" b="1" u="sng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Paper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Plate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u="sng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Print (Press)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– Special ink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u="sng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After Press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Die-cut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Assembly (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ประกบ/ติดลิ้นกาว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แกะ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Inspection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u="sng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Packing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Paper band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Kraft wrap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Carton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Pallet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DD9F0F-A274-4BEF-8877-09B125C938A1}"/>
              </a:ext>
            </a:extLst>
          </p:cNvPr>
          <p:cNvSpPr txBox="1"/>
          <p:nvPr/>
        </p:nvSpPr>
        <p:spPr>
          <a:xfrm>
            <a:off x="4813624" y="2944236"/>
            <a:ext cx="16668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Coating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Foil stamp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Emboss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Deboss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7EFF37E9-3925-4D2F-9C8B-4B8EF4215B3B}"/>
              </a:ext>
            </a:extLst>
          </p:cNvPr>
          <p:cNvSpPr/>
          <p:nvPr/>
        </p:nvSpPr>
        <p:spPr>
          <a:xfrm>
            <a:off x="6270949" y="2967526"/>
            <a:ext cx="209551" cy="1449646"/>
          </a:xfrm>
          <a:prstGeom prst="rightBrac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5B47B5-F1C5-48B0-A8B1-29772CDF1AD3}"/>
              </a:ext>
            </a:extLst>
          </p:cNvPr>
          <p:cNvSpPr txBox="1"/>
          <p:nvPr/>
        </p:nvSpPr>
        <p:spPr>
          <a:xfrm>
            <a:off x="6549134" y="3522343"/>
            <a:ext cx="8723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Add-ons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621052B-28E2-4905-A448-E1426FE1D70A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12" name="สี่เหลี่ยมผืนผ้า 33">
              <a:extLst>
                <a:ext uri="{FF2B5EF4-FFF2-40B4-BE49-F238E27FC236}">
                  <a16:creationId xmlns:a16="http://schemas.microsoft.com/office/drawing/2014/main" id="{D86F2504-A5FD-40AB-A902-D0A64FCBE02A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กล่องข้อความ 34">
              <a:extLst>
                <a:ext uri="{FF2B5EF4-FFF2-40B4-BE49-F238E27FC236}">
                  <a16:creationId xmlns:a16="http://schemas.microsoft.com/office/drawing/2014/main" id="{F10E27B2-7174-41A6-9333-CC341A8F9725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8977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FB17AF-314E-42D9-A41A-CBAA2786B75D}"/>
              </a:ext>
            </a:extLst>
          </p:cNvPr>
          <p:cNvSpPr txBox="1"/>
          <p:nvPr/>
        </p:nvSpPr>
        <p:spPr>
          <a:xfrm>
            <a:off x="124715" y="640789"/>
            <a:ext cx="39807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Parameter</a:t>
            </a:r>
            <a:r>
              <a:rPr lang="th-TH" sz="2800" u="sng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คิดขนาด  </a:t>
            </a:r>
            <a:r>
              <a:rPr lang="en-US" sz="2800" u="sng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Layout size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6C787F8-2DA6-49BC-B579-438074340E18}"/>
              </a:ext>
            </a:extLst>
          </p:cNvPr>
          <p:cNvGrpSpPr/>
          <p:nvPr/>
        </p:nvGrpSpPr>
        <p:grpSpPr>
          <a:xfrm>
            <a:off x="301675" y="1029467"/>
            <a:ext cx="7928231" cy="2816156"/>
            <a:chOff x="345244" y="1336068"/>
            <a:chExt cx="7928231" cy="2816156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C757515-930D-4F45-9C41-5BA49C4DF3D6}"/>
                </a:ext>
              </a:extLst>
            </p:cNvPr>
            <p:cNvSpPr txBox="1"/>
            <p:nvPr/>
          </p:nvSpPr>
          <p:spPr>
            <a:xfrm>
              <a:off x="345244" y="1336068"/>
              <a:ext cx="2913362" cy="28161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 </a:t>
              </a:r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	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- </a:t>
              </a:r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ความยาวด้านกว้าง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l </a:t>
              </a:r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	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- </a:t>
              </a:r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ความยาวด้านยาว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d	- </a:t>
              </a:r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ความยาวด้านสูง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dust	- </a:t>
              </a:r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ความยาว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Dust flap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t	- </a:t>
              </a:r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ความยาว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Tuck flap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1F567F2-7487-4B11-AAD9-E04F57C234E3}"/>
                </a:ext>
              </a:extLst>
            </p:cNvPr>
            <p:cNvSpPr txBox="1"/>
            <p:nvPr/>
          </p:nvSpPr>
          <p:spPr>
            <a:xfrm>
              <a:off x="3472161" y="1336068"/>
              <a:ext cx="4801314" cy="22621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g	- </a:t>
              </a:r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ความยาว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Glue flap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ol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	- </a:t>
              </a:r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ความยาว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ol</a:t>
              </a:r>
              <a:endPara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  <a:p>
              <a:pPr>
                <a:lnSpc>
                  <a:spcPct val="150000"/>
                </a:lnSpc>
              </a:pP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n	- </a:t>
              </a:r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จำนวนชิ้นงาน</a:t>
              </a:r>
              <a:endPara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  <a:p>
              <a:pPr>
                <a:lnSpc>
                  <a:spcPct val="150000"/>
                </a:lnSpc>
              </a:pP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b	-</a:t>
              </a:r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ระยะเผื่อเจียร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(3 mm)		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A290254E-764D-4B57-81D2-055FD823AD1D}"/>
              </a:ext>
            </a:extLst>
          </p:cNvPr>
          <p:cNvSpPr txBox="1"/>
          <p:nvPr/>
        </p:nvSpPr>
        <p:spPr>
          <a:xfrm>
            <a:off x="124715" y="3931334"/>
            <a:ext cx="3551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Parameter</a:t>
            </a:r>
            <a:r>
              <a:rPr lang="th-TH" sz="2800" u="sng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คิดขนาด </a:t>
            </a:r>
            <a:r>
              <a:rPr lang="en-US" sz="2800" u="sng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Paper size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880375-A9E9-4550-B237-25EEB6615135}"/>
              </a:ext>
            </a:extLst>
          </p:cNvPr>
          <p:cNvSpPr txBox="1"/>
          <p:nvPr/>
        </p:nvSpPr>
        <p:spPr>
          <a:xfrm>
            <a:off x="1869218" y="4509051"/>
            <a:ext cx="4790094" cy="1708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Paper_edge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	-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ระยะเผื่อขอบกระดาษ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(4 mm)</a:t>
            </a:r>
            <a:endParaRPr lang="th-TH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Color_bar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	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	- </a:t>
            </a:r>
            <a:r>
              <a:rPr lang="en-US" sz="2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Colorbar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(8 mm)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Gripper		-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ระยะ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gripper (12 mm)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52BED9-ADA8-406A-B26C-C0A546689BD5}"/>
              </a:ext>
            </a:extLst>
          </p:cNvPr>
          <p:cNvSpPr txBox="1"/>
          <p:nvPr/>
        </p:nvSpPr>
        <p:spPr>
          <a:xfrm>
            <a:off x="124715" y="99065"/>
            <a:ext cx="2116067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การวางเลย์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D2E526-78E3-4EC7-92D8-6CC4E0FE0A88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10" name="สี่เหลี่ยมผืนผ้า 33">
              <a:extLst>
                <a:ext uri="{FF2B5EF4-FFF2-40B4-BE49-F238E27FC236}">
                  <a16:creationId xmlns:a16="http://schemas.microsoft.com/office/drawing/2014/main" id="{14CF0E12-4E98-449D-96A8-B43D131F7D53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กล่องข้อความ 34">
              <a:extLst>
                <a:ext uri="{FF2B5EF4-FFF2-40B4-BE49-F238E27FC236}">
                  <a16:creationId xmlns:a16="http://schemas.microsoft.com/office/drawing/2014/main" id="{96B92129-7CF9-4881-A2E7-E8AD9F2033F0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D3BC7D5-A78B-4F2A-8B1E-0032631D0EB6}"/>
              </a:ext>
            </a:extLst>
          </p:cNvPr>
          <p:cNvGrpSpPr/>
          <p:nvPr/>
        </p:nvGrpSpPr>
        <p:grpSpPr>
          <a:xfrm>
            <a:off x="6550529" y="902399"/>
            <a:ext cx="5339796" cy="4951246"/>
            <a:chOff x="6550529" y="902399"/>
            <a:chExt cx="5339796" cy="495124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1400291-D79C-4451-9F43-8C34D579F8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25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550529" y="902399"/>
              <a:ext cx="5339796" cy="4951246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7BF95E1-EFCD-428B-982C-5230181516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70277" y="4666870"/>
              <a:ext cx="3444539" cy="5364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85627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65">
            <a:extLst>
              <a:ext uri="{FF2B5EF4-FFF2-40B4-BE49-F238E27FC236}">
                <a16:creationId xmlns:a16="http://schemas.microsoft.com/office/drawing/2014/main" id="{E56CFF58-6D4E-4EBA-8BDC-8AD7A849A49B}"/>
              </a:ext>
            </a:extLst>
          </p:cNvPr>
          <p:cNvGrpSpPr/>
          <p:nvPr/>
        </p:nvGrpSpPr>
        <p:grpSpPr>
          <a:xfrm>
            <a:off x="1129068" y="3603028"/>
            <a:ext cx="3691359" cy="2501444"/>
            <a:chOff x="7317567" y="2379216"/>
            <a:chExt cx="3691359" cy="250144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691A25B-0ADF-4A26-AA78-282044A55F23}"/>
                </a:ext>
              </a:extLst>
            </p:cNvPr>
            <p:cNvSpPr/>
            <p:nvPr/>
          </p:nvSpPr>
          <p:spPr>
            <a:xfrm>
              <a:off x="7341834" y="2396972"/>
              <a:ext cx="3628600" cy="2432478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37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A8C540C-97D7-472F-A305-C2A291ADBC19}"/>
                </a:ext>
              </a:extLst>
            </p:cNvPr>
            <p:cNvSpPr/>
            <p:nvPr/>
          </p:nvSpPr>
          <p:spPr>
            <a:xfrm>
              <a:off x="7679185" y="2707689"/>
              <a:ext cx="2929631" cy="1802168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Layout Size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B377B4EE-9532-4CCA-92CF-A85A3DF38F6E}"/>
                </a:ext>
              </a:extLst>
            </p:cNvPr>
            <p:cNvCxnSpPr/>
            <p:nvPr/>
          </p:nvCxnSpPr>
          <p:spPr>
            <a:xfrm flipV="1">
              <a:off x="7759083" y="2396972"/>
              <a:ext cx="0" cy="31071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6802C03-8065-4955-8612-A44898185D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59083" y="4509857"/>
              <a:ext cx="0" cy="31071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D920049-4271-4977-BBE8-D77584691BF9}"/>
                </a:ext>
              </a:extLst>
            </p:cNvPr>
            <p:cNvSpPr txBox="1"/>
            <p:nvPr/>
          </p:nvSpPr>
          <p:spPr>
            <a:xfrm>
              <a:off x="7759083" y="2379216"/>
              <a:ext cx="149592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12 mm : gripper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BE42DB0-6D2C-4367-B6D5-9BC92E509118}"/>
                </a:ext>
              </a:extLst>
            </p:cNvPr>
            <p:cNvSpPr txBox="1"/>
            <p:nvPr/>
          </p:nvSpPr>
          <p:spPr>
            <a:xfrm>
              <a:off x="7759083" y="4480550"/>
              <a:ext cx="157126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8 mm : color bar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4D2FAEE-7F6D-4CF9-9ACA-442F3B12D3A1}"/>
                </a:ext>
              </a:extLst>
            </p:cNvPr>
            <p:cNvCxnSpPr/>
            <p:nvPr/>
          </p:nvCxnSpPr>
          <p:spPr>
            <a:xfrm>
              <a:off x="7341834" y="4376692"/>
              <a:ext cx="337351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92C821A-000C-4248-A3A1-40670CE4322A}"/>
                </a:ext>
              </a:extLst>
            </p:cNvPr>
            <p:cNvSpPr txBox="1"/>
            <p:nvPr/>
          </p:nvSpPr>
          <p:spPr>
            <a:xfrm rot="16200000">
              <a:off x="6636611" y="3303464"/>
              <a:ext cx="176202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4 mm : paper edge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7ED190C-222B-4B62-9601-E3C91F9200DA}"/>
                </a:ext>
              </a:extLst>
            </p:cNvPr>
            <p:cNvCxnSpPr/>
            <p:nvPr/>
          </p:nvCxnSpPr>
          <p:spPr>
            <a:xfrm>
              <a:off x="10633083" y="4376693"/>
              <a:ext cx="337351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F19759A-2BB0-47F6-AEB4-8919C86CB7DD}"/>
                </a:ext>
              </a:extLst>
            </p:cNvPr>
            <p:cNvSpPr txBox="1"/>
            <p:nvPr/>
          </p:nvSpPr>
          <p:spPr>
            <a:xfrm rot="16200000">
              <a:off x="9927860" y="3303465"/>
              <a:ext cx="176202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4 mm : paper edge</a:t>
              </a:r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AC59C287-0E88-4467-8763-12ABD2FC0204}"/>
              </a:ext>
            </a:extLst>
          </p:cNvPr>
          <p:cNvSpPr/>
          <p:nvPr/>
        </p:nvSpPr>
        <p:spPr>
          <a:xfrm>
            <a:off x="8040315" y="3913646"/>
            <a:ext cx="2929631" cy="180216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Layout Size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64F15E0-575D-40BE-A498-DF3C22C02927}"/>
              </a:ext>
            </a:extLst>
          </p:cNvPr>
          <p:cNvGrpSpPr/>
          <p:nvPr/>
        </p:nvGrpSpPr>
        <p:grpSpPr>
          <a:xfrm>
            <a:off x="8040315" y="840049"/>
            <a:ext cx="2951194" cy="2205377"/>
            <a:chOff x="1243354" y="668767"/>
            <a:chExt cx="2951194" cy="2205377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8BE63D1B-E8BE-432D-BB23-3DC7EF9DAE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43355" y="668767"/>
              <a:ext cx="1530765" cy="1160033"/>
            </a:xfrm>
            <a:prstGeom prst="rect">
              <a:avLst/>
            </a:prstGeom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8DFB28E6-6757-4E7F-B765-4775426114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63783" y="668767"/>
              <a:ext cx="1530765" cy="1160033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A8DC581D-EB14-4E91-A21E-AC9E79D83F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63783" y="1714111"/>
              <a:ext cx="1530765" cy="1160033"/>
            </a:xfrm>
            <a:prstGeom prst="rect">
              <a:avLst/>
            </a:prstGeom>
          </p:spPr>
        </p:pic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EB6433A1-79BB-4158-8101-C4C933A2A3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43354" y="1714111"/>
              <a:ext cx="1530765" cy="1160033"/>
            </a:xfrm>
            <a:prstGeom prst="rect">
              <a:avLst/>
            </a:prstGeom>
          </p:spPr>
        </p:pic>
      </p:grpSp>
      <p:pic>
        <p:nvPicPr>
          <p:cNvPr id="65" name="Picture 64">
            <a:extLst>
              <a:ext uri="{FF2B5EF4-FFF2-40B4-BE49-F238E27FC236}">
                <a16:creationId xmlns:a16="http://schemas.microsoft.com/office/drawing/2014/main" id="{9C393E13-F21A-422C-931A-4A25068F6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660" y="1176636"/>
            <a:ext cx="2466032" cy="186879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F0D95333-F0E9-4024-8C5E-7A6F0EE2A1CA}"/>
              </a:ext>
            </a:extLst>
          </p:cNvPr>
          <p:cNvSpPr txBox="1"/>
          <p:nvPr/>
        </p:nvSpPr>
        <p:spPr>
          <a:xfrm>
            <a:off x="1800688" y="807304"/>
            <a:ext cx="26709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ขนาดชิ้นงาน</a:t>
            </a:r>
            <a:r>
              <a:rPr lang="en-US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(open size </a:t>
            </a: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รวม</a:t>
            </a:r>
            <a:r>
              <a:rPr lang="en-US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bleed</a:t>
            </a: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)</a:t>
            </a:r>
            <a:endParaRPr lang="en-US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8" name="Arrow: Right 67">
            <a:extLst>
              <a:ext uri="{FF2B5EF4-FFF2-40B4-BE49-F238E27FC236}">
                <a16:creationId xmlns:a16="http://schemas.microsoft.com/office/drawing/2014/main" id="{2C1E901D-AB60-441D-9619-2B95FDAB1AB7}"/>
              </a:ext>
            </a:extLst>
          </p:cNvPr>
          <p:cNvSpPr/>
          <p:nvPr/>
        </p:nvSpPr>
        <p:spPr>
          <a:xfrm>
            <a:off x="5551801" y="1434824"/>
            <a:ext cx="1853508" cy="7867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BEEC857-6E3A-46BA-9A63-752278AB66AC}"/>
              </a:ext>
            </a:extLst>
          </p:cNvPr>
          <p:cNvSpPr txBox="1"/>
          <p:nvPr/>
        </p:nvSpPr>
        <p:spPr>
          <a:xfrm>
            <a:off x="8707172" y="3330323"/>
            <a:ext cx="15071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Layout Size</a:t>
            </a:r>
          </a:p>
        </p:txBody>
      </p:sp>
      <p:sp>
        <p:nvSpPr>
          <p:cNvPr id="72" name="Arrow: Right 71">
            <a:extLst>
              <a:ext uri="{FF2B5EF4-FFF2-40B4-BE49-F238E27FC236}">
                <a16:creationId xmlns:a16="http://schemas.microsoft.com/office/drawing/2014/main" id="{F154CCEB-093D-4128-999A-C839E133F300}"/>
              </a:ext>
            </a:extLst>
          </p:cNvPr>
          <p:cNvSpPr/>
          <p:nvPr/>
        </p:nvSpPr>
        <p:spPr>
          <a:xfrm rot="10800000">
            <a:off x="5503617" y="4333979"/>
            <a:ext cx="1853508" cy="7867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C18A7E9-064B-4ADD-9E48-95C4B350D0C3}"/>
              </a:ext>
            </a:extLst>
          </p:cNvPr>
          <p:cNvSpPr txBox="1"/>
          <p:nvPr/>
        </p:nvSpPr>
        <p:spPr>
          <a:xfrm>
            <a:off x="2332170" y="6204702"/>
            <a:ext cx="13821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Paper Size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130A44-59F5-49A9-94FA-AE807B9EC8BA}"/>
              </a:ext>
            </a:extLst>
          </p:cNvPr>
          <p:cNvSpPr txBox="1"/>
          <p:nvPr/>
        </p:nvSpPr>
        <p:spPr>
          <a:xfrm>
            <a:off x="178024" y="97662"/>
            <a:ext cx="1683636" cy="5847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3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การวางเลย์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6B268AA-D74E-455A-A892-F0B4479B536C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27" name="สี่เหลี่ยมผืนผ้า 33">
              <a:extLst>
                <a:ext uri="{FF2B5EF4-FFF2-40B4-BE49-F238E27FC236}">
                  <a16:creationId xmlns:a16="http://schemas.microsoft.com/office/drawing/2014/main" id="{65D50706-C4BC-408C-A75E-848FCE4BE3A9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กล่องข้อความ 34">
              <a:extLst>
                <a:ext uri="{FF2B5EF4-FFF2-40B4-BE49-F238E27FC236}">
                  <a16:creationId xmlns:a16="http://schemas.microsoft.com/office/drawing/2014/main" id="{CA98F250-7E5F-4A35-B590-5C048F1D1AC9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5351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AE7D1BE-A875-40B7-BCB5-C2F65DFCC45E}"/>
              </a:ext>
            </a:extLst>
          </p:cNvPr>
          <p:cNvSpPr/>
          <p:nvPr/>
        </p:nvSpPr>
        <p:spPr>
          <a:xfrm>
            <a:off x="-2" y="0"/>
            <a:ext cx="4023360" cy="3291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D537734-3FB6-4D42-B97A-C09D661C659D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5" name="สี่เหลี่ยมผืนผ้า 33">
              <a:extLst>
                <a:ext uri="{FF2B5EF4-FFF2-40B4-BE49-F238E27FC236}">
                  <a16:creationId xmlns:a16="http://schemas.microsoft.com/office/drawing/2014/main" id="{7B1EED43-3226-433B-A244-AC3353A21066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กล่องข้อความ 34">
              <a:extLst>
                <a:ext uri="{FF2B5EF4-FFF2-40B4-BE49-F238E27FC236}">
                  <a16:creationId xmlns:a16="http://schemas.microsoft.com/office/drawing/2014/main" id="{E70FB1B6-FBFF-45A6-9BA6-0FAE02B3FDBF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72BA756-5547-4C1C-9AA0-BBF9B59B51C0}"/>
              </a:ext>
            </a:extLst>
          </p:cNvPr>
          <p:cNvSpPr txBox="1"/>
          <p:nvPr/>
        </p:nvSpPr>
        <p:spPr>
          <a:xfrm>
            <a:off x="-1" y="0"/>
            <a:ext cx="4023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Template Type 1:</a:t>
            </a:r>
            <a:r>
              <a: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กล่องฝาคู่ : 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Reverse Tuck End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D645A2-B9E2-4B23-B9F5-1D0AE6F5C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192" y="466308"/>
            <a:ext cx="2930100" cy="271612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EBC01A1-06A0-409E-BEC3-FDAECD9B1354}"/>
              </a:ext>
            </a:extLst>
          </p:cNvPr>
          <p:cNvSpPr/>
          <p:nvPr/>
        </p:nvSpPr>
        <p:spPr>
          <a:xfrm>
            <a:off x="8173612" y="0"/>
            <a:ext cx="4023360" cy="3291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DBE7B5-8F2A-4909-BF8B-0501C70A79FC}"/>
              </a:ext>
            </a:extLst>
          </p:cNvPr>
          <p:cNvSpPr/>
          <p:nvPr/>
        </p:nvSpPr>
        <p:spPr>
          <a:xfrm>
            <a:off x="4091470" y="-4650"/>
            <a:ext cx="4023360" cy="3291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D88DE3-C7B7-4321-A94E-0BB1F5A42D4C}"/>
              </a:ext>
            </a:extLst>
          </p:cNvPr>
          <p:cNvSpPr/>
          <p:nvPr/>
        </p:nvSpPr>
        <p:spPr>
          <a:xfrm>
            <a:off x="-2" y="3358038"/>
            <a:ext cx="4023360" cy="3291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10D73D-6A96-4A36-8952-5953CFF01913}"/>
              </a:ext>
            </a:extLst>
          </p:cNvPr>
          <p:cNvSpPr/>
          <p:nvPr/>
        </p:nvSpPr>
        <p:spPr>
          <a:xfrm>
            <a:off x="4091470" y="3358038"/>
            <a:ext cx="4023360" cy="3291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2321E8-04BB-4D4A-A997-1740A851DAEB}"/>
              </a:ext>
            </a:extLst>
          </p:cNvPr>
          <p:cNvSpPr/>
          <p:nvPr/>
        </p:nvSpPr>
        <p:spPr>
          <a:xfrm>
            <a:off x="8168640" y="3358889"/>
            <a:ext cx="4023360" cy="3291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F20F723-099B-4CE9-BAB3-AB10CFCF0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9058" y="-48387"/>
            <a:ext cx="4771048" cy="55504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155F4B8-CE83-47EF-B3D5-3509614898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0541" y="404541"/>
            <a:ext cx="3101469" cy="289201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DD7A045-121D-465C-A9BF-C4B12FAC77D2}"/>
              </a:ext>
            </a:extLst>
          </p:cNvPr>
          <p:cNvSpPr txBox="1"/>
          <p:nvPr/>
        </p:nvSpPr>
        <p:spPr>
          <a:xfrm>
            <a:off x="8342188" y="-37324"/>
            <a:ext cx="36762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Template Type 3: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กล่องออโต้ล็อคแบบหูขัด </a:t>
            </a:r>
            <a:endParaRPr lang="en-US" sz="20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: </a:t>
            </a:r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Tuck Top Snap Lock Bottom (TTSLB)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AA8968A-3DB5-42E6-AB64-4CB007A15F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0106" y="560769"/>
            <a:ext cx="2685266" cy="294346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7CD94EA-BD92-4252-9775-EC9C314AF386}"/>
              </a:ext>
            </a:extLst>
          </p:cNvPr>
          <p:cNvSpPr txBox="1"/>
          <p:nvPr/>
        </p:nvSpPr>
        <p:spPr>
          <a:xfrm>
            <a:off x="210868" y="3347826"/>
            <a:ext cx="36016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Template Type 4: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กล่องออโต้ล็อคแบบทากาว </a:t>
            </a:r>
            <a:endParaRPr lang="en-US" sz="20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:  </a:t>
            </a:r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Tuck Top Auto Bottom (TTAB)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6C9BA6F-28ED-4BD8-AEEB-F492F85399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606" y="3981323"/>
            <a:ext cx="2404276" cy="275426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09DF147-6B11-47AE-97BA-3416748B90F0}"/>
              </a:ext>
            </a:extLst>
          </p:cNvPr>
          <p:cNvSpPr txBox="1"/>
          <p:nvPr/>
        </p:nvSpPr>
        <p:spPr>
          <a:xfrm>
            <a:off x="4530642" y="3305912"/>
            <a:ext cx="36016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Template Type 5: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กล่องฝาครอบ </a:t>
            </a:r>
            <a:endParaRPr lang="en-US" sz="20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: </a:t>
            </a:r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Double Glue Side Wall (Simplex Tray)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296F428-A39D-4CB8-A10B-5A4A470E973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16269" b="33306"/>
          <a:stretch/>
        </p:blipFill>
        <p:spPr>
          <a:xfrm>
            <a:off x="4112531" y="3981323"/>
            <a:ext cx="3860819" cy="2547534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36A17DD-8500-402E-851C-E8A78F729632}"/>
              </a:ext>
            </a:extLst>
          </p:cNvPr>
          <p:cNvSpPr txBox="1"/>
          <p:nvPr/>
        </p:nvSpPr>
        <p:spPr>
          <a:xfrm>
            <a:off x="8482498" y="3435257"/>
            <a:ext cx="36016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Template Type 6: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กล่องฝาครอบ มีขอบ </a:t>
            </a:r>
            <a:endParaRPr lang="en-US" sz="20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: </a:t>
            </a:r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Frame-Vue Tray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054010B-84A7-4F5A-9574-B7F056B0F98B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3375"/>
          <a:stretch/>
        </p:blipFill>
        <p:spPr>
          <a:xfrm>
            <a:off x="8698152" y="4093249"/>
            <a:ext cx="3170312" cy="2530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848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AE7D1BE-A875-40B7-BCB5-C2F65DFCC45E}"/>
              </a:ext>
            </a:extLst>
          </p:cNvPr>
          <p:cNvSpPr/>
          <p:nvPr/>
        </p:nvSpPr>
        <p:spPr>
          <a:xfrm>
            <a:off x="-2" y="0"/>
            <a:ext cx="4023360" cy="3291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D537734-3FB6-4D42-B97A-C09D661C659D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5" name="สี่เหลี่ยมผืนผ้า 33">
              <a:extLst>
                <a:ext uri="{FF2B5EF4-FFF2-40B4-BE49-F238E27FC236}">
                  <a16:creationId xmlns:a16="http://schemas.microsoft.com/office/drawing/2014/main" id="{7B1EED43-3226-433B-A244-AC3353A21066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กล่องข้อความ 34">
              <a:extLst>
                <a:ext uri="{FF2B5EF4-FFF2-40B4-BE49-F238E27FC236}">
                  <a16:creationId xmlns:a16="http://schemas.microsoft.com/office/drawing/2014/main" id="{E70FB1B6-FBFF-45A6-9BA6-0FAE02B3FDBF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2EBC01A1-06A0-409E-BEC3-FDAECD9B1354}"/>
              </a:ext>
            </a:extLst>
          </p:cNvPr>
          <p:cNvSpPr/>
          <p:nvPr/>
        </p:nvSpPr>
        <p:spPr>
          <a:xfrm>
            <a:off x="8173612" y="0"/>
            <a:ext cx="4023360" cy="3291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DBE7B5-8F2A-4909-BF8B-0501C70A79FC}"/>
              </a:ext>
            </a:extLst>
          </p:cNvPr>
          <p:cNvSpPr/>
          <p:nvPr/>
        </p:nvSpPr>
        <p:spPr>
          <a:xfrm>
            <a:off x="4091470" y="-4650"/>
            <a:ext cx="4023360" cy="3291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D88DE3-C7B7-4321-A94E-0BB1F5A42D4C}"/>
              </a:ext>
            </a:extLst>
          </p:cNvPr>
          <p:cNvSpPr/>
          <p:nvPr/>
        </p:nvSpPr>
        <p:spPr>
          <a:xfrm>
            <a:off x="-2" y="3358038"/>
            <a:ext cx="4023360" cy="3291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10D73D-6A96-4A36-8952-5953CFF01913}"/>
              </a:ext>
            </a:extLst>
          </p:cNvPr>
          <p:cNvSpPr/>
          <p:nvPr/>
        </p:nvSpPr>
        <p:spPr>
          <a:xfrm>
            <a:off x="4091470" y="3358038"/>
            <a:ext cx="4023360" cy="3291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2321E8-04BB-4D4A-A997-1740A851DAEB}"/>
              </a:ext>
            </a:extLst>
          </p:cNvPr>
          <p:cNvSpPr/>
          <p:nvPr/>
        </p:nvSpPr>
        <p:spPr>
          <a:xfrm>
            <a:off x="8168640" y="3358889"/>
            <a:ext cx="4023360" cy="3291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6E2581-012E-4923-8C03-D2445595A46E}"/>
              </a:ext>
            </a:extLst>
          </p:cNvPr>
          <p:cNvSpPr txBox="1"/>
          <p:nvPr/>
        </p:nvSpPr>
        <p:spPr>
          <a:xfrm>
            <a:off x="647486" y="13130"/>
            <a:ext cx="27377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Template Type 7: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กล่องเบนโตะ </a:t>
            </a:r>
            <a:endParaRPr lang="en-US" sz="20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: </a:t>
            </a:r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Four Corner Beers Tray with Lid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820B2E3-DD42-460A-B643-42C6F7A6E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663" y="721016"/>
            <a:ext cx="2907538" cy="247742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667535AB-4827-4169-859D-0E1798F7BAB6}"/>
              </a:ext>
            </a:extLst>
          </p:cNvPr>
          <p:cNvSpPr txBox="1"/>
          <p:nvPr/>
        </p:nvSpPr>
        <p:spPr>
          <a:xfrm>
            <a:off x="4501023" y="13130"/>
            <a:ext cx="32891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Template Type 8: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กล่องทรงจั่ว </a:t>
            </a:r>
            <a:endParaRPr lang="en-US" sz="20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: </a:t>
            </a:r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Gable Top with Auto Bottom***(review)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CDA949-14E7-4979-BC8D-C18D716A5C9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4047"/>
          <a:stretch/>
        </p:blipFill>
        <p:spPr>
          <a:xfrm>
            <a:off x="4282580" y="966545"/>
            <a:ext cx="3520721" cy="198637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993AC25-137B-4E1F-B35B-3CC2AD6E85A7}"/>
              </a:ext>
            </a:extLst>
          </p:cNvPr>
          <p:cNvSpPr txBox="1"/>
          <p:nvPr/>
        </p:nvSpPr>
        <p:spPr>
          <a:xfrm>
            <a:off x="8514140" y="51182"/>
            <a:ext cx="3332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Template Type 9: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ปลอกกล่อง : </a:t>
            </a:r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Sleeve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9B9181B-8C17-4A4F-9054-09A8C41B28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2516" y="537003"/>
            <a:ext cx="2911998" cy="2523964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EBEA3C31-CF9D-42D1-B65B-18F37CE64BBA}"/>
              </a:ext>
            </a:extLst>
          </p:cNvPr>
          <p:cNvSpPr txBox="1"/>
          <p:nvPr/>
        </p:nvSpPr>
        <p:spPr>
          <a:xfrm>
            <a:off x="569145" y="3377551"/>
            <a:ext cx="28993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Template Type 10: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กล่องทรงหมอน </a:t>
            </a:r>
            <a:endParaRPr lang="en-US" sz="20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: </a:t>
            </a:r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Pillow Box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4ABC1FA-75DC-4F3E-8A48-249692CEE80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3626"/>
          <a:stretch/>
        </p:blipFill>
        <p:spPr>
          <a:xfrm>
            <a:off x="262452" y="3936506"/>
            <a:ext cx="3351678" cy="2486712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F22E6504-DDC5-4E98-B0D9-56BE63F593C4}"/>
              </a:ext>
            </a:extLst>
          </p:cNvPr>
          <p:cNvSpPr txBox="1"/>
          <p:nvPr/>
        </p:nvSpPr>
        <p:spPr>
          <a:xfrm>
            <a:off x="4399237" y="3403125"/>
            <a:ext cx="34927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Template Type 11: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กล่องฝาปิดแบบทากาว </a:t>
            </a:r>
            <a:endParaRPr lang="en-US" sz="20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: </a:t>
            </a:r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Seal End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6A7B018-6644-4EF5-95BE-B91E04D689D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5086"/>
          <a:stretch/>
        </p:blipFill>
        <p:spPr>
          <a:xfrm>
            <a:off x="4262118" y="4007458"/>
            <a:ext cx="3146388" cy="256692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64EFEB76-E6E1-4435-99A1-EE45CDA88B3F}"/>
              </a:ext>
            </a:extLst>
          </p:cNvPr>
          <p:cNvSpPr txBox="1"/>
          <p:nvPr/>
        </p:nvSpPr>
        <p:spPr>
          <a:xfrm>
            <a:off x="8514140" y="3443001"/>
            <a:ext cx="3492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Template Type 12: Custom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3033FF-D879-4B14-B7EA-B91B45CC52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7870" y="4177745"/>
            <a:ext cx="2545301" cy="2004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609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FB17AF-314E-42D9-A41A-CBAA2786B75D}"/>
              </a:ext>
            </a:extLst>
          </p:cNvPr>
          <p:cNvSpPr txBox="1"/>
          <p:nvPr/>
        </p:nvSpPr>
        <p:spPr>
          <a:xfrm>
            <a:off x="-2" y="0"/>
            <a:ext cx="7235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Template Type 1:</a:t>
            </a:r>
            <a:r>
              <a:rPr lang="th-TH" sz="3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กล่องฝาคู่ : </a:t>
            </a:r>
            <a:r>
              <a:rPr lang="en-US" sz="3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Reverse Tuck End</a:t>
            </a:r>
          </a:p>
        </p:txBody>
      </p:sp>
      <p:pic>
        <p:nvPicPr>
          <p:cNvPr id="6" name="Picture 5" descr="Diagram, engineering drawing&#10;&#10;Description automatically generated">
            <a:extLst>
              <a:ext uri="{FF2B5EF4-FFF2-40B4-BE49-F238E27FC236}">
                <a16:creationId xmlns:a16="http://schemas.microsoft.com/office/drawing/2014/main" id="{F3DF99AC-A5F2-4FB5-9500-A5B79F33E5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767" y="726230"/>
            <a:ext cx="4768123" cy="440002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7F450275-4764-41FB-AF20-74E3754EC753}"/>
              </a:ext>
            </a:extLst>
          </p:cNvPr>
          <p:cNvGrpSpPr/>
          <p:nvPr/>
        </p:nvGrpSpPr>
        <p:grpSpPr>
          <a:xfrm>
            <a:off x="332607" y="1003177"/>
            <a:ext cx="400110" cy="3213716"/>
            <a:chOff x="332607" y="1003177"/>
            <a:chExt cx="400110" cy="3213716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ABF4E47-35B8-4993-BBF5-2A908137351E}"/>
                </a:ext>
              </a:extLst>
            </p:cNvPr>
            <p:cNvCxnSpPr/>
            <p:nvPr/>
          </p:nvCxnSpPr>
          <p:spPr>
            <a:xfrm>
              <a:off x="532660" y="1003177"/>
              <a:ext cx="0" cy="3213716"/>
            </a:xfrm>
            <a:prstGeom prst="straightConnector1">
              <a:avLst/>
            </a:prstGeom>
            <a:ln w="38100">
              <a:solidFill>
                <a:srgbClr val="00206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529A478-85D2-4CA5-A5E9-3BD9CA7D98D4}"/>
                </a:ext>
              </a:extLst>
            </p:cNvPr>
            <p:cNvSpPr txBox="1"/>
            <p:nvPr/>
          </p:nvSpPr>
          <p:spPr>
            <a:xfrm rot="16200000">
              <a:off x="161406" y="2295622"/>
              <a:ext cx="742511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 SIDE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86FB84B-3092-48A0-96F4-617FE9508B2C}"/>
              </a:ext>
            </a:extLst>
          </p:cNvPr>
          <p:cNvGrpSpPr/>
          <p:nvPr/>
        </p:nvGrpSpPr>
        <p:grpSpPr>
          <a:xfrm rot="5400000">
            <a:off x="2219110" y="2982634"/>
            <a:ext cx="400110" cy="3213716"/>
            <a:chOff x="347995" y="1003177"/>
            <a:chExt cx="400110" cy="3213716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0327BDC-B0E0-4081-95D9-0249B8A67A4F}"/>
                </a:ext>
              </a:extLst>
            </p:cNvPr>
            <p:cNvCxnSpPr/>
            <p:nvPr/>
          </p:nvCxnSpPr>
          <p:spPr>
            <a:xfrm>
              <a:off x="532660" y="1003177"/>
              <a:ext cx="0" cy="3213716"/>
            </a:xfrm>
            <a:prstGeom prst="straightConnector1">
              <a:avLst/>
            </a:prstGeom>
            <a:ln w="38100">
              <a:solidFill>
                <a:schemeClr val="bg2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2541832-56A3-4053-87A8-C933033B1A85}"/>
                </a:ext>
              </a:extLst>
            </p:cNvPr>
            <p:cNvSpPr txBox="1"/>
            <p:nvPr/>
          </p:nvSpPr>
          <p:spPr>
            <a:xfrm rot="16200000">
              <a:off x="209656" y="2387794"/>
              <a:ext cx="676788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L SIDE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C757515-930D-4F45-9C41-5BA49C4DF3D6}"/>
              </a:ext>
            </a:extLst>
          </p:cNvPr>
          <p:cNvSpPr txBox="1"/>
          <p:nvPr/>
        </p:nvSpPr>
        <p:spPr>
          <a:xfrm>
            <a:off x="399923" y="4833869"/>
            <a:ext cx="3466013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Parameter: w, d, dust, t,</a:t>
            </a:r>
            <a:r>
              <a:rPr lang="th-TH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n, 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7CFCB6-60A7-4E4A-9209-90426F58A436}"/>
              </a:ext>
            </a:extLst>
          </p:cNvPr>
          <p:cNvSpPr txBox="1"/>
          <p:nvPr/>
        </p:nvSpPr>
        <p:spPr>
          <a:xfrm>
            <a:off x="7562669" y="5522769"/>
            <a:ext cx="2683095" cy="4001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* : </a:t>
            </a:r>
            <a:r>
              <a: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คูณ, 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/ :</a:t>
            </a:r>
            <a:r>
              <a: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หาร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, N:</a:t>
            </a:r>
            <a:r>
              <a: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จำนวนชิ้นงาน</a:t>
            </a:r>
            <a:endParaRPr lang="en-US" sz="2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C6A82A5-1E31-4212-BE5B-773BC0ABC485}"/>
              </a:ext>
            </a:extLst>
          </p:cNvPr>
          <p:cNvSpPr txBox="1"/>
          <p:nvPr/>
        </p:nvSpPr>
        <p:spPr>
          <a:xfrm>
            <a:off x="5733734" y="584775"/>
            <a:ext cx="1011853" cy="589002"/>
          </a:xfrm>
          <a:prstGeom prst="roundRect">
            <a:avLst>
              <a:gd name="adj" fmla="val 19734"/>
            </a:avLst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W side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AC7720F-23BA-40DB-80E4-AC3A24770C3B}"/>
              </a:ext>
            </a:extLst>
          </p:cNvPr>
          <p:cNvSpPr/>
          <p:nvPr/>
        </p:nvSpPr>
        <p:spPr>
          <a:xfrm>
            <a:off x="6520156" y="2811891"/>
            <a:ext cx="3576620" cy="35460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86B3302-13DB-497E-BCBC-92B0169795C5}"/>
              </a:ext>
            </a:extLst>
          </p:cNvPr>
          <p:cNvSpPr/>
          <p:nvPr/>
        </p:nvSpPr>
        <p:spPr>
          <a:xfrm>
            <a:off x="6520156" y="4918174"/>
            <a:ext cx="4768122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4DD0542-514A-428B-8CED-EA6C0C3EB710}"/>
              </a:ext>
            </a:extLst>
          </p:cNvPr>
          <p:cNvGrpSpPr/>
          <p:nvPr/>
        </p:nvGrpSpPr>
        <p:grpSpPr>
          <a:xfrm>
            <a:off x="6096000" y="1225212"/>
            <a:ext cx="4355039" cy="2021978"/>
            <a:chOff x="6096000" y="1225212"/>
            <a:chExt cx="4355039" cy="202197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C229F3E-54B1-4FFD-A248-976041FB7CCB}"/>
                </a:ext>
              </a:extLst>
            </p:cNvPr>
            <p:cNvSpPr txBox="1"/>
            <p:nvPr/>
          </p:nvSpPr>
          <p:spPr>
            <a:xfrm>
              <a:off x="6096000" y="1225212"/>
              <a:ext cx="23503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Case I: dust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&lt;=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(</a:t>
              </a:r>
              <a:r>
                <a:rPr lang="en-US" sz="2400" b="1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w+t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)/2 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794E5F1-092A-4FF3-B1AD-72291AF6CC37}"/>
                </a:ext>
              </a:extLst>
            </p:cNvPr>
            <p:cNvSpPr txBox="1"/>
            <p:nvPr/>
          </p:nvSpPr>
          <p:spPr>
            <a:xfrm>
              <a:off x="6520155" y="1677530"/>
              <a:ext cx="3930884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1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</a:t>
              </a:r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side = 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(</a:t>
              </a:r>
              <a:r>
                <a:rPr lang="pt-BR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2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)*(w+t)+ </a:t>
              </a:r>
              <a:r>
                <a:rPr lang="pt-BR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1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(2*b+d)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  <a:p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2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</a:t>
              </a:r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side = 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(</a:t>
              </a:r>
              <a:r>
                <a:rPr lang="pt-BR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3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)*(w+t)+ </a:t>
              </a:r>
              <a:r>
                <a:rPr lang="pt-BR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2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(2*b+d)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  <a:p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3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</a:t>
              </a:r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side = 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(</a:t>
              </a:r>
              <a:r>
                <a:rPr lang="pt-BR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4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)*(w+t)+ </a:t>
              </a:r>
              <a:r>
                <a:rPr lang="pt-BR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3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(2*b+d)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  <a:p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n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</a:t>
              </a:r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side = 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(</a:t>
              </a:r>
              <a:r>
                <a:rPr lang="pt-BR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n+1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)*(w+t)+ </a:t>
              </a:r>
              <a:r>
                <a:rPr lang="pt-BR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n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(2*b+d)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A667EEE-4DC6-4A82-9234-3C4621C04321}"/>
              </a:ext>
            </a:extLst>
          </p:cNvPr>
          <p:cNvGrpSpPr/>
          <p:nvPr/>
        </p:nvGrpSpPr>
        <p:grpSpPr>
          <a:xfrm>
            <a:off x="6096000" y="3335111"/>
            <a:ext cx="5385770" cy="2021978"/>
            <a:chOff x="6096000" y="1225212"/>
            <a:chExt cx="5385770" cy="2021978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6B91C64-A0C2-4066-A2A6-EBFA47518801}"/>
                </a:ext>
              </a:extLst>
            </p:cNvPr>
            <p:cNvSpPr txBox="1"/>
            <p:nvPr/>
          </p:nvSpPr>
          <p:spPr>
            <a:xfrm>
              <a:off x="6096000" y="1225212"/>
              <a:ext cx="22717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Case II: dust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&gt;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(</a:t>
              </a:r>
              <a:r>
                <a:rPr lang="en-US" sz="2400" b="1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w+t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)/2 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71E9E22-CAC3-4938-9F04-09DD61D87FA3}"/>
                </a:ext>
              </a:extLst>
            </p:cNvPr>
            <p:cNvSpPr txBox="1"/>
            <p:nvPr/>
          </p:nvSpPr>
          <p:spPr>
            <a:xfrm>
              <a:off x="6520155" y="1677530"/>
              <a:ext cx="4961615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1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</a:t>
              </a:r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side = 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2*(w+t)+</a:t>
              </a:r>
              <a:r>
                <a:rPr lang="pt-BR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1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*(2*b+d)+(</a:t>
              </a:r>
              <a:r>
                <a:rPr lang="pt-BR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0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)*(2*dust) </a:t>
              </a:r>
            </a:p>
            <a:p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2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</a:t>
              </a:r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side = 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2*(w+t)+</a:t>
              </a:r>
              <a:r>
                <a:rPr lang="pt-BR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2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*(2*b+d)+(</a:t>
              </a:r>
              <a:r>
                <a:rPr lang="pt-BR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1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)*(2*dust) </a:t>
              </a:r>
            </a:p>
            <a:p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3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</a:t>
              </a:r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side = 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2*(w+t)+</a:t>
              </a:r>
              <a:r>
                <a:rPr lang="pt-BR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3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*(2*b+d)+(</a:t>
              </a:r>
              <a:r>
                <a:rPr lang="pt-BR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2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)*(2*dust) </a:t>
              </a:r>
            </a:p>
            <a:p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n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</a:t>
              </a:r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side = 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2*(w+t)+</a:t>
              </a:r>
              <a:r>
                <a:rPr lang="pt-BR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n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*(2*b+d)+(</a:t>
              </a:r>
              <a:r>
                <a:rPr lang="pt-BR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n-1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)*(2*dust)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8582016-D7B1-4B06-9EAC-C4B25A3C6854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22" name="สี่เหลี่ยมผืนผ้า 33">
              <a:extLst>
                <a:ext uri="{FF2B5EF4-FFF2-40B4-BE49-F238E27FC236}">
                  <a16:creationId xmlns:a16="http://schemas.microsoft.com/office/drawing/2014/main" id="{1F25A567-C30E-4A2E-A400-9D06209084F2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กล่องข้อความ 34">
              <a:extLst>
                <a:ext uri="{FF2B5EF4-FFF2-40B4-BE49-F238E27FC236}">
                  <a16:creationId xmlns:a16="http://schemas.microsoft.com/office/drawing/2014/main" id="{92B42F53-0478-4A4B-A4EA-99B8329701E1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06779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FB17AF-314E-42D9-A41A-CBAA2786B75D}"/>
              </a:ext>
            </a:extLst>
          </p:cNvPr>
          <p:cNvSpPr txBox="1"/>
          <p:nvPr/>
        </p:nvSpPr>
        <p:spPr>
          <a:xfrm>
            <a:off x="-2" y="0"/>
            <a:ext cx="7235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Template Type 1:</a:t>
            </a:r>
            <a:r>
              <a:rPr lang="th-TH" sz="3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กล่องฝาคู่ : </a:t>
            </a:r>
            <a:r>
              <a:rPr lang="en-US" sz="3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Reverse Tuck End</a:t>
            </a:r>
          </a:p>
        </p:txBody>
      </p:sp>
      <p:pic>
        <p:nvPicPr>
          <p:cNvPr id="6" name="Picture 5" descr="Diagram, engineering drawing&#10;&#10;Description automatically generated">
            <a:extLst>
              <a:ext uri="{FF2B5EF4-FFF2-40B4-BE49-F238E27FC236}">
                <a16:creationId xmlns:a16="http://schemas.microsoft.com/office/drawing/2014/main" id="{F3DF99AC-A5F2-4FB5-9500-A5B79F33E5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767" y="726230"/>
            <a:ext cx="4768123" cy="440002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7F450275-4764-41FB-AF20-74E3754EC753}"/>
              </a:ext>
            </a:extLst>
          </p:cNvPr>
          <p:cNvGrpSpPr/>
          <p:nvPr/>
        </p:nvGrpSpPr>
        <p:grpSpPr>
          <a:xfrm>
            <a:off x="332607" y="1003177"/>
            <a:ext cx="400110" cy="3213716"/>
            <a:chOff x="332607" y="1003177"/>
            <a:chExt cx="400110" cy="3213716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ABF4E47-35B8-4993-BBF5-2A908137351E}"/>
                </a:ext>
              </a:extLst>
            </p:cNvPr>
            <p:cNvCxnSpPr/>
            <p:nvPr/>
          </p:nvCxnSpPr>
          <p:spPr>
            <a:xfrm>
              <a:off x="532660" y="1003177"/>
              <a:ext cx="0" cy="3213716"/>
            </a:xfrm>
            <a:prstGeom prst="straightConnector1">
              <a:avLst/>
            </a:prstGeom>
            <a:ln w="38100">
              <a:solidFill>
                <a:schemeClr val="bg2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529A478-85D2-4CA5-A5E9-3BD9CA7D98D4}"/>
                </a:ext>
              </a:extLst>
            </p:cNvPr>
            <p:cNvSpPr txBox="1"/>
            <p:nvPr/>
          </p:nvSpPr>
          <p:spPr>
            <a:xfrm rot="16200000">
              <a:off x="161406" y="2295622"/>
              <a:ext cx="742511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 SIDE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86FB84B-3092-48A0-96F4-617FE9508B2C}"/>
              </a:ext>
            </a:extLst>
          </p:cNvPr>
          <p:cNvGrpSpPr/>
          <p:nvPr/>
        </p:nvGrpSpPr>
        <p:grpSpPr>
          <a:xfrm rot="5400000">
            <a:off x="2219110" y="2982634"/>
            <a:ext cx="400110" cy="3213716"/>
            <a:chOff x="347995" y="1003177"/>
            <a:chExt cx="400110" cy="3213716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0327BDC-B0E0-4081-95D9-0249B8A67A4F}"/>
                </a:ext>
              </a:extLst>
            </p:cNvPr>
            <p:cNvCxnSpPr/>
            <p:nvPr/>
          </p:nvCxnSpPr>
          <p:spPr>
            <a:xfrm>
              <a:off x="532660" y="1003177"/>
              <a:ext cx="0" cy="3213716"/>
            </a:xfrm>
            <a:prstGeom prst="straightConnector1">
              <a:avLst/>
            </a:prstGeom>
            <a:ln w="38100">
              <a:solidFill>
                <a:srgbClr val="00206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2541832-56A3-4053-87A8-C933033B1A85}"/>
                </a:ext>
              </a:extLst>
            </p:cNvPr>
            <p:cNvSpPr txBox="1"/>
            <p:nvPr/>
          </p:nvSpPr>
          <p:spPr>
            <a:xfrm rot="16200000">
              <a:off x="209656" y="2387794"/>
              <a:ext cx="676788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L SIDE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C757515-930D-4F45-9C41-5BA49C4DF3D6}"/>
              </a:ext>
            </a:extLst>
          </p:cNvPr>
          <p:cNvSpPr txBox="1"/>
          <p:nvPr/>
        </p:nvSpPr>
        <p:spPr>
          <a:xfrm>
            <a:off x="399923" y="4833869"/>
            <a:ext cx="2763898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Parameter: w, l, b, n, 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CECA9A-4BE1-45D4-8B3A-20152D984830}"/>
              </a:ext>
            </a:extLst>
          </p:cNvPr>
          <p:cNvSpPr/>
          <p:nvPr/>
        </p:nvSpPr>
        <p:spPr>
          <a:xfrm>
            <a:off x="6514544" y="2786472"/>
            <a:ext cx="2994361" cy="46071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B74323-591E-4C02-A13A-74FCEFF7501E}"/>
              </a:ext>
            </a:extLst>
          </p:cNvPr>
          <p:cNvSpPr txBox="1"/>
          <p:nvPr/>
        </p:nvSpPr>
        <p:spPr>
          <a:xfrm>
            <a:off x="5733734" y="584775"/>
            <a:ext cx="914296" cy="589002"/>
          </a:xfrm>
          <a:prstGeom prst="roundRect">
            <a:avLst>
              <a:gd name="adj" fmla="val 19734"/>
            </a:avLst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L side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7CFCB6-60A7-4E4A-9209-90426F58A436}"/>
              </a:ext>
            </a:extLst>
          </p:cNvPr>
          <p:cNvSpPr txBox="1"/>
          <p:nvPr/>
        </p:nvSpPr>
        <p:spPr>
          <a:xfrm>
            <a:off x="6741112" y="3410756"/>
            <a:ext cx="2683095" cy="4001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* : </a:t>
            </a:r>
            <a:r>
              <a: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คูณ, 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/ :</a:t>
            </a:r>
            <a:r>
              <a: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หาร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, N:</a:t>
            </a:r>
            <a:r>
              <a: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จำนวนชิ้นงาน</a:t>
            </a:r>
            <a:endParaRPr lang="en-US" sz="2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84310DE-506F-4ED1-8DA4-5EEC3148E528}"/>
              </a:ext>
            </a:extLst>
          </p:cNvPr>
          <p:cNvGrpSpPr/>
          <p:nvPr/>
        </p:nvGrpSpPr>
        <p:grpSpPr>
          <a:xfrm>
            <a:off x="6096000" y="1225212"/>
            <a:ext cx="3569568" cy="2021978"/>
            <a:chOff x="6096000" y="1225212"/>
            <a:chExt cx="3569568" cy="202197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8F07B25-69FD-47F1-9267-6D6638CF7E33}"/>
                </a:ext>
              </a:extLst>
            </p:cNvPr>
            <p:cNvSpPr txBox="1"/>
            <p:nvPr/>
          </p:nvSpPr>
          <p:spPr>
            <a:xfrm>
              <a:off x="6096000" y="1225212"/>
              <a:ext cx="8370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Case I: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845526E-7348-426C-98DB-50B0C85B303E}"/>
                </a:ext>
              </a:extLst>
            </p:cNvPr>
            <p:cNvSpPr txBox="1"/>
            <p:nvPr/>
          </p:nvSpPr>
          <p:spPr>
            <a:xfrm>
              <a:off x="6520155" y="1677530"/>
              <a:ext cx="3145413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1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l</a:t>
              </a:r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side = 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1</a:t>
              </a:r>
              <a:r>
                <a:rPr lang="pl-PL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*(2*(w+l+b)+g) 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  <a:p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2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l</a:t>
              </a:r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side = 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2</a:t>
              </a:r>
              <a:r>
                <a:rPr lang="pl-PL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*(2*(w+l+b)+g) 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  <a:p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3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l</a:t>
              </a:r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side = 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3</a:t>
              </a:r>
              <a:r>
                <a:rPr lang="pl-PL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*(2*(w+l+b)+g) 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  <a:p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n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l</a:t>
              </a:r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side = </a:t>
              </a:r>
              <a:r>
                <a:rPr lang="pl-PL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n</a:t>
              </a:r>
              <a:r>
                <a:rPr lang="pl-PL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*(2*(w+l+b)+g)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DC12E7A-D1B6-4E0B-8A6D-F5C02F9FFC43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18" name="สี่เหลี่ยมผืนผ้า 33">
              <a:extLst>
                <a:ext uri="{FF2B5EF4-FFF2-40B4-BE49-F238E27FC236}">
                  <a16:creationId xmlns:a16="http://schemas.microsoft.com/office/drawing/2014/main" id="{1904D72A-93D0-4AA1-AB6A-C32BDB774DA5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กล่องข้อความ 34">
              <a:extLst>
                <a:ext uri="{FF2B5EF4-FFF2-40B4-BE49-F238E27FC236}">
                  <a16:creationId xmlns:a16="http://schemas.microsoft.com/office/drawing/2014/main" id="{EBA69FA6-B942-4C4A-85DD-FBE28B35C880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0739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FB17AF-314E-42D9-A41A-CBAA2786B75D}"/>
              </a:ext>
            </a:extLst>
          </p:cNvPr>
          <p:cNvSpPr txBox="1"/>
          <p:nvPr/>
        </p:nvSpPr>
        <p:spPr>
          <a:xfrm>
            <a:off x="-2" y="0"/>
            <a:ext cx="7235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Template Type 2:</a:t>
            </a:r>
            <a:r>
              <a:rPr lang="th-TH" sz="3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กล่องฝาคู่ : </a:t>
            </a:r>
            <a:r>
              <a:rPr lang="en-US" sz="3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Straight Tuck End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DF99AC-A5F2-4FB5-9500-A5B79F33E5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5239" y="726230"/>
            <a:ext cx="4703178" cy="440002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7F450275-4764-41FB-AF20-74E3754EC753}"/>
              </a:ext>
            </a:extLst>
          </p:cNvPr>
          <p:cNvGrpSpPr/>
          <p:nvPr/>
        </p:nvGrpSpPr>
        <p:grpSpPr>
          <a:xfrm>
            <a:off x="332607" y="1003177"/>
            <a:ext cx="400110" cy="3213716"/>
            <a:chOff x="332607" y="1003177"/>
            <a:chExt cx="400110" cy="3213716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ABF4E47-35B8-4993-BBF5-2A908137351E}"/>
                </a:ext>
              </a:extLst>
            </p:cNvPr>
            <p:cNvCxnSpPr/>
            <p:nvPr/>
          </p:nvCxnSpPr>
          <p:spPr>
            <a:xfrm>
              <a:off x="532660" y="1003177"/>
              <a:ext cx="0" cy="3213716"/>
            </a:xfrm>
            <a:prstGeom prst="straightConnector1">
              <a:avLst/>
            </a:prstGeom>
            <a:ln w="38100">
              <a:solidFill>
                <a:srgbClr val="00206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529A478-85D2-4CA5-A5E9-3BD9CA7D98D4}"/>
                </a:ext>
              </a:extLst>
            </p:cNvPr>
            <p:cNvSpPr txBox="1"/>
            <p:nvPr/>
          </p:nvSpPr>
          <p:spPr>
            <a:xfrm rot="16200000">
              <a:off x="161406" y="2295622"/>
              <a:ext cx="742511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 SIDE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86FB84B-3092-48A0-96F4-617FE9508B2C}"/>
              </a:ext>
            </a:extLst>
          </p:cNvPr>
          <p:cNvGrpSpPr/>
          <p:nvPr/>
        </p:nvGrpSpPr>
        <p:grpSpPr>
          <a:xfrm rot="5400000">
            <a:off x="2219110" y="2982634"/>
            <a:ext cx="400110" cy="3213716"/>
            <a:chOff x="347995" y="1003177"/>
            <a:chExt cx="400110" cy="3213716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0327BDC-B0E0-4081-95D9-0249B8A67A4F}"/>
                </a:ext>
              </a:extLst>
            </p:cNvPr>
            <p:cNvCxnSpPr/>
            <p:nvPr/>
          </p:nvCxnSpPr>
          <p:spPr>
            <a:xfrm>
              <a:off x="532660" y="1003177"/>
              <a:ext cx="0" cy="3213716"/>
            </a:xfrm>
            <a:prstGeom prst="straightConnector1">
              <a:avLst/>
            </a:prstGeom>
            <a:ln w="38100">
              <a:solidFill>
                <a:schemeClr val="bg2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2541832-56A3-4053-87A8-C933033B1A85}"/>
                </a:ext>
              </a:extLst>
            </p:cNvPr>
            <p:cNvSpPr txBox="1"/>
            <p:nvPr/>
          </p:nvSpPr>
          <p:spPr>
            <a:xfrm rot="16200000">
              <a:off x="209656" y="2387794"/>
              <a:ext cx="676788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L SIDE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C757515-930D-4F45-9C41-5BA49C4DF3D6}"/>
              </a:ext>
            </a:extLst>
          </p:cNvPr>
          <p:cNvSpPr txBox="1"/>
          <p:nvPr/>
        </p:nvSpPr>
        <p:spPr>
          <a:xfrm>
            <a:off x="399923" y="4833869"/>
            <a:ext cx="3466013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Parameter: w, d, dust, t,</a:t>
            </a:r>
            <a:r>
              <a:rPr lang="th-TH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n, 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B74323-591E-4C02-A13A-74FCEFF7501E}"/>
              </a:ext>
            </a:extLst>
          </p:cNvPr>
          <p:cNvSpPr txBox="1"/>
          <p:nvPr/>
        </p:nvSpPr>
        <p:spPr>
          <a:xfrm>
            <a:off x="5733734" y="584775"/>
            <a:ext cx="1011853" cy="589002"/>
          </a:xfrm>
          <a:prstGeom prst="roundRect">
            <a:avLst>
              <a:gd name="adj" fmla="val 19734"/>
            </a:avLst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W side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9CB7961-B0C5-4CAA-AA89-D54E176B910B}"/>
              </a:ext>
            </a:extLst>
          </p:cNvPr>
          <p:cNvSpPr/>
          <p:nvPr/>
        </p:nvSpPr>
        <p:spPr>
          <a:xfrm>
            <a:off x="5842572" y="2803012"/>
            <a:ext cx="5946974" cy="40233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7CFCB6-60A7-4E4A-9209-90426F58A436}"/>
              </a:ext>
            </a:extLst>
          </p:cNvPr>
          <p:cNvSpPr txBox="1"/>
          <p:nvPr/>
        </p:nvSpPr>
        <p:spPr>
          <a:xfrm>
            <a:off x="7474511" y="5497218"/>
            <a:ext cx="2683095" cy="4001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* : </a:t>
            </a:r>
            <a:r>
              <a: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คูณ, 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/ :</a:t>
            </a:r>
            <a:r>
              <a: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หาร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, N:</a:t>
            </a:r>
            <a:r>
              <a: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จำนวนชิ้นงาน</a:t>
            </a:r>
            <a:endParaRPr lang="en-US" sz="2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DCC1024-AE75-4287-937B-382158E2D8D1}"/>
              </a:ext>
            </a:extLst>
          </p:cNvPr>
          <p:cNvSpPr/>
          <p:nvPr/>
        </p:nvSpPr>
        <p:spPr>
          <a:xfrm>
            <a:off x="5842572" y="4918174"/>
            <a:ext cx="5946974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84310DE-506F-4ED1-8DA4-5EEC3148E528}"/>
              </a:ext>
            </a:extLst>
          </p:cNvPr>
          <p:cNvGrpSpPr/>
          <p:nvPr/>
        </p:nvGrpSpPr>
        <p:grpSpPr>
          <a:xfrm>
            <a:off x="6096000" y="1225212"/>
            <a:ext cx="5647060" cy="2021978"/>
            <a:chOff x="6096000" y="1225212"/>
            <a:chExt cx="5647060" cy="202197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8F07B25-69FD-47F1-9267-6D6638CF7E33}"/>
                </a:ext>
              </a:extLst>
            </p:cNvPr>
            <p:cNvSpPr txBox="1"/>
            <p:nvPr/>
          </p:nvSpPr>
          <p:spPr>
            <a:xfrm>
              <a:off x="6096000" y="1225212"/>
              <a:ext cx="22541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Case I: </a:t>
              </a:r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align: straight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845526E-7348-426C-98DB-50B0C85B303E}"/>
                </a:ext>
              </a:extLst>
            </p:cNvPr>
            <p:cNvSpPr txBox="1"/>
            <p:nvPr/>
          </p:nvSpPr>
          <p:spPr>
            <a:xfrm>
              <a:off x="6520155" y="1677530"/>
              <a:ext cx="5222905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1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</a:t>
              </a:r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side = </a:t>
              </a:r>
              <a:r>
                <a:rPr lang="pl-PL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2*(w+t)+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1</a:t>
              </a:r>
              <a:r>
                <a:rPr lang="pl-PL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*(2*b+d)+(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0</a:t>
              </a:r>
              <a:r>
                <a:rPr lang="pl-PL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)*(dust+w+t) 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  <a:p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2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</a:t>
              </a:r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side = </a:t>
              </a:r>
              <a:r>
                <a:rPr lang="pl-PL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2*(w+t)+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2</a:t>
              </a:r>
              <a:r>
                <a:rPr lang="pl-PL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*(2*b+d)+(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1</a:t>
              </a:r>
              <a:r>
                <a:rPr lang="pl-PL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)*(dust+w+t)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  <a:p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3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</a:t>
              </a:r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side = </a:t>
              </a:r>
              <a:r>
                <a:rPr lang="pl-PL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2*(w+t)+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3</a:t>
              </a:r>
              <a:r>
                <a:rPr lang="pl-PL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*(2*b+d)+(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2</a:t>
              </a:r>
              <a:r>
                <a:rPr lang="pl-PL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)*(dust+w+t) 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  <a:p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n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</a:t>
              </a:r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side = </a:t>
              </a:r>
              <a:r>
                <a:rPr lang="pl-PL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2*(w+t)+</a:t>
              </a:r>
              <a:r>
                <a:rPr lang="pl-PL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n</a:t>
              </a:r>
              <a:r>
                <a:rPr lang="pl-PL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*(2*b+d)+(</a:t>
              </a:r>
              <a:r>
                <a:rPr lang="pl-PL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n-1</a:t>
              </a:r>
              <a:r>
                <a:rPr lang="pl-PL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)*(dust+w+t)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C286CC2-59A5-47AA-8BE0-C2378A8FBB99}"/>
              </a:ext>
            </a:extLst>
          </p:cNvPr>
          <p:cNvGrpSpPr/>
          <p:nvPr/>
        </p:nvGrpSpPr>
        <p:grpSpPr>
          <a:xfrm>
            <a:off x="6096000" y="3335111"/>
            <a:ext cx="4286110" cy="2021978"/>
            <a:chOff x="6096000" y="1225212"/>
            <a:chExt cx="4286110" cy="2021978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D346443-9686-4634-B8D8-7E0E74594245}"/>
                </a:ext>
              </a:extLst>
            </p:cNvPr>
            <p:cNvSpPr txBox="1"/>
            <p:nvPr/>
          </p:nvSpPr>
          <p:spPr>
            <a:xfrm>
              <a:off x="6096000" y="1225212"/>
              <a:ext cx="416171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Case II: align: overlap &amp;&amp; dust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&lt;=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(</a:t>
              </a:r>
              <a:r>
                <a:rPr lang="en-US" sz="2400" b="1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w+t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)/2 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8A0CA2E-8D5E-4BAF-A0C5-1B3430C23A27}"/>
                </a:ext>
              </a:extLst>
            </p:cNvPr>
            <p:cNvSpPr txBox="1"/>
            <p:nvPr/>
          </p:nvSpPr>
          <p:spPr>
            <a:xfrm>
              <a:off x="6520155" y="1677530"/>
              <a:ext cx="3861955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1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</a:t>
              </a:r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side = 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(</a:t>
              </a:r>
              <a:r>
                <a:rPr lang="pt-BR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2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)*(w+t)+</a:t>
              </a:r>
              <a:r>
                <a:rPr lang="pt-BR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1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*(2*b+d) </a:t>
              </a:r>
            </a:p>
            <a:p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2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</a:t>
              </a:r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side = 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(</a:t>
              </a:r>
              <a:r>
                <a:rPr lang="pt-BR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3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)*(w+t)+</a:t>
              </a:r>
              <a:r>
                <a:rPr lang="pt-BR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2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*(2*b+d)</a:t>
              </a:r>
            </a:p>
            <a:p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3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</a:t>
              </a:r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side = 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(</a:t>
              </a:r>
              <a:r>
                <a:rPr lang="pt-BR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4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)*(w+t)+</a:t>
              </a:r>
              <a:r>
                <a:rPr lang="pt-BR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3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*(2*b+d) </a:t>
              </a:r>
            </a:p>
            <a:p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n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</a:t>
              </a:r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side = 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(</a:t>
              </a:r>
              <a:r>
                <a:rPr lang="pt-BR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n+1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)*(w+t)+</a:t>
              </a:r>
              <a:r>
                <a:rPr lang="pt-BR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n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*(2*b+d)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F75111F-39B7-4033-8646-0F2F62FCDD4D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22" name="สี่เหลี่ยมผืนผ้า 33">
              <a:extLst>
                <a:ext uri="{FF2B5EF4-FFF2-40B4-BE49-F238E27FC236}">
                  <a16:creationId xmlns:a16="http://schemas.microsoft.com/office/drawing/2014/main" id="{6A18B090-0ED5-4419-942F-5D0226F3F202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กล่องข้อความ 34">
              <a:extLst>
                <a:ext uri="{FF2B5EF4-FFF2-40B4-BE49-F238E27FC236}">
                  <a16:creationId xmlns:a16="http://schemas.microsoft.com/office/drawing/2014/main" id="{85C8983E-0AC1-4514-AF9B-AF82BFF79242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2722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FB17AF-314E-42D9-A41A-CBAA2786B75D}"/>
              </a:ext>
            </a:extLst>
          </p:cNvPr>
          <p:cNvSpPr txBox="1"/>
          <p:nvPr/>
        </p:nvSpPr>
        <p:spPr>
          <a:xfrm>
            <a:off x="-2" y="0"/>
            <a:ext cx="7235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Template Type 2:</a:t>
            </a:r>
            <a:r>
              <a:rPr lang="th-TH" sz="3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กล่องฝาคู่ : </a:t>
            </a:r>
            <a:r>
              <a:rPr lang="en-US" sz="3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Straight Tuck End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DF99AC-A5F2-4FB5-9500-A5B79F33E5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5239" y="726230"/>
            <a:ext cx="4703178" cy="440002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7F450275-4764-41FB-AF20-74E3754EC753}"/>
              </a:ext>
            </a:extLst>
          </p:cNvPr>
          <p:cNvGrpSpPr/>
          <p:nvPr/>
        </p:nvGrpSpPr>
        <p:grpSpPr>
          <a:xfrm>
            <a:off x="332607" y="1003177"/>
            <a:ext cx="400110" cy="3213716"/>
            <a:chOff x="332607" y="1003177"/>
            <a:chExt cx="400110" cy="3213716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ABF4E47-35B8-4993-BBF5-2A908137351E}"/>
                </a:ext>
              </a:extLst>
            </p:cNvPr>
            <p:cNvCxnSpPr/>
            <p:nvPr/>
          </p:nvCxnSpPr>
          <p:spPr>
            <a:xfrm>
              <a:off x="532660" y="1003177"/>
              <a:ext cx="0" cy="3213716"/>
            </a:xfrm>
            <a:prstGeom prst="straightConnector1">
              <a:avLst/>
            </a:prstGeom>
            <a:ln w="38100">
              <a:solidFill>
                <a:srgbClr val="00206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529A478-85D2-4CA5-A5E9-3BD9CA7D98D4}"/>
                </a:ext>
              </a:extLst>
            </p:cNvPr>
            <p:cNvSpPr txBox="1"/>
            <p:nvPr/>
          </p:nvSpPr>
          <p:spPr>
            <a:xfrm rot="16200000">
              <a:off x="161406" y="2295622"/>
              <a:ext cx="742511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 SIDE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86FB84B-3092-48A0-96F4-617FE9508B2C}"/>
              </a:ext>
            </a:extLst>
          </p:cNvPr>
          <p:cNvGrpSpPr/>
          <p:nvPr/>
        </p:nvGrpSpPr>
        <p:grpSpPr>
          <a:xfrm rot="5400000">
            <a:off x="2219110" y="2982634"/>
            <a:ext cx="400110" cy="3213716"/>
            <a:chOff x="347995" y="1003177"/>
            <a:chExt cx="400110" cy="3213716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0327BDC-B0E0-4081-95D9-0249B8A67A4F}"/>
                </a:ext>
              </a:extLst>
            </p:cNvPr>
            <p:cNvCxnSpPr/>
            <p:nvPr/>
          </p:nvCxnSpPr>
          <p:spPr>
            <a:xfrm>
              <a:off x="532660" y="1003177"/>
              <a:ext cx="0" cy="3213716"/>
            </a:xfrm>
            <a:prstGeom prst="straightConnector1">
              <a:avLst/>
            </a:prstGeom>
            <a:ln w="38100">
              <a:solidFill>
                <a:schemeClr val="bg2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2541832-56A3-4053-87A8-C933033B1A85}"/>
                </a:ext>
              </a:extLst>
            </p:cNvPr>
            <p:cNvSpPr txBox="1"/>
            <p:nvPr/>
          </p:nvSpPr>
          <p:spPr>
            <a:xfrm rot="16200000">
              <a:off x="209656" y="2387794"/>
              <a:ext cx="676788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L SIDE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C757515-930D-4F45-9C41-5BA49C4DF3D6}"/>
              </a:ext>
            </a:extLst>
          </p:cNvPr>
          <p:cNvSpPr txBox="1"/>
          <p:nvPr/>
        </p:nvSpPr>
        <p:spPr>
          <a:xfrm>
            <a:off x="399923" y="4833869"/>
            <a:ext cx="3466013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Parameter: w, d, dust, t,</a:t>
            </a:r>
            <a:r>
              <a:rPr lang="th-TH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n, 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B74323-591E-4C02-A13A-74FCEFF7501E}"/>
              </a:ext>
            </a:extLst>
          </p:cNvPr>
          <p:cNvSpPr txBox="1"/>
          <p:nvPr/>
        </p:nvSpPr>
        <p:spPr>
          <a:xfrm>
            <a:off x="5733734" y="584775"/>
            <a:ext cx="1011853" cy="589002"/>
          </a:xfrm>
          <a:prstGeom prst="roundRect">
            <a:avLst>
              <a:gd name="adj" fmla="val 19734"/>
            </a:avLst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W side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9CB7961-B0C5-4CAA-AA89-D54E176B910B}"/>
              </a:ext>
            </a:extLst>
          </p:cNvPr>
          <p:cNvSpPr/>
          <p:nvPr/>
        </p:nvSpPr>
        <p:spPr>
          <a:xfrm>
            <a:off x="5842572" y="2803012"/>
            <a:ext cx="5946974" cy="40233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7CFCB6-60A7-4E4A-9209-90426F58A436}"/>
              </a:ext>
            </a:extLst>
          </p:cNvPr>
          <p:cNvSpPr txBox="1"/>
          <p:nvPr/>
        </p:nvSpPr>
        <p:spPr>
          <a:xfrm>
            <a:off x="7659414" y="3499453"/>
            <a:ext cx="2683095" cy="4001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* : </a:t>
            </a:r>
            <a:r>
              <a: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คูณ, 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/ :</a:t>
            </a:r>
            <a:r>
              <a: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หาร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, N:</a:t>
            </a:r>
            <a:r>
              <a: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จำนวนชิ้นงาน</a:t>
            </a:r>
            <a:endParaRPr lang="en-US" sz="2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84310DE-506F-4ED1-8DA4-5EEC3148E528}"/>
              </a:ext>
            </a:extLst>
          </p:cNvPr>
          <p:cNvGrpSpPr/>
          <p:nvPr/>
        </p:nvGrpSpPr>
        <p:grpSpPr>
          <a:xfrm>
            <a:off x="6096000" y="1225212"/>
            <a:ext cx="5385770" cy="2021978"/>
            <a:chOff x="6096000" y="1225212"/>
            <a:chExt cx="5385770" cy="202197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8F07B25-69FD-47F1-9267-6D6638CF7E33}"/>
                </a:ext>
              </a:extLst>
            </p:cNvPr>
            <p:cNvSpPr txBox="1"/>
            <p:nvPr/>
          </p:nvSpPr>
          <p:spPr>
            <a:xfrm>
              <a:off x="6096000" y="1225212"/>
              <a:ext cx="408316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Case III: align: overlap &amp;&amp; dust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&gt;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(</a:t>
              </a:r>
              <a:r>
                <a:rPr lang="en-US" sz="2400" b="1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w+t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)/2 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845526E-7348-426C-98DB-50B0C85B303E}"/>
                </a:ext>
              </a:extLst>
            </p:cNvPr>
            <p:cNvSpPr txBox="1"/>
            <p:nvPr/>
          </p:nvSpPr>
          <p:spPr>
            <a:xfrm>
              <a:off x="6520155" y="1677530"/>
              <a:ext cx="4961615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1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</a:t>
              </a:r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side = 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2*(w+t)+</a:t>
              </a:r>
              <a:r>
                <a:rPr lang="pt-BR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1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*(2*b+d)+(</a:t>
              </a:r>
              <a:r>
                <a:rPr lang="pt-BR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0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)*(2*dust) </a:t>
              </a:r>
            </a:p>
            <a:p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2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</a:t>
              </a:r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side = 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2*(w+t)+</a:t>
              </a:r>
              <a:r>
                <a:rPr lang="pt-BR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2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*(2*b+d)+(</a:t>
              </a:r>
              <a:r>
                <a:rPr lang="pt-BR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1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)*(2*dust) </a:t>
              </a:r>
            </a:p>
            <a:p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3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</a:t>
              </a:r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side = 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2*(w+t)+</a:t>
              </a:r>
              <a:r>
                <a:rPr lang="pt-BR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3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*(2*b+d)+(</a:t>
              </a:r>
              <a:r>
                <a:rPr lang="pt-BR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2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)*(2*dust) </a:t>
              </a:r>
            </a:p>
            <a:p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n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</a:t>
              </a:r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side = 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2*(w+t)+</a:t>
              </a:r>
              <a:r>
                <a:rPr lang="pt-BR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n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*(2*b+d)+(</a:t>
              </a:r>
              <a:r>
                <a:rPr lang="pt-BR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n-1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)*(2*dust)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26DF30F-AC02-4758-909E-8B3D48D2DE89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18" name="สี่เหลี่ยมผืนผ้า 33">
              <a:extLst>
                <a:ext uri="{FF2B5EF4-FFF2-40B4-BE49-F238E27FC236}">
                  <a16:creationId xmlns:a16="http://schemas.microsoft.com/office/drawing/2014/main" id="{1C8157F9-6185-4AE3-8EDC-A6C90B2E8A70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กล่องข้อความ 34">
              <a:extLst>
                <a:ext uri="{FF2B5EF4-FFF2-40B4-BE49-F238E27FC236}">
                  <a16:creationId xmlns:a16="http://schemas.microsoft.com/office/drawing/2014/main" id="{4AD2C024-5A98-4787-9294-BEE46C2E2551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921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3DF99AC-A5F2-4FB5-9500-A5B79F33E5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8371" y="726230"/>
            <a:ext cx="4696914" cy="440002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7F450275-4764-41FB-AF20-74E3754EC753}"/>
              </a:ext>
            </a:extLst>
          </p:cNvPr>
          <p:cNvGrpSpPr/>
          <p:nvPr/>
        </p:nvGrpSpPr>
        <p:grpSpPr>
          <a:xfrm>
            <a:off x="332607" y="1003177"/>
            <a:ext cx="400110" cy="3213716"/>
            <a:chOff x="332607" y="1003177"/>
            <a:chExt cx="400110" cy="3213716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ABF4E47-35B8-4993-BBF5-2A908137351E}"/>
                </a:ext>
              </a:extLst>
            </p:cNvPr>
            <p:cNvCxnSpPr/>
            <p:nvPr/>
          </p:nvCxnSpPr>
          <p:spPr>
            <a:xfrm>
              <a:off x="532660" y="1003177"/>
              <a:ext cx="0" cy="3213716"/>
            </a:xfrm>
            <a:prstGeom prst="straightConnector1">
              <a:avLst/>
            </a:prstGeom>
            <a:ln w="38100">
              <a:solidFill>
                <a:schemeClr val="bg2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529A478-85D2-4CA5-A5E9-3BD9CA7D98D4}"/>
                </a:ext>
              </a:extLst>
            </p:cNvPr>
            <p:cNvSpPr txBox="1"/>
            <p:nvPr/>
          </p:nvSpPr>
          <p:spPr>
            <a:xfrm rot="16200000">
              <a:off x="161406" y="2295622"/>
              <a:ext cx="742511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 SIDE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86FB84B-3092-48A0-96F4-617FE9508B2C}"/>
              </a:ext>
            </a:extLst>
          </p:cNvPr>
          <p:cNvGrpSpPr/>
          <p:nvPr/>
        </p:nvGrpSpPr>
        <p:grpSpPr>
          <a:xfrm rot="5400000">
            <a:off x="2219110" y="2982634"/>
            <a:ext cx="400110" cy="3213716"/>
            <a:chOff x="347995" y="1003177"/>
            <a:chExt cx="400110" cy="3213716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0327BDC-B0E0-4081-95D9-0249B8A67A4F}"/>
                </a:ext>
              </a:extLst>
            </p:cNvPr>
            <p:cNvCxnSpPr/>
            <p:nvPr/>
          </p:nvCxnSpPr>
          <p:spPr>
            <a:xfrm>
              <a:off x="532660" y="1003177"/>
              <a:ext cx="0" cy="3213716"/>
            </a:xfrm>
            <a:prstGeom prst="straightConnector1">
              <a:avLst/>
            </a:prstGeom>
            <a:ln w="38100">
              <a:solidFill>
                <a:srgbClr val="00206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2541832-56A3-4053-87A8-C933033B1A85}"/>
                </a:ext>
              </a:extLst>
            </p:cNvPr>
            <p:cNvSpPr txBox="1"/>
            <p:nvPr/>
          </p:nvSpPr>
          <p:spPr>
            <a:xfrm rot="16200000">
              <a:off x="209656" y="2387794"/>
              <a:ext cx="676788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L SIDE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C757515-930D-4F45-9C41-5BA49C4DF3D6}"/>
              </a:ext>
            </a:extLst>
          </p:cNvPr>
          <p:cNvSpPr txBox="1"/>
          <p:nvPr/>
        </p:nvSpPr>
        <p:spPr>
          <a:xfrm>
            <a:off x="399923" y="4833869"/>
            <a:ext cx="2763898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Parameter: w, l, b, n, 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CECA9A-4BE1-45D4-8B3A-20152D984830}"/>
              </a:ext>
            </a:extLst>
          </p:cNvPr>
          <p:cNvSpPr/>
          <p:nvPr/>
        </p:nvSpPr>
        <p:spPr>
          <a:xfrm>
            <a:off x="5839440" y="2786472"/>
            <a:ext cx="5634189" cy="46071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B74323-591E-4C02-A13A-74FCEFF7501E}"/>
              </a:ext>
            </a:extLst>
          </p:cNvPr>
          <p:cNvSpPr txBox="1"/>
          <p:nvPr/>
        </p:nvSpPr>
        <p:spPr>
          <a:xfrm>
            <a:off x="5733734" y="584775"/>
            <a:ext cx="914296" cy="589002"/>
          </a:xfrm>
          <a:prstGeom prst="roundRect">
            <a:avLst>
              <a:gd name="adj" fmla="val 19734"/>
            </a:avLst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L side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6F206AE-852C-4AD8-ACEF-136321E51E70}"/>
              </a:ext>
            </a:extLst>
          </p:cNvPr>
          <p:cNvSpPr/>
          <p:nvPr/>
        </p:nvSpPr>
        <p:spPr>
          <a:xfrm>
            <a:off x="5839440" y="4990260"/>
            <a:ext cx="5634189" cy="46071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7CFCB6-60A7-4E4A-9209-90426F58A436}"/>
              </a:ext>
            </a:extLst>
          </p:cNvPr>
          <p:cNvSpPr txBox="1"/>
          <p:nvPr/>
        </p:nvSpPr>
        <p:spPr>
          <a:xfrm>
            <a:off x="6932440" y="5931359"/>
            <a:ext cx="2683095" cy="4001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* : </a:t>
            </a:r>
            <a:r>
              <a: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คูณ, 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/ :</a:t>
            </a:r>
            <a:r>
              <a: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หาร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, N:</a:t>
            </a:r>
            <a:r>
              <a: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จำนวนชิ้นงาน</a:t>
            </a:r>
            <a:endParaRPr lang="en-US" sz="2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84310DE-506F-4ED1-8DA4-5EEC3148E528}"/>
              </a:ext>
            </a:extLst>
          </p:cNvPr>
          <p:cNvGrpSpPr/>
          <p:nvPr/>
        </p:nvGrpSpPr>
        <p:grpSpPr>
          <a:xfrm>
            <a:off x="6096000" y="1225212"/>
            <a:ext cx="3569568" cy="2021978"/>
            <a:chOff x="6096000" y="1225212"/>
            <a:chExt cx="3569568" cy="202197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8F07B25-69FD-47F1-9267-6D6638CF7E33}"/>
                </a:ext>
              </a:extLst>
            </p:cNvPr>
            <p:cNvSpPr txBox="1"/>
            <p:nvPr/>
          </p:nvSpPr>
          <p:spPr>
            <a:xfrm>
              <a:off x="6096000" y="1225212"/>
              <a:ext cx="21779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Case I: align: straight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845526E-7348-426C-98DB-50B0C85B303E}"/>
                </a:ext>
              </a:extLst>
            </p:cNvPr>
            <p:cNvSpPr txBox="1"/>
            <p:nvPr/>
          </p:nvSpPr>
          <p:spPr>
            <a:xfrm>
              <a:off x="6520155" y="1677530"/>
              <a:ext cx="3145413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1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l</a:t>
              </a:r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side = 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1</a:t>
              </a:r>
              <a:r>
                <a:rPr lang="pl-PL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*(2*(w+l+b)+g) 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  <a:p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2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l</a:t>
              </a:r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side = 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2</a:t>
              </a:r>
              <a:r>
                <a:rPr lang="pl-PL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*(2*(w+l+b)+g) 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  <a:p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3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l</a:t>
              </a:r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side = 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3</a:t>
              </a:r>
              <a:r>
                <a:rPr lang="pl-PL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*(2*(w+l+b)+g) 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  <a:p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n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l</a:t>
              </a:r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side = </a:t>
              </a:r>
              <a:r>
                <a:rPr lang="pl-PL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n</a:t>
              </a:r>
              <a:r>
                <a:rPr lang="pl-PL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*(2*(w+l+b)+g)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63CDA38A-4173-41D5-997F-398016AE9F80}"/>
              </a:ext>
            </a:extLst>
          </p:cNvPr>
          <p:cNvSpPr txBox="1"/>
          <p:nvPr/>
        </p:nvSpPr>
        <p:spPr>
          <a:xfrm>
            <a:off x="-2" y="0"/>
            <a:ext cx="7235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Template Type 2:</a:t>
            </a:r>
            <a:r>
              <a:rPr lang="th-TH" sz="3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กล่องฝาคู่ : </a:t>
            </a:r>
            <a:r>
              <a:rPr lang="en-US" sz="3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Straight Tuck End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F9964CD-4B26-43D8-BF98-6AD4163C2A50}"/>
              </a:ext>
            </a:extLst>
          </p:cNvPr>
          <p:cNvGrpSpPr/>
          <p:nvPr/>
        </p:nvGrpSpPr>
        <p:grpSpPr>
          <a:xfrm>
            <a:off x="6095999" y="3429000"/>
            <a:ext cx="4876801" cy="2483643"/>
            <a:chOff x="6095999" y="1225212"/>
            <a:chExt cx="4876801" cy="2483643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1DF4617-A6C3-4EF0-81CF-287B1D1ED67F}"/>
                </a:ext>
              </a:extLst>
            </p:cNvPr>
            <p:cNvSpPr txBox="1"/>
            <p:nvPr/>
          </p:nvSpPr>
          <p:spPr>
            <a:xfrm>
              <a:off x="6095999" y="1225212"/>
              <a:ext cx="260946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Case II: align: overlap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29E04E7-7CA4-40B7-9CF0-3C3382791FA7}"/>
                </a:ext>
              </a:extLst>
            </p:cNvPr>
            <p:cNvSpPr txBox="1"/>
            <p:nvPr/>
          </p:nvSpPr>
          <p:spPr>
            <a:xfrm>
              <a:off x="6520155" y="1677530"/>
              <a:ext cx="4378122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1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l</a:t>
              </a:r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side = 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2*</a:t>
              </a:r>
              <a:r>
                <a:rPr lang="pt-BR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1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*(l+b)+(</a:t>
              </a:r>
              <a:r>
                <a:rPr lang="pt-BR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3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)*w+(</a:t>
              </a:r>
              <a:r>
                <a:rPr lang="pt-BR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0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)*g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  <a:p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2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l</a:t>
              </a:r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side = 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2*</a:t>
              </a:r>
              <a:r>
                <a:rPr lang="pt-BR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2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*(l+b)+(</a:t>
              </a:r>
              <a:r>
                <a:rPr lang="pt-BR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5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)*w+(</a:t>
              </a:r>
              <a:r>
                <a:rPr lang="pt-BR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1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)*g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  <a:p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3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l</a:t>
              </a:r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side = 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2*</a:t>
              </a:r>
              <a:r>
                <a:rPr lang="pt-BR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3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*(l+b)+(</a:t>
              </a:r>
              <a:r>
                <a:rPr lang="pt-BR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7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)*w+(</a:t>
              </a:r>
              <a:r>
                <a:rPr lang="pt-BR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2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)*g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  <a:p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n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l</a:t>
              </a:r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side = 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2*</a:t>
              </a:r>
              <a:r>
                <a:rPr lang="pt-BR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n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*(l+b)+(</a:t>
              </a:r>
              <a:r>
                <a:rPr lang="pt-BR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2*n+1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)*w+(</a:t>
              </a:r>
              <a:r>
                <a:rPr lang="pt-BR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n-1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)*g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D69D7A3-5833-4EB8-9880-857259978FDE}"/>
                </a:ext>
              </a:extLst>
            </p:cNvPr>
            <p:cNvSpPr txBox="1"/>
            <p:nvPr/>
          </p:nvSpPr>
          <p:spPr>
            <a:xfrm>
              <a:off x="6096000" y="3247190"/>
              <a:ext cx="4876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C0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**Remark: </a:t>
              </a:r>
              <a:r>
                <a:rPr lang="th-TH" sz="2400" b="1" dirty="0">
                  <a:solidFill>
                    <a:srgbClr val="C0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ถ้า</a:t>
              </a:r>
              <a:r>
                <a:rPr lang="en-US" sz="2400" b="1" dirty="0">
                  <a:solidFill>
                    <a:srgbClr val="C0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w side -&gt; n=1 </a:t>
              </a:r>
              <a:r>
                <a:rPr lang="th-TH" sz="2400" b="1" dirty="0">
                  <a:solidFill>
                    <a:srgbClr val="C0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ให้ใช้</a:t>
              </a:r>
              <a:r>
                <a:rPr lang="en-US" sz="2400" b="1" dirty="0">
                  <a:solidFill>
                    <a:srgbClr val="C0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l side case I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9E1B2C1-9EB0-43FF-A57E-1E89E9B028C3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27" name="สี่เหลี่ยมผืนผ้า 33">
              <a:extLst>
                <a:ext uri="{FF2B5EF4-FFF2-40B4-BE49-F238E27FC236}">
                  <a16:creationId xmlns:a16="http://schemas.microsoft.com/office/drawing/2014/main" id="{3D209604-3C48-4B70-91BF-BDA01F177DD4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กล่องข้อความ 34">
              <a:extLst>
                <a:ext uri="{FF2B5EF4-FFF2-40B4-BE49-F238E27FC236}">
                  <a16:creationId xmlns:a16="http://schemas.microsoft.com/office/drawing/2014/main" id="{5E58F250-1150-41A2-ADFB-6E74F53BAFA7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14874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6DDC31D7-4DA3-4AF0-AAA8-43EEE79A817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275" b="26961"/>
          <a:stretch/>
        </p:blipFill>
        <p:spPr>
          <a:xfrm>
            <a:off x="568885" y="953559"/>
            <a:ext cx="3330794" cy="34906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FB17AF-314E-42D9-A41A-CBAA2786B75D}"/>
              </a:ext>
            </a:extLst>
          </p:cNvPr>
          <p:cNvSpPr txBox="1"/>
          <p:nvPr/>
        </p:nvSpPr>
        <p:spPr>
          <a:xfrm>
            <a:off x="-3" y="0"/>
            <a:ext cx="107331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Template Type 3:</a:t>
            </a:r>
            <a:r>
              <a:rPr lang="th-TH" sz="3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กล่องออโต้ล็อคแบบหูขัด : </a:t>
            </a:r>
            <a:r>
              <a:rPr lang="en-US" sz="3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Tuck Top Snap Lock Bottom (TTSLB)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F450275-4764-41FB-AF20-74E3754EC753}"/>
              </a:ext>
            </a:extLst>
          </p:cNvPr>
          <p:cNvGrpSpPr/>
          <p:nvPr/>
        </p:nvGrpSpPr>
        <p:grpSpPr>
          <a:xfrm>
            <a:off x="332607" y="1003177"/>
            <a:ext cx="400110" cy="3213716"/>
            <a:chOff x="332607" y="1003177"/>
            <a:chExt cx="400110" cy="3213716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ABF4E47-35B8-4993-BBF5-2A908137351E}"/>
                </a:ext>
              </a:extLst>
            </p:cNvPr>
            <p:cNvCxnSpPr/>
            <p:nvPr/>
          </p:nvCxnSpPr>
          <p:spPr>
            <a:xfrm>
              <a:off x="532660" y="1003177"/>
              <a:ext cx="0" cy="3213716"/>
            </a:xfrm>
            <a:prstGeom prst="straightConnector1">
              <a:avLst/>
            </a:prstGeom>
            <a:ln w="38100">
              <a:solidFill>
                <a:srgbClr val="00206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529A478-85D2-4CA5-A5E9-3BD9CA7D98D4}"/>
                </a:ext>
              </a:extLst>
            </p:cNvPr>
            <p:cNvSpPr txBox="1"/>
            <p:nvPr/>
          </p:nvSpPr>
          <p:spPr>
            <a:xfrm rot="16200000">
              <a:off x="161406" y="2295622"/>
              <a:ext cx="742511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 SIDE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86FB84B-3092-48A0-96F4-617FE9508B2C}"/>
              </a:ext>
            </a:extLst>
          </p:cNvPr>
          <p:cNvGrpSpPr/>
          <p:nvPr/>
        </p:nvGrpSpPr>
        <p:grpSpPr>
          <a:xfrm rot="5400000">
            <a:off x="2219110" y="2982634"/>
            <a:ext cx="400110" cy="3213716"/>
            <a:chOff x="347995" y="1003177"/>
            <a:chExt cx="400110" cy="3213716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0327BDC-B0E0-4081-95D9-0249B8A67A4F}"/>
                </a:ext>
              </a:extLst>
            </p:cNvPr>
            <p:cNvCxnSpPr/>
            <p:nvPr/>
          </p:nvCxnSpPr>
          <p:spPr>
            <a:xfrm>
              <a:off x="532660" y="1003177"/>
              <a:ext cx="0" cy="3213716"/>
            </a:xfrm>
            <a:prstGeom prst="straightConnector1">
              <a:avLst/>
            </a:prstGeom>
            <a:ln w="38100">
              <a:solidFill>
                <a:schemeClr val="bg2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2541832-56A3-4053-87A8-C933033B1A85}"/>
                </a:ext>
              </a:extLst>
            </p:cNvPr>
            <p:cNvSpPr txBox="1"/>
            <p:nvPr/>
          </p:nvSpPr>
          <p:spPr>
            <a:xfrm rot="16200000">
              <a:off x="209656" y="2387794"/>
              <a:ext cx="676788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L SIDE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C757515-930D-4F45-9C41-5BA49C4DF3D6}"/>
              </a:ext>
            </a:extLst>
          </p:cNvPr>
          <p:cNvSpPr txBox="1"/>
          <p:nvPr/>
        </p:nvSpPr>
        <p:spPr>
          <a:xfrm>
            <a:off x="399923" y="4833869"/>
            <a:ext cx="383470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Parameter: w, d, dust, t,</a:t>
            </a:r>
            <a:r>
              <a:rPr lang="th-TH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n, b, </a:t>
            </a:r>
            <a:r>
              <a:rPr lang="en-US" sz="2800" b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ol</a:t>
            </a:r>
            <a:endParaRPr lang="en-US" sz="28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9CB7961-B0C5-4CAA-AA89-D54E176B910B}"/>
              </a:ext>
            </a:extLst>
          </p:cNvPr>
          <p:cNvSpPr/>
          <p:nvPr/>
        </p:nvSpPr>
        <p:spPr>
          <a:xfrm>
            <a:off x="4430667" y="2803012"/>
            <a:ext cx="7730001" cy="40233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7CFCB6-60A7-4E4A-9209-90426F58A436}"/>
              </a:ext>
            </a:extLst>
          </p:cNvPr>
          <p:cNvSpPr txBox="1"/>
          <p:nvPr/>
        </p:nvSpPr>
        <p:spPr>
          <a:xfrm>
            <a:off x="6390019" y="5620594"/>
            <a:ext cx="2683095" cy="4001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* : </a:t>
            </a:r>
            <a:r>
              <a: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คูณ, 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/ :</a:t>
            </a:r>
            <a:r>
              <a: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หาร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, N:</a:t>
            </a:r>
            <a:r>
              <a: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จำนวนชิ้นงาน</a:t>
            </a:r>
            <a:endParaRPr lang="en-US" sz="2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84310DE-506F-4ED1-8DA4-5EEC3148E528}"/>
              </a:ext>
            </a:extLst>
          </p:cNvPr>
          <p:cNvGrpSpPr/>
          <p:nvPr/>
        </p:nvGrpSpPr>
        <p:grpSpPr>
          <a:xfrm>
            <a:off x="4442691" y="1225212"/>
            <a:ext cx="7289175" cy="2001057"/>
            <a:chOff x="6096000" y="1225212"/>
            <a:chExt cx="7289175" cy="200105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8F07B25-69FD-47F1-9267-6D6638CF7E33}"/>
                </a:ext>
              </a:extLst>
            </p:cNvPr>
            <p:cNvSpPr txBox="1"/>
            <p:nvPr/>
          </p:nvSpPr>
          <p:spPr>
            <a:xfrm>
              <a:off x="6096000" y="1225212"/>
              <a:ext cx="22541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Case I: </a:t>
              </a:r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align: straight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845526E-7348-426C-98DB-50B0C85B303E}"/>
                </a:ext>
              </a:extLst>
            </p:cNvPr>
            <p:cNvSpPr txBox="1"/>
            <p:nvPr/>
          </p:nvSpPr>
          <p:spPr>
            <a:xfrm>
              <a:off x="6096000" y="1902830"/>
              <a:ext cx="7289175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N=</a:t>
              </a:r>
              <a:r>
                <a:rPr lang="en-US" sz="20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1</a:t>
              </a:r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  <a:r>
                <a:rPr lang="en-US" sz="20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</a:t>
              </a:r>
              <a:r>
                <a:rPr lang="th-TH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side = </a:t>
              </a:r>
              <a:r>
                <a:rPr lang="pt-BR" sz="20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1</a:t>
              </a:r>
              <a:r>
                <a:rPr lang="pt-BR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*(ol+w/2+2*b+d)+(</a:t>
              </a:r>
              <a:r>
                <a:rPr lang="pt-BR" sz="20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1</a:t>
              </a:r>
              <a:r>
                <a:rPr lang="pt-BR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)*(w+t)+</a:t>
              </a:r>
              <a:r>
                <a:rPr lang="pt-BR" sz="20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0</a:t>
              </a:r>
              <a:r>
                <a:rPr lang="pt-BR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*dust </a:t>
              </a:r>
            </a:p>
            <a:p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N=</a:t>
              </a:r>
              <a:r>
                <a:rPr lang="en-US" sz="20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2</a:t>
              </a:r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  <a:r>
                <a:rPr lang="en-US" sz="20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</a:t>
              </a:r>
              <a:r>
                <a:rPr lang="th-TH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side = </a:t>
              </a:r>
              <a:r>
                <a:rPr lang="pt-BR" sz="20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2</a:t>
              </a:r>
              <a:r>
                <a:rPr lang="pt-BR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*(ol+w/2+2*b+d)+(</a:t>
              </a:r>
              <a:r>
                <a:rPr lang="pt-BR" sz="20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1</a:t>
              </a:r>
              <a:r>
                <a:rPr lang="pt-BR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)*(w+t)+</a:t>
              </a:r>
              <a:r>
                <a:rPr lang="pt-BR" sz="20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1</a:t>
              </a:r>
              <a:r>
                <a:rPr lang="pt-BR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*dust </a:t>
              </a:r>
            </a:p>
            <a:p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N=</a:t>
              </a:r>
              <a:r>
                <a:rPr lang="en-US" sz="20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3</a:t>
              </a:r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  <a:r>
                <a:rPr lang="en-US" sz="20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</a:t>
              </a:r>
              <a:r>
                <a:rPr lang="th-TH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side = </a:t>
              </a:r>
              <a:r>
                <a:rPr lang="pt-BR" sz="20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3</a:t>
              </a:r>
              <a:r>
                <a:rPr lang="pt-BR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*(ol+w/2+2*b+d)+(</a:t>
              </a:r>
              <a:r>
                <a:rPr lang="pt-BR" sz="20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2</a:t>
              </a:r>
              <a:r>
                <a:rPr lang="pt-BR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)*(w+t)+</a:t>
              </a:r>
              <a:r>
                <a:rPr lang="pt-BR" sz="20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1</a:t>
              </a:r>
              <a:r>
                <a:rPr lang="pt-BR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*dust </a:t>
              </a:r>
            </a:p>
            <a:p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N=</a:t>
              </a:r>
              <a:r>
                <a:rPr lang="en-US" sz="20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n</a:t>
              </a:r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  <a:r>
                <a:rPr lang="en-US" sz="20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</a:t>
              </a:r>
              <a:r>
                <a:rPr lang="th-TH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side = </a:t>
              </a:r>
              <a:r>
                <a:rPr lang="pt-BR" sz="20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n</a:t>
              </a:r>
              <a:r>
                <a:rPr lang="pt-BR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*(ol+w/2+2*b+d)+(</a:t>
              </a:r>
              <a:r>
                <a:rPr lang="pt-BR" sz="20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Math.floor(n/2)+(n%2)</a:t>
              </a:r>
              <a:r>
                <a:rPr lang="pt-BR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)*(w+t)+</a:t>
              </a:r>
              <a:r>
                <a:rPr lang="pt-BR" sz="20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Math.floor(n/2)</a:t>
              </a:r>
              <a:r>
                <a:rPr lang="pt-BR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*dust</a:t>
              </a:r>
              <a:endPara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33F92005-9E23-4C41-9C08-0B47B40C95C8}"/>
              </a:ext>
            </a:extLst>
          </p:cNvPr>
          <p:cNvSpPr/>
          <p:nvPr/>
        </p:nvSpPr>
        <p:spPr>
          <a:xfrm>
            <a:off x="4430667" y="5006800"/>
            <a:ext cx="7730001" cy="40233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05199A8-7C1D-4810-A543-922DD663A133}"/>
              </a:ext>
            </a:extLst>
          </p:cNvPr>
          <p:cNvGrpSpPr/>
          <p:nvPr/>
        </p:nvGrpSpPr>
        <p:grpSpPr>
          <a:xfrm>
            <a:off x="4442691" y="3429000"/>
            <a:ext cx="6553552" cy="2021978"/>
            <a:chOff x="6096000" y="1225212"/>
            <a:chExt cx="6553552" cy="202197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0001153-92B0-46D3-9062-59C67633151F}"/>
                </a:ext>
              </a:extLst>
            </p:cNvPr>
            <p:cNvSpPr txBox="1"/>
            <p:nvPr/>
          </p:nvSpPr>
          <p:spPr>
            <a:xfrm>
              <a:off x="6096000" y="1225212"/>
              <a:ext cx="416171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Case II: align: overlap &amp;&amp; dust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&lt;=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(</a:t>
              </a:r>
              <a:r>
                <a:rPr lang="en-US" sz="2400" b="1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w+t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)/2 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675AF58-F2D6-4954-AE32-256305C81B25}"/>
                </a:ext>
              </a:extLst>
            </p:cNvPr>
            <p:cNvSpPr txBox="1"/>
            <p:nvPr/>
          </p:nvSpPr>
          <p:spPr>
            <a:xfrm>
              <a:off x="6120200" y="1677530"/>
              <a:ext cx="6529352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1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</a:t>
              </a:r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side = </a:t>
              </a:r>
              <a:r>
                <a:rPr lang="pt-BR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1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*(ol+w/2+2*b+d)+(</a:t>
              </a:r>
              <a:r>
                <a:rPr lang="pt-BR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1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)*(w+t) </a:t>
              </a:r>
            </a:p>
            <a:p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2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</a:t>
              </a:r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side = 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2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*(ol+w/2+2*b+d)+(</a:t>
              </a:r>
              <a:r>
                <a:rPr lang="pt-BR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1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)*(w+t)</a:t>
              </a:r>
            </a:p>
            <a:p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3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</a:t>
              </a:r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side = </a:t>
              </a:r>
              <a:r>
                <a:rPr lang="pt-BR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3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*(ol+w/2+2*b+d)+(</a:t>
              </a:r>
              <a:r>
                <a:rPr lang="pt-BR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2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)*(w+t) </a:t>
              </a:r>
            </a:p>
            <a:p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n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</a:t>
              </a:r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side = </a:t>
              </a:r>
              <a:r>
                <a:rPr lang="pt-BR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n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*(ol+w/2+2*b+d)+(</a:t>
              </a:r>
              <a:r>
                <a:rPr lang="pt-BR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Math.floor(n/2)+(n%2)</a:t>
              </a:r>
              <a:r>
                <a:rPr lang="pt-BR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)*(w+t)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C09F8C20-F265-40A3-9102-24139A4DFE3B}"/>
              </a:ext>
            </a:extLst>
          </p:cNvPr>
          <p:cNvSpPr txBox="1"/>
          <p:nvPr/>
        </p:nvSpPr>
        <p:spPr>
          <a:xfrm>
            <a:off x="4026023" y="549448"/>
            <a:ext cx="1011853" cy="589002"/>
          </a:xfrm>
          <a:prstGeom prst="roundRect">
            <a:avLst>
              <a:gd name="adj" fmla="val 19734"/>
            </a:avLst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W side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7D2B851-3CB4-41CA-A952-85E9B3117224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28" name="สี่เหลี่ยมผืนผ้า 33">
              <a:extLst>
                <a:ext uri="{FF2B5EF4-FFF2-40B4-BE49-F238E27FC236}">
                  <a16:creationId xmlns:a16="http://schemas.microsoft.com/office/drawing/2014/main" id="{89E9DC8C-ED50-4BA4-8E18-651C8CEC90EF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กล่องข้อความ 34">
              <a:extLst>
                <a:ext uri="{FF2B5EF4-FFF2-40B4-BE49-F238E27FC236}">
                  <a16:creationId xmlns:a16="http://schemas.microsoft.com/office/drawing/2014/main" id="{B07A7BC1-987A-44E2-B22F-2598002BC0D3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16126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4BCD2F11-4770-4F24-85A8-6763C6D6FC6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275" b="26961"/>
          <a:stretch/>
        </p:blipFill>
        <p:spPr>
          <a:xfrm>
            <a:off x="568885" y="953559"/>
            <a:ext cx="3330794" cy="349066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7F450275-4764-41FB-AF20-74E3754EC753}"/>
              </a:ext>
            </a:extLst>
          </p:cNvPr>
          <p:cNvGrpSpPr/>
          <p:nvPr/>
        </p:nvGrpSpPr>
        <p:grpSpPr>
          <a:xfrm>
            <a:off x="332607" y="1003177"/>
            <a:ext cx="400110" cy="3213716"/>
            <a:chOff x="332607" y="1003177"/>
            <a:chExt cx="400110" cy="3213716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ABF4E47-35B8-4993-BBF5-2A908137351E}"/>
                </a:ext>
              </a:extLst>
            </p:cNvPr>
            <p:cNvCxnSpPr/>
            <p:nvPr/>
          </p:nvCxnSpPr>
          <p:spPr>
            <a:xfrm>
              <a:off x="532660" y="1003177"/>
              <a:ext cx="0" cy="3213716"/>
            </a:xfrm>
            <a:prstGeom prst="straightConnector1">
              <a:avLst/>
            </a:prstGeom>
            <a:ln w="38100">
              <a:solidFill>
                <a:srgbClr val="00206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529A478-85D2-4CA5-A5E9-3BD9CA7D98D4}"/>
                </a:ext>
              </a:extLst>
            </p:cNvPr>
            <p:cNvSpPr txBox="1"/>
            <p:nvPr/>
          </p:nvSpPr>
          <p:spPr>
            <a:xfrm rot="16200000">
              <a:off x="161406" y="2295622"/>
              <a:ext cx="742511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 SIDE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86FB84B-3092-48A0-96F4-617FE9508B2C}"/>
              </a:ext>
            </a:extLst>
          </p:cNvPr>
          <p:cNvGrpSpPr/>
          <p:nvPr/>
        </p:nvGrpSpPr>
        <p:grpSpPr>
          <a:xfrm rot="5400000">
            <a:off x="2219110" y="2982634"/>
            <a:ext cx="400110" cy="3213716"/>
            <a:chOff x="347995" y="1003177"/>
            <a:chExt cx="400110" cy="3213716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0327BDC-B0E0-4081-95D9-0249B8A67A4F}"/>
                </a:ext>
              </a:extLst>
            </p:cNvPr>
            <p:cNvCxnSpPr/>
            <p:nvPr/>
          </p:nvCxnSpPr>
          <p:spPr>
            <a:xfrm>
              <a:off x="532660" y="1003177"/>
              <a:ext cx="0" cy="3213716"/>
            </a:xfrm>
            <a:prstGeom prst="straightConnector1">
              <a:avLst/>
            </a:prstGeom>
            <a:ln w="38100">
              <a:solidFill>
                <a:schemeClr val="bg2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2541832-56A3-4053-87A8-C933033B1A85}"/>
                </a:ext>
              </a:extLst>
            </p:cNvPr>
            <p:cNvSpPr txBox="1"/>
            <p:nvPr/>
          </p:nvSpPr>
          <p:spPr>
            <a:xfrm rot="16200000">
              <a:off x="209656" y="2387794"/>
              <a:ext cx="676788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L SIDE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C757515-930D-4F45-9C41-5BA49C4DF3D6}"/>
              </a:ext>
            </a:extLst>
          </p:cNvPr>
          <p:cNvSpPr txBox="1"/>
          <p:nvPr/>
        </p:nvSpPr>
        <p:spPr>
          <a:xfrm>
            <a:off x="399923" y="4833869"/>
            <a:ext cx="383470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Parameter: w, d, dust, t,</a:t>
            </a:r>
            <a:r>
              <a:rPr lang="th-TH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n, b, </a:t>
            </a:r>
            <a:r>
              <a:rPr lang="en-US" sz="2800" b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ol</a:t>
            </a:r>
            <a:endParaRPr lang="en-US" sz="28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B74323-591E-4C02-A13A-74FCEFF7501E}"/>
              </a:ext>
            </a:extLst>
          </p:cNvPr>
          <p:cNvSpPr txBox="1"/>
          <p:nvPr/>
        </p:nvSpPr>
        <p:spPr>
          <a:xfrm>
            <a:off x="4026023" y="549448"/>
            <a:ext cx="1011853" cy="589002"/>
          </a:xfrm>
          <a:prstGeom prst="roundRect">
            <a:avLst>
              <a:gd name="adj" fmla="val 19734"/>
            </a:avLst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W side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7CFCB6-60A7-4E4A-9209-90426F58A436}"/>
              </a:ext>
            </a:extLst>
          </p:cNvPr>
          <p:cNvSpPr txBox="1"/>
          <p:nvPr/>
        </p:nvSpPr>
        <p:spPr>
          <a:xfrm>
            <a:off x="6071801" y="3209448"/>
            <a:ext cx="2683095" cy="4001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* : </a:t>
            </a:r>
            <a:r>
              <a: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คูณ, 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/ :</a:t>
            </a:r>
            <a:r>
              <a: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หาร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, N:</a:t>
            </a:r>
            <a:r>
              <a: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จำนวนชิ้นงาน</a:t>
            </a:r>
            <a:endParaRPr lang="en-US" sz="2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F6A963-738E-429F-B6F9-712F7E0D8C46}"/>
              </a:ext>
            </a:extLst>
          </p:cNvPr>
          <p:cNvSpPr txBox="1"/>
          <p:nvPr/>
        </p:nvSpPr>
        <p:spPr>
          <a:xfrm>
            <a:off x="-3" y="0"/>
            <a:ext cx="107331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Template Type 3:</a:t>
            </a:r>
            <a:r>
              <a:rPr lang="th-TH" sz="3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กล่องออโต้ล็อคแบบหูขัด : </a:t>
            </a:r>
            <a:r>
              <a:rPr lang="en-US" sz="3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Tuck Top Snap Lock Bottom (TTSLB)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AFEF94E-B6AE-4F46-A665-941AAC73B64B}"/>
              </a:ext>
            </a:extLst>
          </p:cNvPr>
          <p:cNvSpPr/>
          <p:nvPr/>
        </p:nvSpPr>
        <p:spPr>
          <a:xfrm>
            <a:off x="3811280" y="2598297"/>
            <a:ext cx="7902431" cy="40233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0EFBD02-71F3-4384-AEEE-1BB3885BAC8B}"/>
              </a:ext>
            </a:extLst>
          </p:cNvPr>
          <p:cNvGrpSpPr/>
          <p:nvPr/>
        </p:nvGrpSpPr>
        <p:grpSpPr>
          <a:xfrm>
            <a:off x="3847504" y="1303100"/>
            <a:ext cx="8085438" cy="1703876"/>
            <a:chOff x="6096000" y="1225212"/>
            <a:chExt cx="9997385" cy="1703876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BE2F7A6-A453-462C-A70E-23CD1743471C}"/>
                </a:ext>
              </a:extLst>
            </p:cNvPr>
            <p:cNvSpPr txBox="1"/>
            <p:nvPr/>
          </p:nvSpPr>
          <p:spPr>
            <a:xfrm>
              <a:off x="6096000" y="1225212"/>
              <a:ext cx="408316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Case III: align: overlap &amp;&amp; dust</a:t>
              </a:r>
              <a:r>
                <a:rPr lang="en-US" sz="24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&gt;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(</a:t>
              </a:r>
              <a:r>
                <a:rPr lang="en-US" sz="2400" b="1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w+t</a:t>
              </a:r>
              <a:r>
                <a: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)/2 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B616D68-20B7-4A1E-B03A-A363BA1F3B88}"/>
                </a:ext>
              </a:extLst>
            </p:cNvPr>
            <p:cNvSpPr txBox="1"/>
            <p:nvPr/>
          </p:nvSpPr>
          <p:spPr>
            <a:xfrm>
              <a:off x="6096000" y="1605649"/>
              <a:ext cx="9997385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N=</a:t>
              </a:r>
              <a:r>
                <a:rPr lang="en-US" sz="20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1</a:t>
              </a:r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  <a:r>
                <a:rPr lang="en-US" sz="20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</a:t>
              </a:r>
              <a:r>
                <a:rPr lang="th-TH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side = </a:t>
              </a:r>
              <a:r>
                <a:rPr lang="pt-BR" sz="20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1</a:t>
              </a:r>
              <a:r>
                <a:rPr lang="pt-BR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*(ol+w/2+2*b+d)+(</a:t>
              </a:r>
              <a:r>
                <a:rPr lang="pt-BR" sz="20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1</a:t>
              </a:r>
              <a:r>
                <a:rPr lang="pt-BR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)*(w+t)+</a:t>
              </a:r>
              <a:r>
                <a:rPr lang="pt-BR" sz="20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0</a:t>
              </a:r>
              <a:r>
                <a:rPr lang="pt-BR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*(2*dust-w-t) </a:t>
              </a:r>
            </a:p>
            <a:p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N=</a:t>
              </a:r>
              <a:r>
                <a:rPr lang="en-US" sz="20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2</a:t>
              </a:r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  <a:r>
                <a:rPr lang="en-US" sz="20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</a:t>
              </a:r>
              <a:r>
                <a:rPr lang="th-TH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side = </a:t>
              </a:r>
              <a:r>
                <a:rPr lang="pt-BR" sz="20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2</a:t>
              </a:r>
              <a:r>
                <a:rPr lang="pt-BR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*(ol+w/2+2*b+d)+(</a:t>
              </a:r>
              <a:r>
                <a:rPr lang="pt-BR" sz="20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1</a:t>
              </a:r>
              <a:r>
                <a:rPr lang="pt-BR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)*(w+t)+</a:t>
              </a:r>
              <a:r>
                <a:rPr lang="pt-BR" sz="20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1</a:t>
              </a:r>
              <a:r>
                <a:rPr lang="pt-BR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*(2*dust-w-t)</a:t>
              </a:r>
            </a:p>
            <a:p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N=</a:t>
              </a:r>
              <a:r>
                <a:rPr lang="en-US" sz="20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3</a:t>
              </a:r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  <a:r>
                <a:rPr lang="en-US" sz="20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</a:t>
              </a:r>
              <a:r>
                <a:rPr lang="th-TH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side = </a:t>
              </a:r>
              <a:r>
                <a:rPr lang="pt-BR" sz="20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3</a:t>
              </a:r>
              <a:r>
                <a:rPr lang="pt-BR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*(ol+w/2+2*b+d)+(</a:t>
              </a:r>
              <a:r>
                <a:rPr lang="pt-BR" sz="20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2</a:t>
              </a:r>
              <a:r>
                <a:rPr lang="pt-BR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)*(w+t)+</a:t>
              </a:r>
              <a:r>
                <a:rPr lang="pt-BR" sz="20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1</a:t>
              </a:r>
              <a:r>
                <a:rPr lang="pt-BR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*(2*dust-w-t)</a:t>
              </a:r>
            </a:p>
            <a:p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N=</a:t>
              </a:r>
              <a:r>
                <a:rPr lang="en-US" sz="20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n</a:t>
              </a:r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</a:t>
              </a:r>
              <a:r>
                <a:rPr lang="en-US" sz="20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</a:t>
              </a:r>
              <a:r>
                <a:rPr lang="th-TH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side = </a:t>
              </a:r>
              <a:r>
                <a:rPr lang="pt-BR" sz="20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n</a:t>
              </a:r>
              <a:r>
                <a:rPr lang="pt-BR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*(ol+w/2+2*b+d)+(</a:t>
              </a:r>
              <a:r>
                <a:rPr lang="pt-BR" sz="20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Math.floor(n/2)+(n%2)</a:t>
              </a:r>
              <a:r>
                <a:rPr lang="pt-BR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)*(w+t)+</a:t>
              </a:r>
              <a:r>
                <a:rPr lang="pt-BR" sz="20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Math.floor(n/2)</a:t>
              </a:r>
              <a:r>
                <a:rPr lang="pt-BR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*(2*dust-w-t)</a:t>
              </a:r>
              <a:endPara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029B1AA-E853-4822-ADF0-B3C34A2B4D6A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25" name="สี่เหลี่ยมผืนผ้า 33">
              <a:extLst>
                <a:ext uri="{FF2B5EF4-FFF2-40B4-BE49-F238E27FC236}">
                  <a16:creationId xmlns:a16="http://schemas.microsoft.com/office/drawing/2014/main" id="{3FCC59C4-8CB5-44FC-A935-4AD5EF71B894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กล่องข้อความ 34">
              <a:extLst>
                <a:ext uri="{FF2B5EF4-FFF2-40B4-BE49-F238E27FC236}">
                  <a16:creationId xmlns:a16="http://schemas.microsoft.com/office/drawing/2014/main" id="{9F440A6A-FA05-49DC-AA1D-2ED8D18925AA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0252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B87B9308-EB3F-408D-B8FC-636DB281836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275" b="26961"/>
          <a:stretch/>
        </p:blipFill>
        <p:spPr>
          <a:xfrm>
            <a:off x="568885" y="953559"/>
            <a:ext cx="3330794" cy="349066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86F206AE-852C-4AD8-ACEF-136321E51E70}"/>
              </a:ext>
            </a:extLst>
          </p:cNvPr>
          <p:cNvSpPr/>
          <p:nvPr/>
        </p:nvSpPr>
        <p:spPr>
          <a:xfrm>
            <a:off x="5839440" y="4990260"/>
            <a:ext cx="5634189" cy="46071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F450275-4764-41FB-AF20-74E3754EC753}"/>
              </a:ext>
            </a:extLst>
          </p:cNvPr>
          <p:cNvGrpSpPr/>
          <p:nvPr/>
        </p:nvGrpSpPr>
        <p:grpSpPr>
          <a:xfrm>
            <a:off x="332607" y="1003177"/>
            <a:ext cx="400110" cy="3213716"/>
            <a:chOff x="332607" y="1003177"/>
            <a:chExt cx="400110" cy="3213716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ABF4E47-35B8-4993-BBF5-2A908137351E}"/>
                </a:ext>
              </a:extLst>
            </p:cNvPr>
            <p:cNvCxnSpPr/>
            <p:nvPr/>
          </p:nvCxnSpPr>
          <p:spPr>
            <a:xfrm>
              <a:off x="532660" y="1003177"/>
              <a:ext cx="0" cy="3213716"/>
            </a:xfrm>
            <a:prstGeom prst="straightConnector1">
              <a:avLst/>
            </a:prstGeom>
            <a:ln w="38100">
              <a:solidFill>
                <a:schemeClr val="bg2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529A478-85D2-4CA5-A5E9-3BD9CA7D98D4}"/>
                </a:ext>
              </a:extLst>
            </p:cNvPr>
            <p:cNvSpPr txBox="1"/>
            <p:nvPr/>
          </p:nvSpPr>
          <p:spPr>
            <a:xfrm rot="16200000">
              <a:off x="135758" y="2295622"/>
              <a:ext cx="793807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 SIDE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86FB84B-3092-48A0-96F4-617FE9508B2C}"/>
              </a:ext>
            </a:extLst>
          </p:cNvPr>
          <p:cNvGrpSpPr/>
          <p:nvPr/>
        </p:nvGrpSpPr>
        <p:grpSpPr>
          <a:xfrm rot="5400000">
            <a:off x="2219110" y="2982634"/>
            <a:ext cx="400110" cy="3213716"/>
            <a:chOff x="347995" y="1003177"/>
            <a:chExt cx="400110" cy="3213716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0327BDC-B0E0-4081-95D9-0249B8A67A4F}"/>
                </a:ext>
              </a:extLst>
            </p:cNvPr>
            <p:cNvCxnSpPr/>
            <p:nvPr/>
          </p:nvCxnSpPr>
          <p:spPr>
            <a:xfrm>
              <a:off x="532660" y="1003177"/>
              <a:ext cx="0" cy="3213716"/>
            </a:xfrm>
            <a:prstGeom prst="straightConnector1">
              <a:avLst/>
            </a:prstGeom>
            <a:ln w="38100">
              <a:solidFill>
                <a:srgbClr val="00206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2541832-56A3-4053-87A8-C933033B1A85}"/>
                </a:ext>
              </a:extLst>
            </p:cNvPr>
            <p:cNvSpPr txBox="1"/>
            <p:nvPr/>
          </p:nvSpPr>
          <p:spPr>
            <a:xfrm rot="16200000">
              <a:off x="184008" y="2362146"/>
              <a:ext cx="728084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 SIDE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C757515-930D-4F45-9C41-5BA49C4DF3D6}"/>
              </a:ext>
            </a:extLst>
          </p:cNvPr>
          <p:cNvSpPr txBox="1"/>
          <p:nvPr/>
        </p:nvSpPr>
        <p:spPr>
          <a:xfrm>
            <a:off x="399923" y="4833869"/>
            <a:ext cx="2632452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Parameter: w, l, b, n, 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CECA9A-4BE1-45D4-8B3A-20152D984830}"/>
              </a:ext>
            </a:extLst>
          </p:cNvPr>
          <p:cNvSpPr/>
          <p:nvPr/>
        </p:nvSpPr>
        <p:spPr>
          <a:xfrm>
            <a:off x="5839440" y="2786472"/>
            <a:ext cx="5634189" cy="46071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B74323-591E-4C02-A13A-74FCEFF7501E}"/>
              </a:ext>
            </a:extLst>
          </p:cNvPr>
          <p:cNvSpPr txBox="1"/>
          <p:nvPr/>
        </p:nvSpPr>
        <p:spPr>
          <a:xfrm>
            <a:off x="5733734" y="584775"/>
            <a:ext cx="893218" cy="589002"/>
          </a:xfrm>
          <a:prstGeom prst="roundRect">
            <a:avLst>
              <a:gd name="adj" fmla="val 19734"/>
            </a:avLst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L side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7CFCB6-60A7-4E4A-9209-90426F58A436}"/>
              </a:ext>
            </a:extLst>
          </p:cNvPr>
          <p:cNvSpPr txBox="1"/>
          <p:nvPr/>
        </p:nvSpPr>
        <p:spPr>
          <a:xfrm>
            <a:off x="7192852" y="5885051"/>
            <a:ext cx="2683095" cy="4001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* : 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คูณ, </a:t>
            </a:r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/ :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หาร</a:t>
            </a:r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, N: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จำนวนชิ้นงาน</a:t>
            </a:r>
            <a:endParaRPr lang="en-US" sz="20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84310DE-506F-4ED1-8DA4-5EEC3148E528}"/>
              </a:ext>
            </a:extLst>
          </p:cNvPr>
          <p:cNvGrpSpPr/>
          <p:nvPr/>
        </p:nvGrpSpPr>
        <p:grpSpPr>
          <a:xfrm>
            <a:off x="6096000" y="1225212"/>
            <a:ext cx="3434916" cy="2021978"/>
            <a:chOff x="6096000" y="1225212"/>
            <a:chExt cx="3434916" cy="202197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8F07B25-69FD-47F1-9267-6D6638CF7E33}"/>
                </a:ext>
              </a:extLst>
            </p:cNvPr>
            <p:cNvSpPr txBox="1"/>
            <p:nvPr/>
          </p:nvSpPr>
          <p:spPr>
            <a:xfrm>
              <a:off x="6096000" y="1225212"/>
              <a:ext cx="21779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Case I: align: straight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845526E-7348-426C-98DB-50B0C85B303E}"/>
                </a:ext>
              </a:extLst>
            </p:cNvPr>
            <p:cNvSpPr txBox="1"/>
            <p:nvPr/>
          </p:nvSpPr>
          <p:spPr>
            <a:xfrm>
              <a:off x="6520155" y="1677530"/>
              <a:ext cx="3010761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*(2*(w+l+b)+g) </a:t>
              </a:r>
              <a:endParaRPr lang="en-US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2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2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*(2*(w+l+b)+g) </a:t>
              </a:r>
              <a:endParaRPr lang="en-US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3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3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*(2*(w+l+b)+g) </a:t>
              </a:r>
              <a:endParaRPr lang="en-US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n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pl-PL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n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*(2*(w+l+b)+g)</a:t>
              </a:r>
              <a:endParaRPr lang="en-US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F9964CD-4B26-43D8-BF98-6AD4163C2A50}"/>
              </a:ext>
            </a:extLst>
          </p:cNvPr>
          <p:cNvGrpSpPr/>
          <p:nvPr/>
        </p:nvGrpSpPr>
        <p:grpSpPr>
          <a:xfrm>
            <a:off x="6096000" y="3429000"/>
            <a:ext cx="4876800" cy="2483643"/>
            <a:chOff x="6096000" y="1225212"/>
            <a:chExt cx="4876800" cy="2483643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1DF4617-A6C3-4EF0-81CF-287B1D1ED67F}"/>
                </a:ext>
              </a:extLst>
            </p:cNvPr>
            <p:cNvSpPr txBox="1"/>
            <p:nvPr/>
          </p:nvSpPr>
          <p:spPr>
            <a:xfrm>
              <a:off x="6096000" y="1225212"/>
              <a:ext cx="21779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Case II: align: overlap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29E04E7-7CA4-40B7-9CF0-3C3382791FA7}"/>
                </a:ext>
              </a:extLst>
            </p:cNvPr>
            <p:cNvSpPr txBox="1"/>
            <p:nvPr/>
          </p:nvSpPr>
          <p:spPr>
            <a:xfrm>
              <a:off x="6520155" y="1677530"/>
              <a:ext cx="3956532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2*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*(l+b)+(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3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)*w+(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0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)*g</a:t>
              </a:r>
              <a:endParaRPr lang="en-US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2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2*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2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*(l+b)+(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5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)*w+(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)*g</a:t>
              </a:r>
              <a:endParaRPr lang="en-US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3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2*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3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*(l+b)+(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7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)*w+(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2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)*g</a:t>
              </a:r>
              <a:endParaRPr lang="en-US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n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2*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n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*(l+b)+(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2*n+1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)*w+(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n-1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)*g</a:t>
              </a:r>
              <a:endParaRPr lang="en-US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D69D7A3-5833-4EB8-9880-857259978FDE}"/>
                </a:ext>
              </a:extLst>
            </p:cNvPr>
            <p:cNvSpPr txBox="1"/>
            <p:nvPr/>
          </p:nvSpPr>
          <p:spPr>
            <a:xfrm>
              <a:off x="6096000" y="3247190"/>
              <a:ext cx="4876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C0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**Remark: </a:t>
              </a:r>
              <a:r>
                <a:rPr lang="th-TH" sz="2400" b="1" dirty="0">
                  <a:solidFill>
                    <a:srgbClr val="C0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ถ้า</a:t>
              </a:r>
              <a:r>
                <a:rPr lang="en-US" sz="2400" b="1" dirty="0">
                  <a:solidFill>
                    <a:srgbClr val="C0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w side -&gt; n=1 </a:t>
              </a:r>
              <a:r>
                <a:rPr lang="th-TH" sz="2400" b="1" dirty="0">
                  <a:solidFill>
                    <a:srgbClr val="C0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ให้ใช้</a:t>
              </a:r>
              <a:r>
                <a:rPr lang="en-US" sz="2400" b="1" dirty="0">
                  <a:solidFill>
                    <a:srgbClr val="C0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l side case I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B1B12397-E6E2-442C-A5AC-553DB7C316FF}"/>
              </a:ext>
            </a:extLst>
          </p:cNvPr>
          <p:cNvSpPr txBox="1"/>
          <p:nvPr/>
        </p:nvSpPr>
        <p:spPr>
          <a:xfrm>
            <a:off x="-3" y="0"/>
            <a:ext cx="107331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Template Type 3:</a:t>
            </a:r>
            <a:r>
              <a:rPr lang="th-TH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กล่องออโต้ล็อคแบบหูขัด : </a:t>
            </a:r>
            <a:r>
              <a:rPr lang="en-US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Tuck Top Snap Lock Bottom (TTSLB)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7BF9A6B-803E-4E5C-B478-362850A81817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29" name="สี่เหลี่ยมผืนผ้า 33">
              <a:extLst>
                <a:ext uri="{FF2B5EF4-FFF2-40B4-BE49-F238E27FC236}">
                  <a16:creationId xmlns:a16="http://schemas.microsoft.com/office/drawing/2014/main" id="{6D30BD1D-8EBE-41D4-8E1F-DD887E2BCEF3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กล่องข้อความ 34">
              <a:extLst>
                <a:ext uri="{FF2B5EF4-FFF2-40B4-BE49-F238E27FC236}">
                  <a16:creationId xmlns:a16="http://schemas.microsoft.com/office/drawing/2014/main" id="{56E9FD4E-27AD-4889-9839-B3DC5152CCEC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515211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FB17AF-314E-42D9-A41A-CBAA2786B75D}"/>
              </a:ext>
            </a:extLst>
          </p:cNvPr>
          <p:cNvSpPr txBox="1"/>
          <p:nvPr/>
        </p:nvSpPr>
        <p:spPr>
          <a:xfrm>
            <a:off x="-3" y="0"/>
            <a:ext cx="107331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Template Type 4:</a:t>
            </a:r>
            <a:r>
              <a:rPr lang="th-TH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กล่องออโต้ล็อคแบบทากาว :  </a:t>
            </a:r>
            <a:r>
              <a:rPr lang="en-US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Tuck Top Auto Bottom (TTAB)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F450275-4764-41FB-AF20-74E3754EC753}"/>
              </a:ext>
            </a:extLst>
          </p:cNvPr>
          <p:cNvGrpSpPr/>
          <p:nvPr/>
        </p:nvGrpSpPr>
        <p:grpSpPr>
          <a:xfrm>
            <a:off x="332607" y="1003177"/>
            <a:ext cx="400110" cy="3213716"/>
            <a:chOff x="332607" y="1003177"/>
            <a:chExt cx="400110" cy="3213716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ABF4E47-35B8-4993-BBF5-2A908137351E}"/>
                </a:ext>
              </a:extLst>
            </p:cNvPr>
            <p:cNvCxnSpPr/>
            <p:nvPr/>
          </p:nvCxnSpPr>
          <p:spPr>
            <a:xfrm>
              <a:off x="532660" y="1003177"/>
              <a:ext cx="0" cy="3213716"/>
            </a:xfrm>
            <a:prstGeom prst="straightConnector1">
              <a:avLst/>
            </a:prstGeom>
            <a:ln w="38100">
              <a:solidFill>
                <a:srgbClr val="00206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529A478-85D2-4CA5-A5E9-3BD9CA7D98D4}"/>
                </a:ext>
              </a:extLst>
            </p:cNvPr>
            <p:cNvSpPr txBox="1"/>
            <p:nvPr/>
          </p:nvSpPr>
          <p:spPr>
            <a:xfrm rot="16200000">
              <a:off x="135758" y="2295622"/>
              <a:ext cx="793807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 SIDE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86FB84B-3092-48A0-96F4-617FE9508B2C}"/>
              </a:ext>
            </a:extLst>
          </p:cNvPr>
          <p:cNvGrpSpPr/>
          <p:nvPr/>
        </p:nvGrpSpPr>
        <p:grpSpPr>
          <a:xfrm rot="5400000">
            <a:off x="2219110" y="2982634"/>
            <a:ext cx="400110" cy="3213716"/>
            <a:chOff x="347995" y="1003177"/>
            <a:chExt cx="400110" cy="3213716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0327BDC-B0E0-4081-95D9-0249B8A67A4F}"/>
                </a:ext>
              </a:extLst>
            </p:cNvPr>
            <p:cNvCxnSpPr/>
            <p:nvPr/>
          </p:nvCxnSpPr>
          <p:spPr>
            <a:xfrm>
              <a:off x="532660" y="1003177"/>
              <a:ext cx="0" cy="3213716"/>
            </a:xfrm>
            <a:prstGeom prst="straightConnector1">
              <a:avLst/>
            </a:prstGeom>
            <a:ln w="38100">
              <a:solidFill>
                <a:schemeClr val="bg2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2541832-56A3-4053-87A8-C933033B1A85}"/>
                </a:ext>
              </a:extLst>
            </p:cNvPr>
            <p:cNvSpPr txBox="1"/>
            <p:nvPr/>
          </p:nvSpPr>
          <p:spPr>
            <a:xfrm rot="16200000">
              <a:off x="184008" y="2362146"/>
              <a:ext cx="728084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 SIDE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C757515-930D-4F45-9C41-5BA49C4DF3D6}"/>
              </a:ext>
            </a:extLst>
          </p:cNvPr>
          <p:cNvSpPr txBox="1"/>
          <p:nvPr/>
        </p:nvSpPr>
        <p:spPr>
          <a:xfrm>
            <a:off x="399923" y="4833869"/>
            <a:ext cx="3567002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Parameter: w, d, dust, t,</a:t>
            </a:r>
            <a:r>
              <a:rPr lang="th-TH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n, b, </a:t>
            </a:r>
            <a:r>
              <a:rPr lang="en-US" sz="2800" b="1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ol</a:t>
            </a:r>
            <a:endParaRPr lang="en-US" sz="28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9CB7961-B0C5-4CAA-AA89-D54E176B910B}"/>
              </a:ext>
            </a:extLst>
          </p:cNvPr>
          <p:cNvSpPr/>
          <p:nvPr/>
        </p:nvSpPr>
        <p:spPr>
          <a:xfrm>
            <a:off x="4430667" y="2803012"/>
            <a:ext cx="7730001" cy="40233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7CFCB6-60A7-4E4A-9209-90426F58A436}"/>
              </a:ext>
            </a:extLst>
          </p:cNvPr>
          <p:cNvSpPr txBox="1"/>
          <p:nvPr/>
        </p:nvSpPr>
        <p:spPr>
          <a:xfrm>
            <a:off x="6387294" y="5632788"/>
            <a:ext cx="2683095" cy="4001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* : 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คูณ, </a:t>
            </a:r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/ :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หาร</a:t>
            </a:r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, N: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จำนวนชิ้นงาน</a:t>
            </a:r>
            <a:endParaRPr lang="en-US" sz="20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84310DE-506F-4ED1-8DA4-5EEC3148E528}"/>
              </a:ext>
            </a:extLst>
          </p:cNvPr>
          <p:cNvGrpSpPr/>
          <p:nvPr/>
        </p:nvGrpSpPr>
        <p:grpSpPr>
          <a:xfrm>
            <a:off x="4442691" y="1225212"/>
            <a:ext cx="7823130" cy="2021978"/>
            <a:chOff x="6096000" y="1225212"/>
            <a:chExt cx="7823130" cy="202197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8F07B25-69FD-47F1-9267-6D6638CF7E33}"/>
                </a:ext>
              </a:extLst>
            </p:cNvPr>
            <p:cNvSpPr txBox="1"/>
            <p:nvPr/>
          </p:nvSpPr>
          <p:spPr>
            <a:xfrm>
              <a:off x="6096000" y="1225212"/>
              <a:ext cx="21884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Case I: 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align: straight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845526E-7348-426C-98DB-50B0C85B303E}"/>
                </a:ext>
              </a:extLst>
            </p:cNvPr>
            <p:cNvSpPr txBox="1"/>
            <p:nvPr/>
          </p:nvSpPr>
          <p:spPr>
            <a:xfrm>
              <a:off x="6120200" y="1677530"/>
              <a:ext cx="7798930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*(ol+w/2+2*b+d)+(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)*(w+t)+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0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*dust </a:t>
              </a: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2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2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*(ol+w/2+2*b+d)+(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)*(w+t)+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*dust </a:t>
              </a: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3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3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*(ol+w/2+2*b+d)+(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2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)*(w+t)+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*dust </a:t>
              </a: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n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n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*(ol+w/2+2*b+d)+(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Math.floor(n/2)+(n%2)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)*(w+t)+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Math.floor(n/2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)*dust</a:t>
              </a:r>
              <a:endParaRPr lang="en-US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33F92005-9E23-4C41-9C08-0B47B40C95C8}"/>
              </a:ext>
            </a:extLst>
          </p:cNvPr>
          <p:cNvSpPr/>
          <p:nvPr/>
        </p:nvSpPr>
        <p:spPr>
          <a:xfrm>
            <a:off x="4430667" y="5006800"/>
            <a:ext cx="7730001" cy="40233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05199A8-7C1D-4810-A543-922DD663A133}"/>
              </a:ext>
            </a:extLst>
          </p:cNvPr>
          <p:cNvGrpSpPr/>
          <p:nvPr/>
        </p:nvGrpSpPr>
        <p:grpSpPr>
          <a:xfrm>
            <a:off x="4442691" y="3429000"/>
            <a:ext cx="5933190" cy="2021978"/>
            <a:chOff x="6096000" y="1225212"/>
            <a:chExt cx="5933190" cy="202197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0001153-92B0-46D3-9062-59C67633151F}"/>
                </a:ext>
              </a:extLst>
            </p:cNvPr>
            <p:cNvSpPr txBox="1"/>
            <p:nvPr/>
          </p:nvSpPr>
          <p:spPr>
            <a:xfrm>
              <a:off x="6096000" y="1225212"/>
              <a:ext cx="38892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Case II: align: overlap &amp;&amp; dust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&lt;=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(</a:t>
              </a:r>
              <a:r>
                <a:rPr lang="en-US" sz="2400" b="1" dirty="0" err="1">
                  <a:latin typeface="Cordia New" panose="020B0304020202020204" pitchFamily="34" charset="-34"/>
                  <a:cs typeface="Cordia New" panose="020B0304020202020204" pitchFamily="34" charset="-34"/>
                </a:rPr>
                <a:t>w+t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)/2 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675AF58-F2D6-4954-AE32-256305C81B25}"/>
                </a:ext>
              </a:extLst>
            </p:cNvPr>
            <p:cNvSpPr txBox="1"/>
            <p:nvPr/>
          </p:nvSpPr>
          <p:spPr>
            <a:xfrm>
              <a:off x="6120200" y="1677530"/>
              <a:ext cx="5908990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*(ol+w/2+2*b+d)+(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)*(w+t) </a:t>
              </a: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2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2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*(ol+w/2+2*b+d)+(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)*(w+t)</a:t>
              </a: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3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3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*(ol+w/2+2*b+d)+(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2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)*(w+t) </a:t>
              </a: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n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n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*(ol+w/2+2*b+d)+(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Math.floor(n/2)+(n%2)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)*(w+t)</a:t>
              </a:r>
              <a:endParaRPr lang="en-US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9247DF9F-6AD2-458A-B984-66C0F882C0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509" b="24501"/>
          <a:stretch/>
        </p:blipFill>
        <p:spPr>
          <a:xfrm>
            <a:off x="688332" y="774280"/>
            <a:ext cx="3461665" cy="370749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F5F6BE0-007D-4EC0-B1EE-4905BD72A2E9}"/>
              </a:ext>
            </a:extLst>
          </p:cNvPr>
          <p:cNvSpPr txBox="1"/>
          <p:nvPr/>
        </p:nvSpPr>
        <p:spPr>
          <a:xfrm>
            <a:off x="4026023" y="549448"/>
            <a:ext cx="973856" cy="578882"/>
          </a:xfrm>
          <a:prstGeom prst="roundRect">
            <a:avLst>
              <a:gd name="adj" fmla="val 19734"/>
            </a:avLst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W side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32109DB-3017-4EFF-BB3B-0416E71B27C8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26" name="สี่เหลี่ยมผืนผ้า 33">
              <a:extLst>
                <a:ext uri="{FF2B5EF4-FFF2-40B4-BE49-F238E27FC236}">
                  <a16:creationId xmlns:a16="http://schemas.microsoft.com/office/drawing/2014/main" id="{8685F212-EBA5-48C5-9EF0-DCFF76A1F5EE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กล่องข้อความ 34">
              <a:extLst>
                <a:ext uri="{FF2B5EF4-FFF2-40B4-BE49-F238E27FC236}">
                  <a16:creationId xmlns:a16="http://schemas.microsoft.com/office/drawing/2014/main" id="{CDA53519-CFD7-442F-8000-598FAF49E7C7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01423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E15363EE-F496-412E-AC02-0882257F90C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509" b="24501"/>
          <a:stretch/>
        </p:blipFill>
        <p:spPr>
          <a:xfrm>
            <a:off x="688332" y="774280"/>
            <a:ext cx="3461665" cy="370749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7F450275-4764-41FB-AF20-74E3754EC753}"/>
              </a:ext>
            </a:extLst>
          </p:cNvPr>
          <p:cNvGrpSpPr/>
          <p:nvPr/>
        </p:nvGrpSpPr>
        <p:grpSpPr>
          <a:xfrm>
            <a:off x="332607" y="1003177"/>
            <a:ext cx="400110" cy="3213716"/>
            <a:chOff x="332607" y="1003177"/>
            <a:chExt cx="400110" cy="3213716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ABF4E47-35B8-4993-BBF5-2A908137351E}"/>
                </a:ext>
              </a:extLst>
            </p:cNvPr>
            <p:cNvCxnSpPr/>
            <p:nvPr/>
          </p:nvCxnSpPr>
          <p:spPr>
            <a:xfrm>
              <a:off x="532660" y="1003177"/>
              <a:ext cx="0" cy="3213716"/>
            </a:xfrm>
            <a:prstGeom prst="straightConnector1">
              <a:avLst/>
            </a:prstGeom>
            <a:ln w="38100">
              <a:solidFill>
                <a:srgbClr val="00206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529A478-85D2-4CA5-A5E9-3BD9CA7D98D4}"/>
                </a:ext>
              </a:extLst>
            </p:cNvPr>
            <p:cNvSpPr txBox="1"/>
            <p:nvPr/>
          </p:nvSpPr>
          <p:spPr>
            <a:xfrm rot="16200000">
              <a:off x="135758" y="2295622"/>
              <a:ext cx="793807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 SIDE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86FB84B-3092-48A0-96F4-617FE9508B2C}"/>
              </a:ext>
            </a:extLst>
          </p:cNvPr>
          <p:cNvGrpSpPr/>
          <p:nvPr/>
        </p:nvGrpSpPr>
        <p:grpSpPr>
          <a:xfrm rot="5400000">
            <a:off x="2219110" y="2982634"/>
            <a:ext cx="400110" cy="3213716"/>
            <a:chOff x="347995" y="1003177"/>
            <a:chExt cx="400110" cy="3213716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0327BDC-B0E0-4081-95D9-0249B8A67A4F}"/>
                </a:ext>
              </a:extLst>
            </p:cNvPr>
            <p:cNvCxnSpPr/>
            <p:nvPr/>
          </p:nvCxnSpPr>
          <p:spPr>
            <a:xfrm>
              <a:off x="532660" y="1003177"/>
              <a:ext cx="0" cy="3213716"/>
            </a:xfrm>
            <a:prstGeom prst="straightConnector1">
              <a:avLst/>
            </a:prstGeom>
            <a:ln w="38100">
              <a:solidFill>
                <a:schemeClr val="bg2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2541832-56A3-4053-87A8-C933033B1A85}"/>
                </a:ext>
              </a:extLst>
            </p:cNvPr>
            <p:cNvSpPr txBox="1"/>
            <p:nvPr/>
          </p:nvSpPr>
          <p:spPr>
            <a:xfrm rot="16200000">
              <a:off x="184008" y="2362146"/>
              <a:ext cx="728084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 SIDE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C757515-930D-4F45-9C41-5BA49C4DF3D6}"/>
              </a:ext>
            </a:extLst>
          </p:cNvPr>
          <p:cNvSpPr txBox="1"/>
          <p:nvPr/>
        </p:nvSpPr>
        <p:spPr>
          <a:xfrm>
            <a:off x="399923" y="4833869"/>
            <a:ext cx="3567002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Parameter: w, d, dust, t,</a:t>
            </a:r>
            <a:r>
              <a:rPr lang="th-TH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n, b, </a:t>
            </a:r>
            <a:r>
              <a:rPr lang="en-US" sz="2800" b="1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ol</a:t>
            </a:r>
            <a:endParaRPr lang="en-US" sz="28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B74323-591E-4C02-A13A-74FCEFF7501E}"/>
              </a:ext>
            </a:extLst>
          </p:cNvPr>
          <p:cNvSpPr txBox="1"/>
          <p:nvPr/>
        </p:nvSpPr>
        <p:spPr>
          <a:xfrm>
            <a:off x="4026023" y="549448"/>
            <a:ext cx="973856" cy="578882"/>
          </a:xfrm>
          <a:prstGeom prst="roundRect">
            <a:avLst>
              <a:gd name="adj" fmla="val 19734"/>
            </a:avLst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W side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7CFCB6-60A7-4E4A-9209-90426F58A436}"/>
              </a:ext>
            </a:extLst>
          </p:cNvPr>
          <p:cNvSpPr txBox="1"/>
          <p:nvPr/>
        </p:nvSpPr>
        <p:spPr>
          <a:xfrm>
            <a:off x="6334247" y="3503314"/>
            <a:ext cx="2683095" cy="4001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* : 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คูณ, </a:t>
            </a:r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/ :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หาร</a:t>
            </a:r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, N: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จำนวนชิ้นงาน</a:t>
            </a:r>
            <a:endParaRPr lang="en-US" sz="20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F6A963-738E-429F-B6F9-712F7E0D8C46}"/>
              </a:ext>
            </a:extLst>
          </p:cNvPr>
          <p:cNvSpPr txBox="1"/>
          <p:nvPr/>
        </p:nvSpPr>
        <p:spPr>
          <a:xfrm>
            <a:off x="-3" y="0"/>
            <a:ext cx="107331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Template Type 4:</a:t>
            </a:r>
            <a:r>
              <a:rPr lang="th-TH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กล่องออโต้ล็อคแบบทากาว :  </a:t>
            </a:r>
            <a:r>
              <a:rPr lang="en-US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Tuck Top Auto Bottom (TTAB)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AFEF94E-B6AE-4F46-A665-941AAC73B64B}"/>
              </a:ext>
            </a:extLst>
          </p:cNvPr>
          <p:cNvSpPr/>
          <p:nvPr/>
        </p:nvSpPr>
        <p:spPr>
          <a:xfrm>
            <a:off x="3835479" y="2880900"/>
            <a:ext cx="8356521" cy="40233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0EFBD02-71F3-4384-AEEE-1BB3885BAC8B}"/>
              </a:ext>
            </a:extLst>
          </p:cNvPr>
          <p:cNvGrpSpPr/>
          <p:nvPr/>
        </p:nvGrpSpPr>
        <p:grpSpPr>
          <a:xfrm>
            <a:off x="3847503" y="1303100"/>
            <a:ext cx="8485171" cy="2021978"/>
            <a:chOff x="6096000" y="1225212"/>
            <a:chExt cx="8485171" cy="2021978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BE2F7A6-A453-462C-A70E-23CD1743471C}"/>
                </a:ext>
              </a:extLst>
            </p:cNvPr>
            <p:cNvSpPr txBox="1"/>
            <p:nvPr/>
          </p:nvSpPr>
          <p:spPr>
            <a:xfrm>
              <a:off x="6096000" y="1225212"/>
              <a:ext cx="38282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Case III: align: overlap &amp;&amp; dust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&gt;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(</a:t>
              </a:r>
              <a:r>
                <a:rPr lang="en-US" sz="2400" b="1" dirty="0" err="1">
                  <a:latin typeface="Cordia New" panose="020B0304020202020204" pitchFamily="34" charset="-34"/>
                  <a:cs typeface="Cordia New" panose="020B0304020202020204" pitchFamily="34" charset="-34"/>
                </a:rPr>
                <a:t>w+t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)/2 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B616D68-20B7-4A1E-B03A-A363BA1F3B88}"/>
                </a:ext>
              </a:extLst>
            </p:cNvPr>
            <p:cNvSpPr txBox="1"/>
            <p:nvPr/>
          </p:nvSpPr>
          <p:spPr>
            <a:xfrm>
              <a:off x="6120200" y="1677530"/>
              <a:ext cx="8460971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*(ol+w/2+2*b+d)+(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)*(w+t)+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0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*(2*dust-w-t) </a:t>
              </a: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2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2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*(ol+w/2+2*b+d)+(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)*(w+t)+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*(2*dust-w-t)</a:t>
              </a: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3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3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*(ol+w/2+2*b+d)+(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2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)*(w+t)+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*(2*dust-w-t)</a:t>
              </a: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n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n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*(ol+w/2+2*b+d)+(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Math.floor(n/2)+(n%2)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)*(w+t)+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Math.floor(n/2)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*(2*dust-w-t)</a:t>
              </a:r>
              <a:endParaRPr lang="en-US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3AE9579-95A4-4186-8108-DC0A5C6BD2BA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25" name="สี่เหลี่ยมผืนผ้า 33">
              <a:extLst>
                <a:ext uri="{FF2B5EF4-FFF2-40B4-BE49-F238E27FC236}">
                  <a16:creationId xmlns:a16="http://schemas.microsoft.com/office/drawing/2014/main" id="{D9E4C640-B05B-4515-8BA4-0222A8A0A00F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กล่องข้อความ 34">
              <a:extLst>
                <a:ext uri="{FF2B5EF4-FFF2-40B4-BE49-F238E27FC236}">
                  <a16:creationId xmlns:a16="http://schemas.microsoft.com/office/drawing/2014/main" id="{117DBE33-1EDC-4BF9-911B-32F0C78EC84D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92483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86F206AE-852C-4AD8-ACEF-136321E51E70}"/>
              </a:ext>
            </a:extLst>
          </p:cNvPr>
          <p:cNvSpPr/>
          <p:nvPr/>
        </p:nvSpPr>
        <p:spPr>
          <a:xfrm>
            <a:off x="5839440" y="4990260"/>
            <a:ext cx="5634189" cy="46071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F450275-4764-41FB-AF20-74E3754EC753}"/>
              </a:ext>
            </a:extLst>
          </p:cNvPr>
          <p:cNvGrpSpPr/>
          <p:nvPr/>
        </p:nvGrpSpPr>
        <p:grpSpPr>
          <a:xfrm>
            <a:off x="332607" y="1003177"/>
            <a:ext cx="400110" cy="3213716"/>
            <a:chOff x="332607" y="1003177"/>
            <a:chExt cx="400110" cy="3213716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ABF4E47-35B8-4993-BBF5-2A908137351E}"/>
                </a:ext>
              </a:extLst>
            </p:cNvPr>
            <p:cNvCxnSpPr/>
            <p:nvPr/>
          </p:nvCxnSpPr>
          <p:spPr>
            <a:xfrm>
              <a:off x="532660" y="1003177"/>
              <a:ext cx="0" cy="3213716"/>
            </a:xfrm>
            <a:prstGeom prst="straightConnector1">
              <a:avLst/>
            </a:prstGeom>
            <a:ln w="38100">
              <a:solidFill>
                <a:schemeClr val="bg2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529A478-85D2-4CA5-A5E9-3BD9CA7D98D4}"/>
                </a:ext>
              </a:extLst>
            </p:cNvPr>
            <p:cNvSpPr txBox="1"/>
            <p:nvPr/>
          </p:nvSpPr>
          <p:spPr>
            <a:xfrm rot="16200000">
              <a:off x="135758" y="2295622"/>
              <a:ext cx="793807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 SIDE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86FB84B-3092-48A0-96F4-617FE9508B2C}"/>
              </a:ext>
            </a:extLst>
          </p:cNvPr>
          <p:cNvGrpSpPr/>
          <p:nvPr/>
        </p:nvGrpSpPr>
        <p:grpSpPr>
          <a:xfrm rot="5400000">
            <a:off x="2219110" y="2982634"/>
            <a:ext cx="400110" cy="3213716"/>
            <a:chOff x="347995" y="1003177"/>
            <a:chExt cx="400110" cy="3213716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0327BDC-B0E0-4081-95D9-0249B8A67A4F}"/>
                </a:ext>
              </a:extLst>
            </p:cNvPr>
            <p:cNvCxnSpPr/>
            <p:nvPr/>
          </p:nvCxnSpPr>
          <p:spPr>
            <a:xfrm>
              <a:off x="532660" y="1003177"/>
              <a:ext cx="0" cy="3213716"/>
            </a:xfrm>
            <a:prstGeom prst="straightConnector1">
              <a:avLst/>
            </a:prstGeom>
            <a:ln w="38100">
              <a:solidFill>
                <a:srgbClr val="00206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2541832-56A3-4053-87A8-C933033B1A85}"/>
                </a:ext>
              </a:extLst>
            </p:cNvPr>
            <p:cNvSpPr txBox="1"/>
            <p:nvPr/>
          </p:nvSpPr>
          <p:spPr>
            <a:xfrm rot="16200000">
              <a:off x="184008" y="2362146"/>
              <a:ext cx="728084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 SIDE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C757515-930D-4F45-9C41-5BA49C4DF3D6}"/>
              </a:ext>
            </a:extLst>
          </p:cNvPr>
          <p:cNvSpPr txBox="1"/>
          <p:nvPr/>
        </p:nvSpPr>
        <p:spPr>
          <a:xfrm>
            <a:off x="399923" y="4833869"/>
            <a:ext cx="2632452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Parameter: w, l, b, n, 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CECA9A-4BE1-45D4-8B3A-20152D984830}"/>
              </a:ext>
            </a:extLst>
          </p:cNvPr>
          <p:cNvSpPr/>
          <p:nvPr/>
        </p:nvSpPr>
        <p:spPr>
          <a:xfrm>
            <a:off x="5839440" y="2786472"/>
            <a:ext cx="5634189" cy="46071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B74323-591E-4C02-A13A-74FCEFF7501E}"/>
              </a:ext>
            </a:extLst>
          </p:cNvPr>
          <p:cNvSpPr txBox="1"/>
          <p:nvPr/>
        </p:nvSpPr>
        <p:spPr>
          <a:xfrm>
            <a:off x="5733734" y="584775"/>
            <a:ext cx="893218" cy="589002"/>
          </a:xfrm>
          <a:prstGeom prst="roundRect">
            <a:avLst>
              <a:gd name="adj" fmla="val 19734"/>
            </a:avLst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L side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7CFCB6-60A7-4E4A-9209-90426F58A436}"/>
              </a:ext>
            </a:extLst>
          </p:cNvPr>
          <p:cNvSpPr txBox="1"/>
          <p:nvPr/>
        </p:nvSpPr>
        <p:spPr>
          <a:xfrm>
            <a:off x="7156873" y="5903296"/>
            <a:ext cx="2683095" cy="4001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* : 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คูณ, </a:t>
            </a:r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/ :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หาร</a:t>
            </a:r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, N: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จำนวนชิ้นงาน</a:t>
            </a:r>
            <a:endParaRPr lang="en-US" sz="20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84310DE-506F-4ED1-8DA4-5EEC3148E528}"/>
              </a:ext>
            </a:extLst>
          </p:cNvPr>
          <p:cNvGrpSpPr/>
          <p:nvPr/>
        </p:nvGrpSpPr>
        <p:grpSpPr>
          <a:xfrm>
            <a:off x="6096000" y="1225212"/>
            <a:ext cx="3434916" cy="2021978"/>
            <a:chOff x="6096000" y="1225212"/>
            <a:chExt cx="3434916" cy="202197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8F07B25-69FD-47F1-9267-6D6638CF7E33}"/>
                </a:ext>
              </a:extLst>
            </p:cNvPr>
            <p:cNvSpPr txBox="1"/>
            <p:nvPr/>
          </p:nvSpPr>
          <p:spPr>
            <a:xfrm>
              <a:off x="6096000" y="1225212"/>
              <a:ext cx="21779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Case I: align: straight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845526E-7348-426C-98DB-50B0C85B303E}"/>
                </a:ext>
              </a:extLst>
            </p:cNvPr>
            <p:cNvSpPr txBox="1"/>
            <p:nvPr/>
          </p:nvSpPr>
          <p:spPr>
            <a:xfrm>
              <a:off x="6520155" y="1677530"/>
              <a:ext cx="3010761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*(2*(w+l+b)+g) </a:t>
              </a:r>
              <a:endParaRPr lang="en-US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2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2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*(2*(w+l+b)+g) </a:t>
              </a:r>
              <a:endParaRPr lang="en-US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3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3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*(2*(w+l+b)+g) </a:t>
              </a:r>
              <a:endParaRPr lang="en-US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n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pl-PL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n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*(2*(w+l+b)+g)</a:t>
              </a:r>
              <a:endParaRPr lang="en-US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F9964CD-4B26-43D8-BF98-6AD4163C2A50}"/>
              </a:ext>
            </a:extLst>
          </p:cNvPr>
          <p:cNvGrpSpPr/>
          <p:nvPr/>
        </p:nvGrpSpPr>
        <p:grpSpPr>
          <a:xfrm>
            <a:off x="6096000" y="3429000"/>
            <a:ext cx="4876800" cy="2483643"/>
            <a:chOff x="6096000" y="1225212"/>
            <a:chExt cx="4876800" cy="2483643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1DF4617-A6C3-4EF0-81CF-287B1D1ED67F}"/>
                </a:ext>
              </a:extLst>
            </p:cNvPr>
            <p:cNvSpPr txBox="1"/>
            <p:nvPr/>
          </p:nvSpPr>
          <p:spPr>
            <a:xfrm>
              <a:off x="6096000" y="1225212"/>
              <a:ext cx="21779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Case II: align: overlap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29E04E7-7CA4-40B7-9CF0-3C3382791FA7}"/>
                </a:ext>
              </a:extLst>
            </p:cNvPr>
            <p:cNvSpPr txBox="1"/>
            <p:nvPr/>
          </p:nvSpPr>
          <p:spPr>
            <a:xfrm>
              <a:off x="6520155" y="1677530"/>
              <a:ext cx="3956532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2*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*(l+b)+(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3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)*w+(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0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)*g</a:t>
              </a:r>
              <a:endParaRPr lang="en-US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2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2*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2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*(l+b)+(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5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)*w+(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)*g</a:t>
              </a:r>
              <a:endParaRPr lang="en-US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3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2*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3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*(l+b)+(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7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)*w+(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2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)*g</a:t>
              </a:r>
              <a:endParaRPr lang="en-US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n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2*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n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*(l+b)+(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2*n+1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)*w+(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n-1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)*g</a:t>
              </a:r>
              <a:endParaRPr lang="en-US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D69D7A3-5833-4EB8-9880-857259978FDE}"/>
                </a:ext>
              </a:extLst>
            </p:cNvPr>
            <p:cNvSpPr txBox="1"/>
            <p:nvPr/>
          </p:nvSpPr>
          <p:spPr>
            <a:xfrm>
              <a:off x="6096000" y="3247190"/>
              <a:ext cx="4876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C0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**Remark: </a:t>
              </a:r>
              <a:r>
                <a:rPr lang="th-TH" sz="2400" b="1" dirty="0">
                  <a:solidFill>
                    <a:srgbClr val="C0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ถ้า</a:t>
              </a:r>
              <a:r>
                <a:rPr lang="en-US" sz="2400" b="1" dirty="0">
                  <a:solidFill>
                    <a:srgbClr val="C0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w side -&gt; n=1 </a:t>
              </a:r>
              <a:r>
                <a:rPr lang="th-TH" sz="2400" b="1" dirty="0">
                  <a:solidFill>
                    <a:srgbClr val="C0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ให้ใช้</a:t>
              </a:r>
              <a:r>
                <a:rPr lang="en-US" sz="2400" b="1" dirty="0">
                  <a:solidFill>
                    <a:srgbClr val="C0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l side case I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B1B12397-E6E2-442C-A5AC-553DB7C316FF}"/>
              </a:ext>
            </a:extLst>
          </p:cNvPr>
          <p:cNvSpPr txBox="1"/>
          <p:nvPr/>
        </p:nvSpPr>
        <p:spPr>
          <a:xfrm>
            <a:off x="-3" y="0"/>
            <a:ext cx="107331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Template Type 4:</a:t>
            </a:r>
            <a:r>
              <a:rPr lang="th-TH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กล่องออโต้ล็อคแบบทากาว :  </a:t>
            </a:r>
            <a:r>
              <a:rPr lang="en-US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Tuck Top Auto Bottom (TTAB)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D7B9E29-E53E-4B34-8A97-94A20F0C24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509" b="24501"/>
          <a:stretch/>
        </p:blipFill>
        <p:spPr>
          <a:xfrm>
            <a:off x="688332" y="774280"/>
            <a:ext cx="3461665" cy="3707490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F3A13D65-309F-4FA4-924F-0E1C8998BD13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29" name="สี่เหลี่ยมผืนผ้า 33">
              <a:extLst>
                <a:ext uri="{FF2B5EF4-FFF2-40B4-BE49-F238E27FC236}">
                  <a16:creationId xmlns:a16="http://schemas.microsoft.com/office/drawing/2014/main" id="{F7A23EB3-FFF8-4E60-9FC5-F664E1A65309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กล่องข้อความ 34">
              <a:extLst>
                <a:ext uri="{FF2B5EF4-FFF2-40B4-BE49-F238E27FC236}">
                  <a16:creationId xmlns:a16="http://schemas.microsoft.com/office/drawing/2014/main" id="{7AF84EFE-930C-4DBE-8718-9F42372AA227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95080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FB17AF-314E-42D9-A41A-CBAA2786B75D}"/>
              </a:ext>
            </a:extLst>
          </p:cNvPr>
          <p:cNvSpPr txBox="1"/>
          <p:nvPr/>
        </p:nvSpPr>
        <p:spPr>
          <a:xfrm>
            <a:off x="-2" y="0"/>
            <a:ext cx="95089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Template Type 5:</a:t>
            </a:r>
            <a:r>
              <a:rPr lang="th-TH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กล่องฝาครอบ : </a:t>
            </a:r>
            <a:r>
              <a:rPr lang="en-US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Double Glue Side Wall (Simplex Tray)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DF99AC-A5F2-4FB5-9500-A5B79F33E5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2767" y="792769"/>
            <a:ext cx="4768123" cy="4266948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7F450275-4764-41FB-AF20-74E3754EC753}"/>
              </a:ext>
            </a:extLst>
          </p:cNvPr>
          <p:cNvGrpSpPr/>
          <p:nvPr/>
        </p:nvGrpSpPr>
        <p:grpSpPr>
          <a:xfrm>
            <a:off x="332607" y="1003177"/>
            <a:ext cx="400110" cy="2516598"/>
            <a:chOff x="332607" y="1003177"/>
            <a:chExt cx="400110" cy="3213716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ABF4E47-35B8-4993-BBF5-2A908137351E}"/>
                </a:ext>
              </a:extLst>
            </p:cNvPr>
            <p:cNvCxnSpPr/>
            <p:nvPr/>
          </p:nvCxnSpPr>
          <p:spPr>
            <a:xfrm>
              <a:off x="532660" y="1003177"/>
              <a:ext cx="0" cy="3213716"/>
            </a:xfrm>
            <a:prstGeom prst="straightConnector1">
              <a:avLst/>
            </a:prstGeom>
            <a:ln w="38100">
              <a:solidFill>
                <a:srgbClr val="00206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529A478-85D2-4CA5-A5E9-3BD9CA7D98D4}"/>
                </a:ext>
              </a:extLst>
            </p:cNvPr>
            <p:cNvSpPr txBox="1"/>
            <p:nvPr/>
          </p:nvSpPr>
          <p:spPr>
            <a:xfrm rot="16200000">
              <a:off x="18537" y="2178401"/>
              <a:ext cx="1028249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 SIDE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86FB84B-3092-48A0-96F4-617FE9508B2C}"/>
              </a:ext>
            </a:extLst>
          </p:cNvPr>
          <p:cNvGrpSpPr/>
          <p:nvPr/>
        </p:nvGrpSpPr>
        <p:grpSpPr>
          <a:xfrm rot="5400000">
            <a:off x="2584574" y="1928308"/>
            <a:ext cx="400110" cy="3213716"/>
            <a:chOff x="347995" y="1003177"/>
            <a:chExt cx="400110" cy="3213716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0327BDC-B0E0-4081-95D9-0249B8A67A4F}"/>
                </a:ext>
              </a:extLst>
            </p:cNvPr>
            <p:cNvCxnSpPr/>
            <p:nvPr/>
          </p:nvCxnSpPr>
          <p:spPr>
            <a:xfrm>
              <a:off x="532660" y="1003177"/>
              <a:ext cx="0" cy="3213716"/>
            </a:xfrm>
            <a:prstGeom prst="straightConnector1">
              <a:avLst/>
            </a:prstGeom>
            <a:ln w="38100">
              <a:solidFill>
                <a:schemeClr val="bg2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2541832-56A3-4053-87A8-C933033B1A85}"/>
                </a:ext>
              </a:extLst>
            </p:cNvPr>
            <p:cNvSpPr txBox="1"/>
            <p:nvPr/>
          </p:nvSpPr>
          <p:spPr>
            <a:xfrm rot="16200000">
              <a:off x="184008" y="2362146"/>
              <a:ext cx="728084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 SIDE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C757515-930D-4F45-9C41-5BA49C4DF3D6}"/>
              </a:ext>
            </a:extLst>
          </p:cNvPr>
          <p:cNvSpPr txBox="1"/>
          <p:nvPr/>
        </p:nvSpPr>
        <p:spPr>
          <a:xfrm>
            <a:off x="682767" y="5209739"/>
            <a:ext cx="2433680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Parameter: w, d, n, 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7CFCB6-60A7-4E4A-9209-90426F58A436}"/>
              </a:ext>
            </a:extLst>
          </p:cNvPr>
          <p:cNvSpPr txBox="1"/>
          <p:nvPr/>
        </p:nvSpPr>
        <p:spPr>
          <a:xfrm>
            <a:off x="6825810" y="3335111"/>
            <a:ext cx="2683095" cy="4001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* : 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คูณ, </a:t>
            </a:r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/ :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หาร</a:t>
            </a:r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, N: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จำนวนชิ้นงาน</a:t>
            </a:r>
            <a:endParaRPr lang="en-US" sz="20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C6A82A5-1E31-4212-BE5B-773BC0ABC485}"/>
              </a:ext>
            </a:extLst>
          </p:cNvPr>
          <p:cNvSpPr txBox="1"/>
          <p:nvPr/>
        </p:nvSpPr>
        <p:spPr>
          <a:xfrm>
            <a:off x="5733734" y="584775"/>
            <a:ext cx="973856" cy="578882"/>
          </a:xfrm>
          <a:prstGeom prst="roundRect">
            <a:avLst>
              <a:gd name="adj" fmla="val 19734"/>
            </a:avLst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W side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AC7720F-23BA-40DB-80E4-AC3A24770C3B}"/>
              </a:ext>
            </a:extLst>
          </p:cNvPr>
          <p:cNvSpPr/>
          <p:nvPr/>
        </p:nvSpPr>
        <p:spPr>
          <a:xfrm>
            <a:off x="6520156" y="2811891"/>
            <a:ext cx="3576620" cy="35460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4DD0542-514A-428B-8CED-EA6C0C3EB710}"/>
              </a:ext>
            </a:extLst>
          </p:cNvPr>
          <p:cNvGrpSpPr/>
          <p:nvPr/>
        </p:nvGrpSpPr>
        <p:grpSpPr>
          <a:xfrm>
            <a:off x="6096000" y="1225212"/>
            <a:ext cx="3260188" cy="2021978"/>
            <a:chOff x="6096000" y="1225212"/>
            <a:chExt cx="3260188" cy="202197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C229F3E-54B1-4FFD-A248-976041FB7CCB}"/>
                </a:ext>
              </a:extLst>
            </p:cNvPr>
            <p:cNvSpPr txBox="1"/>
            <p:nvPr/>
          </p:nvSpPr>
          <p:spPr>
            <a:xfrm>
              <a:off x="6096000" y="1225212"/>
              <a:ext cx="8370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Case I: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794E5F1-092A-4FF3-B1AD-72291AF6CC37}"/>
                </a:ext>
              </a:extLst>
            </p:cNvPr>
            <p:cNvSpPr txBox="1"/>
            <p:nvPr/>
          </p:nvSpPr>
          <p:spPr>
            <a:xfrm>
              <a:off x="6520155" y="1677530"/>
              <a:ext cx="2836033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1*(w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+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4*d+2*b)</a:t>
              </a: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2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2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*(w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+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4*d+2*b)</a:t>
              </a: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3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3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*(w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+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4*d+2*b)</a:t>
              </a:r>
              <a:endParaRPr lang="en-US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n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pl-PL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n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*(w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+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4*d+2*b)</a:t>
              </a:r>
              <a:endParaRPr lang="en-US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B881E5A-9F4D-41E6-9AFF-FA35CE93FACA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18" name="สี่เหลี่ยมผืนผ้า 33">
              <a:extLst>
                <a:ext uri="{FF2B5EF4-FFF2-40B4-BE49-F238E27FC236}">
                  <a16:creationId xmlns:a16="http://schemas.microsoft.com/office/drawing/2014/main" id="{B4DD976B-5C02-420D-8B6C-E0A9B59E332B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กล่องข้อความ 34">
              <a:extLst>
                <a:ext uri="{FF2B5EF4-FFF2-40B4-BE49-F238E27FC236}">
                  <a16:creationId xmlns:a16="http://schemas.microsoft.com/office/drawing/2014/main" id="{53FDF916-4974-481E-9891-3180DA57AA40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63469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FB17AF-314E-42D9-A41A-CBAA2786B75D}"/>
              </a:ext>
            </a:extLst>
          </p:cNvPr>
          <p:cNvSpPr txBox="1"/>
          <p:nvPr/>
        </p:nvSpPr>
        <p:spPr>
          <a:xfrm>
            <a:off x="-2" y="0"/>
            <a:ext cx="95089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Template Type 5:</a:t>
            </a:r>
            <a:r>
              <a:rPr lang="th-TH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กล่องฝาครอบ : </a:t>
            </a:r>
            <a:r>
              <a:rPr lang="en-US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Double Glue Side Wall (Simplex Tray)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DF99AC-A5F2-4FB5-9500-A5B79F33E5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2767" y="792769"/>
            <a:ext cx="4768123" cy="4266948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7F450275-4764-41FB-AF20-74E3754EC753}"/>
              </a:ext>
            </a:extLst>
          </p:cNvPr>
          <p:cNvGrpSpPr/>
          <p:nvPr/>
        </p:nvGrpSpPr>
        <p:grpSpPr>
          <a:xfrm>
            <a:off x="332607" y="1003177"/>
            <a:ext cx="400110" cy="2516598"/>
            <a:chOff x="332607" y="1003177"/>
            <a:chExt cx="400110" cy="3213716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ABF4E47-35B8-4993-BBF5-2A908137351E}"/>
                </a:ext>
              </a:extLst>
            </p:cNvPr>
            <p:cNvCxnSpPr/>
            <p:nvPr/>
          </p:nvCxnSpPr>
          <p:spPr>
            <a:xfrm>
              <a:off x="532660" y="1003177"/>
              <a:ext cx="0" cy="3213716"/>
            </a:xfrm>
            <a:prstGeom prst="straightConnector1">
              <a:avLst/>
            </a:prstGeom>
            <a:ln w="38100">
              <a:solidFill>
                <a:schemeClr val="bg1">
                  <a:lumMod val="6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529A478-85D2-4CA5-A5E9-3BD9CA7D98D4}"/>
                </a:ext>
              </a:extLst>
            </p:cNvPr>
            <p:cNvSpPr txBox="1"/>
            <p:nvPr/>
          </p:nvSpPr>
          <p:spPr>
            <a:xfrm rot="16200000">
              <a:off x="-17145" y="2339235"/>
              <a:ext cx="1099614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 SIDE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86FB84B-3092-48A0-96F4-617FE9508B2C}"/>
              </a:ext>
            </a:extLst>
          </p:cNvPr>
          <p:cNvGrpSpPr/>
          <p:nvPr/>
        </p:nvGrpSpPr>
        <p:grpSpPr>
          <a:xfrm rot="5400000">
            <a:off x="2584574" y="1928308"/>
            <a:ext cx="400110" cy="3213716"/>
            <a:chOff x="347995" y="1003177"/>
            <a:chExt cx="400110" cy="3213716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0327BDC-B0E0-4081-95D9-0249B8A67A4F}"/>
                </a:ext>
              </a:extLst>
            </p:cNvPr>
            <p:cNvCxnSpPr/>
            <p:nvPr/>
          </p:nvCxnSpPr>
          <p:spPr>
            <a:xfrm>
              <a:off x="532660" y="1003177"/>
              <a:ext cx="0" cy="3213716"/>
            </a:xfrm>
            <a:prstGeom prst="straightConnector1">
              <a:avLst/>
            </a:prstGeom>
            <a:ln w="38100">
              <a:solidFill>
                <a:srgbClr val="00206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2541832-56A3-4053-87A8-C933033B1A85}"/>
                </a:ext>
              </a:extLst>
            </p:cNvPr>
            <p:cNvSpPr txBox="1"/>
            <p:nvPr/>
          </p:nvSpPr>
          <p:spPr>
            <a:xfrm rot="16200000">
              <a:off x="184008" y="2362146"/>
              <a:ext cx="728084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 SIDE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C757515-930D-4F45-9C41-5BA49C4DF3D6}"/>
              </a:ext>
            </a:extLst>
          </p:cNvPr>
          <p:cNvSpPr txBox="1"/>
          <p:nvPr/>
        </p:nvSpPr>
        <p:spPr>
          <a:xfrm>
            <a:off x="604109" y="5198745"/>
            <a:ext cx="2908168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Parameter: l, d, dust, n, 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7CFCB6-60A7-4E4A-9209-90426F58A436}"/>
              </a:ext>
            </a:extLst>
          </p:cNvPr>
          <p:cNvSpPr txBox="1"/>
          <p:nvPr/>
        </p:nvSpPr>
        <p:spPr>
          <a:xfrm>
            <a:off x="7040484" y="3299398"/>
            <a:ext cx="2683095" cy="4001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* : 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คูณ, </a:t>
            </a:r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/ :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หาร</a:t>
            </a:r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, N: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จำนวนชิ้นงาน</a:t>
            </a:r>
            <a:endParaRPr lang="en-US" sz="20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C6A82A5-1E31-4212-BE5B-773BC0ABC485}"/>
              </a:ext>
            </a:extLst>
          </p:cNvPr>
          <p:cNvSpPr txBox="1"/>
          <p:nvPr/>
        </p:nvSpPr>
        <p:spPr>
          <a:xfrm>
            <a:off x="5733734" y="584775"/>
            <a:ext cx="893218" cy="589002"/>
          </a:xfrm>
          <a:prstGeom prst="roundRect">
            <a:avLst>
              <a:gd name="adj" fmla="val 19734"/>
            </a:avLst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L side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AC7720F-23BA-40DB-80E4-AC3A24770C3B}"/>
              </a:ext>
            </a:extLst>
          </p:cNvPr>
          <p:cNvSpPr/>
          <p:nvPr/>
        </p:nvSpPr>
        <p:spPr>
          <a:xfrm>
            <a:off x="6520156" y="2811891"/>
            <a:ext cx="3576620" cy="35460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4DD0542-514A-428B-8CED-EA6C0C3EB710}"/>
              </a:ext>
            </a:extLst>
          </p:cNvPr>
          <p:cNvGrpSpPr/>
          <p:nvPr/>
        </p:nvGrpSpPr>
        <p:grpSpPr>
          <a:xfrm>
            <a:off x="6096000" y="1225212"/>
            <a:ext cx="3848490" cy="2021978"/>
            <a:chOff x="6096000" y="1225212"/>
            <a:chExt cx="3848490" cy="202197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C229F3E-54B1-4FFD-A248-976041FB7CCB}"/>
                </a:ext>
              </a:extLst>
            </p:cNvPr>
            <p:cNvSpPr txBox="1"/>
            <p:nvPr/>
          </p:nvSpPr>
          <p:spPr>
            <a:xfrm>
              <a:off x="6096000" y="1225212"/>
              <a:ext cx="8370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Case I: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794E5F1-092A-4FF3-B1AD-72291AF6CC37}"/>
                </a:ext>
              </a:extLst>
            </p:cNvPr>
            <p:cNvSpPr txBox="1"/>
            <p:nvPr/>
          </p:nvSpPr>
          <p:spPr>
            <a:xfrm>
              <a:off x="6520155" y="1677530"/>
              <a:ext cx="3424335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*(l+4*d+2*b+2*dust)</a:t>
              </a:r>
              <a:endParaRPr lang="pl-PL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2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2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*(l+4*d+2*b+2*dust)</a:t>
              </a:r>
              <a:endParaRPr lang="pl-PL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3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3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*(l+4*d+2*b+2*dust)</a:t>
              </a:r>
              <a:endParaRPr lang="en-US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n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n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*(l+4*d+2*b+2*dust)</a:t>
              </a:r>
              <a:endParaRPr lang="en-US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6C198AD-0941-4C30-8D3D-22DDACBAC1E2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18" name="สี่เหลี่ยมผืนผ้า 33">
              <a:extLst>
                <a:ext uri="{FF2B5EF4-FFF2-40B4-BE49-F238E27FC236}">
                  <a16:creationId xmlns:a16="http://schemas.microsoft.com/office/drawing/2014/main" id="{FB8DC136-BB1F-48C7-B371-0A32FDAE05E7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กล่องข้อความ 34">
              <a:extLst>
                <a:ext uri="{FF2B5EF4-FFF2-40B4-BE49-F238E27FC236}">
                  <a16:creationId xmlns:a16="http://schemas.microsoft.com/office/drawing/2014/main" id="{42522CF7-CC72-400E-BB43-AE24B730C7BE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99773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FB17AF-314E-42D9-A41A-CBAA2786B75D}"/>
              </a:ext>
            </a:extLst>
          </p:cNvPr>
          <p:cNvSpPr txBox="1"/>
          <p:nvPr/>
        </p:nvSpPr>
        <p:spPr>
          <a:xfrm>
            <a:off x="-2" y="0"/>
            <a:ext cx="95089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Template Type 6:</a:t>
            </a:r>
            <a:r>
              <a:rPr lang="th-TH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กล่องฝาครอบ มีขอบ : </a:t>
            </a:r>
            <a:r>
              <a:rPr lang="en-US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Frame-Vue Tray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DF99AC-A5F2-4FB5-9500-A5B79F33E5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2767" y="795879"/>
            <a:ext cx="4768123" cy="426072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7F450275-4764-41FB-AF20-74E3754EC753}"/>
              </a:ext>
            </a:extLst>
          </p:cNvPr>
          <p:cNvGrpSpPr/>
          <p:nvPr/>
        </p:nvGrpSpPr>
        <p:grpSpPr>
          <a:xfrm>
            <a:off x="332607" y="1003177"/>
            <a:ext cx="400110" cy="2516598"/>
            <a:chOff x="332607" y="1003177"/>
            <a:chExt cx="400110" cy="3213716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ABF4E47-35B8-4993-BBF5-2A908137351E}"/>
                </a:ext>
              </a:extLst>
            </p:cNvPr>
            <p:cNvCxnSpPr/>
            <p:nvPr/>
          </p:nvCxnSpPr>
          <p:spPr>
            <a:xfrm>
              <a:off x="532660" y="1003177"/>
              <a:ext cx="0" cy="3213716"/>
            </a:xfrm>
            <a:prstGeom prst="straightConnector1">
              <a:avLst/>
            </a:prstGeom>
            <a:ln w="38100">
              <a:solidFill>
                <a:srgbClr val="00206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529A478-85D2-4CA5-A5E9-3BD9CA7D98D4}"/>
                </a:ext>
              </a:extLst>
            </p:cNvPr>
            <p:cNvSpPr txBox="1"/>
            <p:nvPr/>
          </p:nvSpPr>
          <p:spPr>
            <a:xfrm rot="16200000">
              <a:off x="18537" y="2178401"/>
              <a:ext cx="1028249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 SIDE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86FB84B-3092-48A0-96F4-617FE9508B2C}"/>
              </a:ext>
            </a:extLst>
          </p:cNvPr>
          <p:cNvGrpSpPr/>
          <p:nvPr/>
        </p:nvGrpSpPr>
        <p:grpSpPr>
          <a:xfrm rot="5400000">
            <a:off x="2571752" y="2221271"/>
            <a:ext cx="400110" cy="3213716"/>
            <a:chOff x="347995" y="1003177"/>
            <a:chExt cx="400110" cy="3213716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0327BDC-B0E0-4081-95D9-0249B8A67A4F}"/>
                </a:ext>
              </a:extLst>
            </p:cNvPr>
            <p:cNvCxnSpPr/>
            <p:nvPr/>
          </p:nvCxnSpPr>
          <p:spPr>
            <a:xfrm>
              <a:off x="532660" y="1003177"/>
              <a:ext cx="0" cy="3213716"/>
            </a:xfrm>
            <a:prstGeom prst="straightConnector1">
              <a:avLst/>
            </a:prstGeom>
            <a:ln w="38100">
              <a:solidFill>
                <a:schemeClr val="bg2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2541832-56A3-4053-87A8-C933033B1A85}"/>
                </a:ext>
              </a:extLst>
            </p:cNvPr>
            <p:cNvSpPr txBox="1"/>
            <p:nvPr/>
          </p:nvSpPr>
          <p:spPr>
            <a:xfrm rot="16200000">
              <a:off x="184008" y="2362146"/>
              <a:ext cx="728084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 SIDE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C757515-930D-4F45-9C41-5BA49C4DF3D6}"/>
              </a:ext>
            </a:extLst>
          </p:cNvPr>
          <p:cNvSpPr txBox="1"/>
          <p:nvPr/>
        </p:nvSpPr>
        <p:spPr>
          <a:xfrm>
            <a:off x="682767" y="5209739"/>
            <a:ext cx="4049507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Parameter: w, d, dust, </a:t>
            </a:r>
            <a:r>
              <a:rPr lang="en-US" sz="2800" b="1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ol</a:t>
            </a:r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(frame) n, 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7CFCB6-60A7-4E4A-9209-90426F58A436}"/>
              </a:ext>
            </a:extLst>
          </p:cNvPr>
          <p:cNvSpPr txBox="1"/>
          <p:nvPr/>
        </p:nvSpPr>
        <p:spPr>
          <a:xfrm>
            <a:off x="7208169" y="3291391"/>
            <a:ext cx="2683095" cy="4001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* : 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คูณ, </a:t>
            </a:r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/ :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หาร</a:t>
            </a:r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, N: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จำนวนชิ้นงาน</a:t>
            </a:r>
            <a:endParaRPr lang="en-US" sz="20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C6A82A5-1E31-4212-BE5B-773BC0ABC485}"/>
              </a:ext>
            </a:extLst>
          </p:cNvPr>
          <p:cNvSpPr txBox="1"/>
          <p:nvPr/>
        </p:nvSpPr>
        <p:spPr>
          <a:xfrm>
            <a:off x="5733734" y="584775"/>
            <a:ext cx="973856" cy="578882"/>
          </a:xfrm>
          <a:prstGeom prst="roundRect">
            <a:avLst>
              <a:gd name="adj" fmla="val 19734"/>
            </a:avLst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W side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AC7720F-23BA-40DB-80E4-AC3A24770C3B}"/>
              </a:ext>
            </a:extLst>
          </p:cNvPr>
          <p:cNvSpPr/>
          <p:nvPr/>
        </p:nvSpPr>
        <p:spPr>
          <a:xfrm>
            <a:off x="6179127" y="2811891"/>
            <a:ext cx="5107709" cy="35460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4DD0542-514A-428B-8CED-EA6C0C3EB710}"/>
              </a:ext>
            </a:extLst>
          </p:cNvPr>
          <p:cNvGrpSpPr/>
          <p:nvPr/>
        </p:nvGrpSpPr>
        <p:grpSpPr>
          <a:xfrm>
            <a:off x="6096000" y="1225212"/>
            <a:ext cx="4483280" cy="2021978"/>
            <a:chOff x="6096000" y="1225212"/>
            <a:chExt cx="4483280" cy="202197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C229F3E-54B1-4FFD-A248-976041FB7CCB}"/>
                </a:ext>
              </a:extLst>
            </p:cNvPr>
            <p:cNvSpPr txBox="1"/>
            <p:nvPr/>
          </p:nvSpPr>
          <p:spPr>
            <a:xfrm>
              <a:off x="6096000" y="1225212"/>
              <a:ext cx="8370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Case I: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794E5F1-092A-4FF3-B1AD-72291AF6CC37}"/>
                </a:ext>
              </a:extLst>
            </p:cNvPr>
            <p:cNvSpPr txBox="1"/>
            <p:nvPr/>
          </p:nvSpPr>
          <p:spPr>
            <a:xfrm>
              <a:off x="6520155" y="1677530"/>
              <a:ext cx="4059125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*(w+4*d+2*b+2*ol+2*dust) </a:t>
              </a:r>
              <a:endParaRPr lang="th-TH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2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2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*(w+4*d+2*b+2*ol+2*dust) </a:t>
              </a:r>
              <a:endParaRPr lang="th-TH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3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3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*(w+4*d+2*b+2*ol+2*dust)</a:t>
              </a:r>
              <a:endParaRPr lang="en-US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n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pl-PL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n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*(w+4*d+2*b+2*ol+2*dust)</a:t>
              </a:r>
              <a:endParaRPr lang="en-US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1418FF6-46C5-4B9F-AC37-CBC2502C284D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18" name="สี่เหลี่ยมผืนผ้า 33">
              <a:extLst>
                <a:ext uri="{FF2B5EF4-FFF2-40B4-BE49-F238E27FC236}">
                  <a16:creationId xmlns:a16="http://schemas.microsoft.com/office/drawing/2014/main" id="{866E9347-458B-40C0-B51F-F35331FEB38C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กล่องข้อความ 34">
              <a:extLst>
                <a:ext uri="{FF2B5EF4-FFF2-40B4-BE49-F238E27FC236}">
                  <a16:creationId xmlns:a16="http://schemas.microsoft.com/office/drawing/2014/main" id="{10F1C514-B148-49F8-ADA5-30E0C5C59986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607277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FB17AF-314E-42D9-A41A-CBAA2786B75D}"/>
              </a:ext>
            </a:extLst>
          </p:cNvPr>
          <p:cNvSpPr txBox="1"/>
          <p:nvPr/>
        </p:nvSpPr>
        <p:spPr>
          <a:xfrm>
            <a:off x="-2" y="0"/>
            <a:ext cx="95089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Template Type 6:</a:t>
            </a:r>
            <a:r>
              <a:rPr lang="th-TH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กล่องฝาครอบ มีขอบ : </a:t>
            </a:r>
            <a:r>
              <a:rPr lang="en-US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Frame-Vue Tray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DF99AC-A5F2-4FB5-9500-A5B79F33E5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2767" y="795879"/>
            <a:ext cx="4768123" cy="426072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7F450275-4764-41FB-AF20-74E3754EC753}"/>
              </a:ext>
            </a:extLst>
          </p:cNvPr>
          <p:cNvGrpSpPr/>
          <p:nvPr/>
        </p:nvGrpSpPr>
        <p:grpSpPr>
          <a:xfrm>
            <a:off x="332606" y="1003177"/>
            <a:ext cx="400110" cy="2516598"/>
            <a:chOff x="332606" y="1003177"/>
            <a:chExt cx="400110" cy="3213716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ABF4E47-35B8-4993-BBF5-2A908137351E}"/>
                </a:ext>
              </a:extLst>
            </p:cNvPr>
            <p:cNvCxnSpPr/>
            <p:nvPr/>
          </p:nvCxnSpPr>
          <p:spPr>
            <a:xfrm>
              <a:off x="532660" y="1003177"/>
              <a:ext cx="0" cy="3213716"/>
            </a:xfrm>
            <a:prstGeom prst="straightConnector1">
              <a:avLst/>
            </a:prstGeom>
            <a:ln w="38100">
              <a:solidFill>
                <a:schemeClr val="bg1">
                  <a:lumMod val="6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529A478-85D2-4CA5-A5E9-3BD9CA7D98D4}"/>
                </a:ext>
              </a:extLst>
            </p:cNvPr>
            <p:cNvSpPr txBox="1"/>
            <p:nvPr/>
          </p:nvSpPr>
          <p:spPr>
            <a:xfrm rot="16200000">
              <a:off x="-13549" y="2444928"/>
              <a:ext cx="1092420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 SIDE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86FB84B-3092-48A0-96F4-617FE9508B2C}"/>
              </a:ext>
            </a:extLst>
          </p:cNvPr>
          <p:cNvGrpSpPr/>
          <p:nvPr/>
        </p:nvGrpSpPr>
        <p:grpSpPr>
          <a:xfrm rot="5400000">
            <a:off x="2571752" y="2230148"/>
            <a:ext cx="400110" cy="3213716"/>
            <a:chOff x="347995" y="1003177"/>
            <a:chExt cx="400110" cy="3213716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0327BDC-B0E0-4081-95D9-0249B8A67A4F}"/>
                </a:ext>
              </a:extLst>
            </p:cNvPr>
            <p:cNvCxnSpPr/>
            <p:nvPr/>
          </p:nvCxnSpPr>
          <p:spPr>
            <a:xfrm>
              <a:off x="532660" y="1003177"/>
              <a:ext cx="0" cy="3213716"/>
            </a:xfrm>
            <a:prstGeom prst="straightConnector1">
              <a:avLst/>
            </a:prstGeom>
            <a:ln w="38100">
              <a:solidFill>
                <a:srgbClr val="00206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2541832-56A3-4053-87A8-C933033B1A85}"/>
                </a:ext>
              </a:extLst>
            </p:cNvPr>
            <p:cNvSpPr txBox="1"/>
            <p:nvPr/>
          </p:nvSpPr>
          <p:spPr>
            <a:xfrm rot="16200000">
              <a:off x="184008" y="2362146"/>
              <a:ext cx="728084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 SIDE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C757515-930D-4F45-9C41-5BA49C4DF3D6}"/>
              </a:ext>
            </a:extLst>
          </p:cNvPr>
          <p:cNvSpPr txBox="1"/>
          <p:nvPr/>
        </p:nvSpPr>
        <p:spPr>
          <a:xfrm>
            <a:off x="604109" y="5198745"/>
            <a:ext cx="3932487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Parameter: l, d, dust, </a:t>
            </a:r>
            <a:r>
              <a:rPr lang="en-US" sz="2800" b="1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ol</a:t>
            </a:r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(frame) n, 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7CFCB6-60A7-4E4A-9209-90426F58A436}"/>
              </a:ext>
            </a:extLst>
          </p:cNvPr>
          <p:cNvSpPr txBox="1"/>
          <p:nvPr/>
        </p:nvSpPr>
        <p:spPr>
          <a:xfrm>
            <a:off x="7223722" y="3247190"/>
            <a:ext cx="2683095" cy="4001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* : 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คูณ, </a:t>
            </a:r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/ :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หาร</a:t>
            </a:r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, N: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จำนวนชิ้นงาน</a:t>
            </a:r>
            <a:endParaRPr lang="en-US" sz="20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C6A82A5-1E31-4212-BE5B-773BC0ABC485}"/>
              </a:ext>
            </a:extLst>
          </p:cNvPr>
          <p:cNvSpPr txBox="1"/>
          <p:nvPr/>
        </p:nvSpPr>
        <p:spPr>
          <a:xfrm>
            <a:off x="5733734" y="584775"/>
            <a:ext cx="893218" cy="589002"/>
          </a:xfrm>
          <a:prstGeom prst="roundRect">
            <a:avLst>
              <a:gd name="adj" fmla="val 19734"/>
            </a:avLst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L side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AC7720F-23BA-40DB-80E4-AC3A24770C3B}"/>
              </a:ext>
            </a:extLst>
          </p:cNvPr>
          <p:cNvSpPr/>
          <p:nvPr/>
        </p:nvSpPr>
        <p:spPr>
          <a:xfrm>
            <a:off x="6096001" y="2811891"/>
            <a:ext cx="5413232" cy="35460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4DD0542-514A-428B-8CED-EA6C0C3EB710}"/>
              </a:ext>
            </a:extLst>
          </p:cNvPr>
          <p:cNvGrpSpPr/>
          <p:nvPr/>
        </p:nvGrpSpPr>
        <p:grpSpPr>
          <a:xfrm>
            <a:off x="6096000" y="1225212"/>
            <a:ext cx="4313361" cy="2021978"/>
            <a:chOff x="6096000" y="1225212"/>
            <a:chExt cx="4313361" cy="202197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C229F3E-54B1-4FFD-A248-976041FB7CCB}"/>
                </a:ext>
              </a:extLst>
            </p:cNvPr>
            <p:cNvSpPr txBox="1"/>
            <p:nvPr/>
          </p:nvSpPr>
          <p:spPr>
            <a:xfrm>
              <a:off x="6096000" y="1225212"/>
              <a:ext cx="8370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Case I: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794E5F1-092A-4FF3-B1AD-72291AF6CC37}"/>
                </a:ext>
              </a:extLst>
            </p:cNvPr>
            <p:cNvSpPr txBox="1"/>
            <p:nvPr/>
          </p:nvSpPr>
          <p:spPr>
            <a:xfrm>
              <a:off x="6520155" y="1677530"/>
              <a:ext cx="3889206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sv-SE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sv-SE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*(l+4*d+2*b+2*dust+2*ol)</a:t>
              </a:r>
              <a:endParaRPr lang="pl-PL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2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sv-SE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2</a:t>
              </a:r>
              <a:r>
                <a:rPr lang="sv-SE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*(l+4*d+2*b+2*dust+2*ol)</a:t>
              </a:r>
              <a:endParaRPr lang="pl-PL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3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sv-SE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3</a:t>
              </a:r>
              <a:r>
                <a:rPr lang="sv-SE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*(l+4*d+2*b+2*dust+2*ol)</a:t>
              </a:r>
              <a:endParaRPr lang="en-US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n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sv-SE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n</a:t>
              </a:r>
              <a:r>
                <a:rPr lang="sv-SE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*(l+4*d+2*b+2*dust+2*ol)</a:t>
              </a:r>
              <a:endParaRPr lang="en-US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1BB13D7-772A-46DA-BE8D-16D2E37FFBAD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18" name="สี่เหลี่ยมผืนผ้า 33">
              <a:extLst>
                <a:ext uri="{FF2B5EF4-FFF2-40B4-BE49-F238E27FC236}">
                  <a16:creationId xmlns:a16="http://schemas.microsoft.com/office/drawing/2014/main" id="{5DC462B0-4987-4E38-9A89-B87BEDFB68B2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กล่องข้อความ 34">
              <a:extLst>
                <a:ext uri="{FF2B5EF4-FFF2-40B4-BE49-F238E27FC236}">
                  <a16:creationId xmlns:a16="http://schemas.microsoft.com/office/drawing/2014/main" id="{289B350F-F8BB-43AE-AD72-71E78905B8A0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72512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FB17AF-314E-42D9-A41A-CBAA2786B75D}"/>
              </a:ext>
            </a:extLst>
          </p:cNvPr>
          <p:cNvSpPr txBox="1"/>
          <p:nvPr/>
        </p:nvSpPr>
        <p:spPr>
          <a:xfrm>
            <a:off x="-2" y="0"/>
            <a:ext cx="92416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Template Type 7:</a:t>
            </a:r>
            <a:r>
              <a:rPr lang="th-TH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กล่องเบนโตะ : </a:t>
            </a:r>
            <a:r>
              <a:rPr lang="en-US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Four Corner Beers Tray with Lid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DF99AC-A5F2-4FB5-9500-A5B79F33E5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5604" y="734119"/>
            <a:ext cx="4762448" cy="4384248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7F450275-4764-41FB-AF20-74E3754EC753}"/>
              </a:ext>
            </a:extLst>
          </p:cNvPr>
          <p:cNvGrpSpPr/>
          <p:nvPr/>
        </p:nvGrpSpPr>
        <p:grpSpPr>
          <a:xfrm>
            <a:off x="332607" y="1003177"/>
            <a:ext cx="400110" cy="2654423"/>
            <a:chOff x="332607" y="1003177"/>
            <a:chExt cx="400110" cy="2654423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ABF4E47-35B8-4993-BBF5-2A908137351E}"/>
                </a:ext>
              </a:extLst>
            </p:cNvPr>
            <p:cNvCxnSpPr>
              <a:cxnSpLocks/>
            </p:cNvCxnSpPr>
            <p:nvPr/>
          </p:nvCxnSpPr>
          <p:spPr>
            <a:xfrm>
              <a:off x="532660" y="1003177"/>
              <a:ext cx="0" cy="2654423"/>
            </a:xfrm>
            <a:prstGeom prst="straightConnector1">
              <a:avLst/>
            </a:prstGeom>
            <a:ln w="38100">
              <a:solidFill>
                <a:srgbClr val="00206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529A478-85D2-4CA5-A5E9-3BD9CA7D98D4}"/>
                </a:ext>
              </a:extLst>
            </p:cNvPr>
            <p:cNvSpPr txBox="1"/>
            <p:nvPr/>
          </p:nvSpPr>
          <p:spPr>
            <a:xfrm rot="16200000">
              <a:off x="135758" y="2295622"/>
              <a:ext cx="793807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 SIDE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86FB84B-3092-48A0-96F4-617FE9508B2C}"/>
              </a:ext>
            </a:extLst>
          </p:cNvPr>
          <p:cNvGrpSpPr/>
          <p:nvPr/>
        </p:nvGrpSpPr>
        <p:grpSpPr>
          <a:xfrm rot="5400000">
            <a:off x="2443272" y="2143126"/>
            <a:ext cx="400110" cy="3662039"/>
            <a:chOff x="347995" y="554854"/>
            <a:chExt cx="400110" cy="3662039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0327BDC-B0E0-4081-95D9-0249B8A67A4F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-1290665" y="2378179"/>
              <a:ext cx="3662039" cy="15390"/>
            </a:xfrm>
            <a:prstGeom prst="straightConnector1">
              <a:avLst/>
            </a:prstGeom>
            <a:ln w="38100">
              <a:solidFill>
                <a:schemeClr val="bg2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2541832-56A3-4053-87A8-C933033B1A85}"/>
                </a:ext>
              </a:extLst>
            </p:cNvPr>
            <p:cNvSpPr txBox="1"/>
            <p:nvPr/>
          </p:nvSpPr>
          <p:spPr>
            <a:xfrm rot="16200000">
              <a:off x="184008" y="2362146"/>
              <a:ext cx="728084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 SIDE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C757515-930D-4F45-9C41-5BA49C4DF3D6}"/>
              </a:ext>
            </a:extLst>
          </p:cNvPr>
          <p:cNvSpPr txBox="1"/>
          <p:nvPr/>
        </p:nvSpPr>
        <p:spPr>
          <a:xfrm>
            <a:off x="399923" y="4833869"/>
            <a:ext cx="3025187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Parameter: w, l, dust, n, 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7CFCB6-60A7-4E4A-9209-90426F58A436}"/>
              </a:ext>
            </a:extLst>
          </p:cNvPr>
          <p:cNvSpPr txBox="1"/>
          <p:nvPr/>
        </p:nvSpPr>
        <p:spPr>
          <a:xfrm>
            <a:off x="7197750" y="5432733"/>
            <a:ext cx="2683095" cy="4001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* : 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คูณ, </a:t>
            </a:r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/ :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หาร</a:t>
            </a:r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, N: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จำนวนชิ้นงาน</a:t>
            </a:r>
            <a:endParaRPr lang="en-US" sz="20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C6A82A5-1E31-4212-BE5B-773BC0ABC485}"/>
              </a:ext>
            </a:extLst>
          </p:cNvPr>
          <p:cNvSpPr txBox="1"/>
          <p:nvPr/>
        </p:nvSpPr>
        <p:spPr>
          <a:xfrm>
            <a:off x="5733734" y="584775"/>
            <a:ext cx="973856" cy="578882"/>
          </a:xfrm>
          <a:prstGeom prst="roundRect">
            <a:avLst>
              <a:gd name="adj" fmla="val 19734"/>
            </a:avLst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W side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AC7720F-23BA-40DB-80E4-AC3A24770C3B}"/>
              </a:ext>
            </a:extLst>
          </p:cNvPr>
          <p:cNvSpPr/>
          <p:nvPr/>
        </p:nvSpPr>
        <p:spPr>
          <a:xfrm>
            <a:off x="6520156" y="2811891"/>
            <a:ext cx="3850432" cy="35460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86B3302-13DB-497E-BCBC-92B0169795C5}"/>
              </a:ext>
            </a:extLst>
          </p:cNvPr>
          <p:cNvSpPr/>
          <p:nvPr/>
        </p:nvSpPr>
        <p:spPr>
          <a:xfrm>
            <a:off x="6520156" y="4918174"/>
            <a:ext cx="4768122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4DD0542-514A-428B-8CED-EA6C0C3EB710}"/>
              </a:ext>
            </a:extLst>
          </p:cNvPr>
          <p:cNvGrpSpPr/>
          <p:nvPr/>
        </p:nvGrpSpPr>
        <p:grpSpPr>
          <a:xfrm>
            <a:off x="6096000" y="1225212"/>
            <a:ext cx="4274585" cy="2021978"/>
            <a:chOff x="6096000" y="1225212"/>
            <a:chExt cx="4274585" cy="202197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C229F3E-54B1-4FFD-A248-976041FB7CCB}"/>
                </a:ext>
              </a:extLst>
            </p:cNvPr>
            <p:cNvSpPr txBox="1"/>
            <p:nvPr/>
          </p:nvSpPr>
          <p:spPr>
            <a:xfrm>
              <a:off x="6096000" y="1225212"/>
              <a:ext cx="250421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Case I: glue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&lt;=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(</a:t>
              </a:r>
              <a:r>
                <a:rPr lang="en-US" sz="2400" b="1" dirty="0" err="1">
                  <a:latin typeface="Cordia New" panose="020B0304020202020204" pitchFamily="34" charset="-34"/>
                  <a:cs typeface="Cordia New" panose="020B0304020202020204" pitchFamily="34" charset="-34"/>
                </a:rPr>
                <a:t>l+dust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)/2 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794E5F1-092A-4FF3-B1AD-72291AF6CC37}"/>
                </a:ext>
              </a:extLst>
            </p:cNvPr>
            <p:cNvSpPr txBox="1"/>
            <p:nvPr/>
          </p:nvSpPr>
          <p:spPr>
            <a:xfrm>
              <a:off x="6520154" y="1677530"/>
              <a:ext cx="3850431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(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)*(l+dust)+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*(2*b+w)</a:t>
              </a:r>
              <a:endParaRPr lang="en-US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2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(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2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)*(l+dust)+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2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*(2*b+w)</a:t>
              </a: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3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(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4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)*(l+dust)+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3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*(2*b+w) </a:t>
              </a: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n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(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n+1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)*(l+dust)+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n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*(2*b+w)</a:t>
              </a:r>
              <a:endParaRPr lang="en-US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A667EEE-4DC6-4A82-9234-3C4621C04321}"/>
              </a:ext>
            </a:extLst>
          </p:cNvPr>
          <p:cNvGrpSpPr/>
          <p:nvPr/>
        </p:nvGrpSpPr>
        <p:grpSpPr>
          <a:xfrm>
            <a:off x="6096000" y="3335111"/>
            <a:ext cx="4786247" cy="2021978"/>
            <a:chOff x="6096000" y="1225212"/>
            <a:chExt cx="4786247" cy="2021978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6B91C64-A0C2-4066-A2A6-EBFA47518801}"/>
                </a:ext>
              </a:extLst>
            </p:cNvPr>
            <p:cNvSpPr txBox="1"/>
            <p:nvPr/>
          </p:nvSpPr>
          <p:spPr>
            <a:xfrm>
              <a:off x="6096000" y="1225212"/>
              <a:ext cx="24432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Case II: glue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&gt;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(</a:t>
              </a:r>
              <a:r>
                <a:rPr lang="en-US" sz="2400" b="1" dirty="0" err="1">
                  <a:latin typeface="Cordia New" panose="020B0304020202020204" pitchFamily="34" charset="-34"/>
                  <a:cs typeface="Cordia New" panose="020B0304020202020204" pitchFamily="34" charset="-34"/>
                </a:rPr>
                <a:t>l+dust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)/2 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71E9E22-CAC3-4938-9F04-09DD61D87FA3}"/>
                </a:ext>
              </a:extLst>
            </p:cNvPr>
            <p:cNvSpPr txBox="1"/>
            <p:nvPr/>
          </p:nvSpPr>
          <p:spPr>
            <a:xfrm>
              <a:off x="6520155" y="1677530"/>
              <a:ext cx="4362092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2*(l+dust)+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*(w+2*b)+2*(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0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)*g</a:t>
              </a: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2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2*(l+dust)+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2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*(w+2*b)+2*(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)*g </a:t>
              </a: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3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2*(l+dust)+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3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*(w+2*b)+2*(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2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)*g</a:t>
              </a: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n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2*(l+dust)+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n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*(w+2*b)+2*(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n-1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)*g</a:t>
              </a:r>
              <a:endParaRPr lang="en-US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AABAF98-8C9F-4C00-8AFB-94E57042D095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22" name="สี่เหลี่ยมผืนผ้า 33">
              <a:extLst>
                <a:ext uri="{FF2B5EF4-FFF2-40B4-BE49-F238E27FC236}">
                  <a16:creationId xmlns:a16="http://schemas.microsoft.com/office/drawing/2014/main" id="{2DD1DEC6-31DA-411D-8072-18AC3EE5F799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กล่องข้อความ 34">
              <a:extLst>
                <a:ext uri="{FF2B5EF4-FFF2-40B4-BE49-F238E27FC236}">
                  <a16:creationId xmlns:a16="http://schemas.microsoft.com/office/drawing/2014/main" id="{25E0824E-BFB6-4054-ABBC-F903AF9A63D1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644941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FB17AF-314E-42D9-A41A-CBAA2786B75D}"/>
              </a:ext>
            </a:extLst>
          </p:cNvPr>
          <p:cNvSpPr txBox="1"/>
          <p:nvPr/>
        </p:nvSpPr>
        <p:spPr>
          <a:xfrm>
            <a:off x="-2" y="0"/>
            <a:ext cx="93393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Template Type 7:</a:t>
            </a:r>
            <a:r>
              <a:rPr lang="th-TH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กล่องเบนโตะ : </a:t>
            </a:r>
            <a:r>
              <a:rPr lang="en-US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Four Corner Beers Tray with Lid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DF99AC-A5F2-4FB5-9500-A5B79F33E5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8222" y="734119"/>
            <a:ext cx="4757213" cy="438424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4CECA9A-4BE1-45D4-8B3A-20152D984830}"/>
              </a:ext>
            </a:extLst>
          </p:cNvPr>
          <p:cNvSpPr/>
          <p:nvPr/>
        </p:nvSpPr>
        <p:spPr>
          <a:xfrm>
            <a:off x="6514544" y="2786472"/>
            <a:ext cx="2994361" cy="46071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B74323-591E-4C02-A13A-74FCEFF7501E}"/>
              </a:ext>
            </a:extLst>
          </p:cNvPr>
          <p:cNvSpPr txBox="1"/>
          <p:nvPr/>
        </p:nvSpPr>
        <p:spPr>
          <a:xfrm>
            <a:off x="5733734" y="584775"/>
            <a:ext cx="893218" cy="589002"/>
          </a:xfrm>
          <a:prstGeom prst="roundRect">
            <a:avLst>
              <a:gd name="adj" fmla="val 19734"/>
            </a:avLst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L side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7CFCB6-60A7-4E4A-9209-90426F58A436}"/>
              </a:ext>
            </a:extLst>
          </p:cNvPr>
          <p:cNvSpPr txBox="1"/>
          <p:nvPr/>
        </p:nvSpPr>
        <p:spPr>
          <a:xfrm>
            <a:off x="6670176" y="3457545"/>
            <a:ext cx="2683095" cy="4001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* : 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คูณ, </a:t>
            </a:r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/ :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หาร</a:t>
            </a:r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, N: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จำนวนชิ้นงาน</a:t>
            </a:r>
            <a:endParaRPr lang="en-US" sz="20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84310DE-506F-4ED1-8DA4-5EEC3148E528}"/>
              </a:ext>
            </a:extLst>
          </p:cNvPr>
          <p:cNvGrpSpPr/>
          <p:nvPr/>
        </p:nvGrpSpPr>
        <p:grpSpPr>
          <a:xfrm>
            <a:off x="6096000" y="1225212"/>
            <a:ext cx="3316293" cy="2021978"/>
            <a:chOff x="6096000" y="1225212"/>
            <a:chExt cx="3316293" cy="202197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8F07B25-69FD-47F1-9267-6D6638CF7E33}"/>
                </a:ext>
              </a:extLst>
            </p:cNvPr>
            <p:cNvSpPr txBox="1"/>
            <p:nvPr/>
          </p:nvSpPr>
          <p:spPr>
            <a:xfrm>
              <a:off x="6096000" y="1225212"/>
              <a:ext cx="8370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Case I: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845526E-7348-426C-98DB-50B0C85B303E}"/>
                </a:ext>
              </a:extLst>
            </p:cNvPr>
            <p:cNvSpPr txBox="1"/>
            <p:nvPr/>
          </p:nvSpPr>
          <p:spPr>
            <a:xfrm>
              <a:off x="6520155" y="1677530"/>
              <a:ext cx="2892138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*(2*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d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+2*b+3*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</a:t>
              </a:r>
              <a:endParaRPr lang="en-US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2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2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*(2*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d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+2*b+3*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</a:t>
              </a:r>
              <a:endParaRPr lang="en-US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3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3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*(2*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d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+2*b+3*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</a:t>
              </a:r>
              <a:endParaRPr lang="en-US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n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pl-PL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n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*(2*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d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+2*b+3*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</a:t>
              </a:r>
              <a:endParaRPr lang="en-US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1BEAE9A-1DBB-4EAB-86FE-866D3DA53753}"/>
              </a:ext>
            </a:extLst>
          </p:cNvPr>
          <p:cNvGrpSpPr/>
          <p:nvPr/>
        </p:nvGrpSpPr>
        <p:grpSpPr>
          <a:xfrm>
            <a:off x="332607" y="1003177"/>
            <a:ext cx="400110" cy="2654423"/>
            <a:chOff x="332607" y="1003177"/>
            <a:chExt cx="400110" cy="2654423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FC56C97-5454-4FC2-9655-A2A655F39A2F}"/>
                </a:ext>
              </a:extLst>
            </p:cNvPr>
            <p:cNvCxnSpPr>
              <a:cxnSpLocks/>
            </p:cNvCxnSpPr>
            <p:nvPr/>
          </p:nvCxnSpPr>
          <p:spPr>
            <a:xfrm>
              <a:off x="532660" y="1003177"/>
              <a:ext cx="0" cy="2654423"/>
            </a:xfrm>
            <a:prstGeom prst="straightConnector1">
              <a:avLst/>
            </a:prstGeom>
            <a:ln w="38100">
              <a:solidFill>
                <a:schemeClr val="bg1">
                  <a:lumMod val="6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A6A99E8-91FC-4A0A-A061-EE1B8CFFD5B0}"/>
                </a:ext>
              </a:extLst>
            </p:cNvPr>
            <p:cNvSpPr txBox="1"/>
            <p:nvPr/>
          </p:nvSpPr>
          <p:spPr>
            <a:xfrm rot="16200000">
              <a:off x="135758" y="2295622"/>
              <a:ext cx="793807" cy="400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 SIDE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649D329-6835-43E1-A98E-322407574B4A}"/>
              </a:ext>
            </a:extLst>
          </p:cNvPr>
          <p:cNvGrpSpPr/>
          <p:nvPr/>
        </p:nvGrpSpPr>
        <p:grpSpPr>
          <a:xfrm rot="5400000">
            <a:off x="2443272" y="2143126"/>
            <a:ext cx="400110" cy="3662039"/>
            <a:chOff x="347995" y="554854"/>
            <a:chExt cx="400110" cy="3662039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9B81F571-4ADB-4892-A26D-DE8431A21F4F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-1290665" y="2378179"/>
              <a:ext cx="3662039" cy="15390"/>
            </a:xfrm>
            <a:prstGeom prst="straightConnector1">
              <a:avLst/>
            </a:prstGeom>
            <a:ln w="38100">
              <a:solidFill>
                <a:srgbClr val="00206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30D7D3F-1998-428D-BAF1-A5F6B1A1F30D}"/>
                </a:ext>
              </a:extLst>
            </p:cNvPr>
            <p:cNvSpPr txBox="1"/>
            <p:nvPr/>
          </p:nvSpPr>
          <p:spPr>
            <a:xfrm rot="16200000">
              <a:off x="184008" y="2362146"/>
              <a:ext cx="728084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 SIDE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8210297D-A735-49E1-881C-A8446BF288D1}"/>
              </a:ext>
            </a:extLst>
          </p:cNvPr>
          <p:cNvSpPr txBox="1"/>
          <p:nvPr/>
        </p:nvSpPr>
        <p:spPr>
          <a:xfrm>
            <a:off x="399923" y="4833869"/>
            <a:ext cx="2316660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Parameter: d, l, n, b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BCA5AD4-0912-43C1-90BE-2730F48CE28F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27" name="สี่เหลี่ยมผืนผ้า 33">
              <a:extLst>
                <a:ext uri="{FF2B5EF4-FFF2-40B4-BE49-F238E27FC236}">
                  <a16:creationId xmlns:a16="http://schemas.microsoft.com/office/drawing/2014/main" id="{4B2101AC-4E14-4F93-B821-F75D2917042B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กล่องข้อความ 34">
              <a:extLst>
                <a:ext uri="{FF2B5EF4-FFF2-40B4-BE49-F238E27FC236}">
                  <a16:creationId xmlns:a16="http://schemas.microsoft.com/office/drawing/2014/main" id="{971A7068-CA5A-46F8-87A6-997B31D615D8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65750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FB17AF-314E-42D9-A41A-CBAA2786B75D}"/>
              </a:ext>
            </a:extLst>
          </p:cNvPr>
          <p:cNvSpPr txBox="1"/>
          <p:nvPr/>
        </p:nvSpPr>
        <p:spPr>
          <a:xfrm>
            <a:off x="-2" y="0"/>
            <a:ext cx="90374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Template Type 8:</a:t>
            </a:r>
            <a:r>
              <a:rPr lang="th-TH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กล่องทรงจั่ว : </a:t>
            </a:r>
            <a:r>
              <a:rPr lang="en-US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Gable Top with Auto Bottom***(review)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DF99AC-A5F2-4FB5-9500-A5B79F33E5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7047" y="726230"/>
            <a:ext cx="4759562" cy="440002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7F450275-4764-41FB-AF20-74E3754EC753}"/>
              </a:ext>
            </a:extLst>
          </p:cNvPr>
          <p:cNvGrpSpPr/>
          <p:nvPr/>
        </p:nvGrpSpPr>
        <p:grpSpPr>
          <a:xfrm>
            <a:off x="332608" y="1003177"/>
            <a:ext cx="400110" cy="2425823"/>
            <a:chOff x="332608" y="1003177"/>
            <a:chExt cx="400110" cy="2425823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ABF4E47-35B8-4993-BBF5-2A908137351E}"/>
                </a:ext>
              </a:extLst>
            </p:cNvPr>
            <p:cNvCxnSpPr>
              <a:cxnSpLocks/>
            </p:cNvCxnSpPr>
            <p:nvPr/>
          </p:nvCxnSpPr>
          <p:spPr>
            <a:xfrm>
              <a:off x="532660" y="1003177"/>
              <a:ext cx="0" cy="2425823"/>
            </a:xfrm>
            <a:prstGeom prst="straightConnector1">
              <a:avLst/>
            </a:prstGeom>
            <a:ln w="38100">
              <a:solidFill>
                <a:srgbClr val="00206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529A478-85D2-4CA5-A5E9-3BD9CA7D98D4}"/>
                </a:ext>
              </a:extLst>
            </p:cNvPr>
            <p:cNvSpPr txBox="1"/>
            <p:nvPr/>
          </p:nvSpPr>
          <p:spPr>
            <a:xfrm rot="16200000">
              <a:off x="135759" y="2095715"/>
              <a:ext cx="793807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 SIDE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86FB84B-3092-48A0-96F4-617FE9508B2C}"/>
              </a:ext>
            </a:extLst>
          </p:cNvPr>
          <p:cNvGrpSpPr/>
          <p:nvPr/>
        </p:nvGrpSpPr>
        <p:grpSpPr>
          <a:xfrm rot="5400000">
            <a:off x="2796158" y="1956359"/>
            <a:ext cx="400110" cy="3213716"/>
            <a:chOff x="347995" y="1003177"/>
            <a:chExt cx="400110" cy="3213716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0327BDC-B0E0-4081-95D9-0249B8A67A4F}"/>
                </a:ext>
              </a:extLst>
            </p:cNvPr>
            <p:cNvCxnSpPr/>
            <p:nvPr/>
          </p:nvCxnSpPr>
          <p:spPr>
            <a:xfrm>
              <a:off x="532660" y="1003177"/>
              <a:ext cx="0" cy="3213716"/>
            </a:xfrm>
            <a:prstGeom prst="straightConnector1">
              <a:avLst/>
            </a:prstGeom>
            <a:ln w="38100">
              <a:solidFill>
                <a:schemeClr val="bg2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2541832-56A3-4053-87A8-C933033B1A85}"/>
                </a:ext>
              </a:extLst>
            </p:cNvPr>
            <p:cNvSpPr txBox="1"/>
            <p:nvPr/>
          </p:nvSpPr>
          <p:spPr>
            <a:xfrm rot="16200000">
              <a:off x="184008" y="2362146"/>
              <a:ext cx="728084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 SIDE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C757515-930D-4F45-9C41-5BA49C4DF3D6}"/>
              </a:ext>
            </a:extLst>
          </p:cNvPr>
          <p:cNvSpPr txBox="1"/>
          <p:nvPr/>
        </p:nvSpPr>
        <p:spPr>
          <a:xfrm>
            <a:off x="399923" y="4833869"/>
            <a:ext cx="2975495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Parameter: w, d, t,</a:t>
            </a:r>
            <a:r>
              <a:rPr lang="th-TH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n, b, </a:t>
            </a:r>
            <a:r>
              <a:rPr lang="en-US" sz="2800" b="1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ol</a:t>
            </a:r>
            <a:endParaRPr lang="en-US" sz="28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7CFCB6-60A7-4E4A-9209-90426F58A436}"/>
              </a:ext>
            </a:extLst>
          </p:cNvPr>
          <p:cNvSpPr txBox="1"/>
          <p:nvPr/>
        </p:nvSpPr>
        <p:spPr>
          <a:xfrm>
            <a:off x="7439567" y="3410756"/>
            <a:ext cx="2683095" cy="4001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* : 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คูณ, </a:t>
            </a:r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/ :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หาร</a:t>
            </a:r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, N: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จำนวนชิ้นงาน</a:t>
            </a:r>
            <a:endParaRPr lang="en-US" sz="20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C6A82A5-1E31-4212-BE5B-773BC0ABC485}"/>
              </a:ext>
            </a:extLst>
          </p:cNvPr>
          <p:cNvSpPr txBox="1"/>
          <p:nvPr/>
        </p:nvSpPr>
        <p:spPr>
          <a:xfrm>
            <a:off x="5733734" y="584775"/>
            <a:ext cx="1167202" cy="589002"/>
          </a:xfrm>
          <a:prstGeom prst="roundRect">
            <a:avLst>
              <a:gd name="adj" fmla="val 19734"/>
            </a:avLst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W side**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AC7720F-23BA-40DB-80E4-AC3A24770C3B}"/>
              </a:ext>
            </a:extLst>
          </p:cNvPr>
          <p:cNvSpPr/>
          <p:nvPr/>
        </p:nvSpPr>
        <p:spPr>
          <a:xfrm>
            <a:off x="6520155" y="2811891"/>
            <a:ext cx="4896527" cy="35460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4DD0542-514A-428B-8CED-EA6C0C3EB710}"/>
              </a:ext>
            </a:extLst>
          </p:cNvPr>
          <p:cNvGrpSpPr/>
          <p:nvPr/>
        </p:nvGrpSpPr>
        <p:grpSpPr>
          <a:xfrm>
            <a:off x="6096000" y="1225212"/>
            <a:ext cx="4887236" cy="2021978"/>
            <a:chOff x="6096000" y="1225212"/>
            <a:chExt cx="4887236" cy="202197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C229F3E-54B1-4FFD-A248-976041FB7CCB}"/>
                </a:ext>
              </a:extLst>
            </p:cNvPr>
            <p:cNvSpPr txBox="1"/>
            <p:nvPr/>
          </p:nvSpPr>
          <p:spPr>
            <a:xfrm>
              <a:off x="6096000" y="1225212"/>
              <a:ext cx="8370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Case I: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794E5F1-092A-4FF3-B1AD-72291AF6CC37}"/>
                </a:ext>
              </a:extLst>
            </p:cNvPr>
            <p:cNvSpPr txBox="1"/>
            <p:nvPr/>
          </p:nvSpPr>
          <p:spPr>
            <a:xfrm>
              <a:off x="6520155" y="1677530"/>
              <a:ext cx="4463081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*(t+2*d+2*b)+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*w/2+(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)*(ol)</a:t>
              </a:r>
              <a:endParaRPr lang="en-US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2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2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*(t+2*d+2*b)+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2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*w/2+(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0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)*(ol) </a:t>
              </a: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3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3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*(t+2*d+2*b)+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3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*w/2+(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)*(ol)</a:t>
              </a: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n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n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*(t+2*d+2*b)+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n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*w/2+(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n%2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)*(ol)</a:t>
              </a:r>
              <a:endParaRPr lang="en-US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03B1756-E2AE-470D-9BBD-71A5060E2B6D}"/>
              </a:ext>
            </a:extLst>
          </p:cNvPr>
          <p:cNvSpPr txBox="1"/>
          <p:nvPr/>
        </p:nvSpPr>
        <p:spPr>
          <a:xfrm>
            <a:off x="1528685" y="3147717"/>
            <a:ext cx="359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ol</a:t>
            </a:r>
            <a:endParaRPr lang="en-US" sz="14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3A13F4-6321-41AF-B596-33C55F3FEA92}"/>
              </a:ext>
            </a:extLst>
          </p:cNvPr>
          <p:cNvSpPr txBox="1"/>
          <p:nvPr/>
        </p:nvSpPr>
        <p:spPr>
          <a:xfrm>
            <a:off x="2045852" y="1500911"/>
            <a:ext cx="8436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Tuck flap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48A8EF8-95A1-4798-A79D-1CEDF9C158BB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21" name="สี่เหลี่ยมผืนผ้า 33">
              <a:extLst>
                <a:ext uri="{FF2B5EF4-FFF2-40B4-BE49-F238E27FC236}">
                  <a16:creationId xmlns:a16="http://schemas.microsoft.com/office/drawing/2014/main" id="{09FD298A-0F72-41B3-89B6-52BD552C882C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กล่องข้อความ 34">
              <a:extLst>
                <a:ext uri="{FF2B5EF4-FFF2-40B4-BE49-F238E27FC236}">
                  <a16:creationId xmlns:a16="http://schemas.microsoft.com/office/drawing/2014/main" id="{860F3CEC-E210-44E5-B4EB-209C2ED8CF44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009065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FB17AF-314E-42D9-A41A-CBAA2786B75D}"/>
              </a:ext>
            </a:extLst>
          </p:cNvPr>
          <p:cNvSpPr txBox="1"/>
          <p:nvPr/>
        </p:nvSpPr>
        <p:spPr>
          <a:xfrm>
            <a:off x="-2" y="0"/>
            <a:ext cx="7918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Template Type 8:</a:t>
            </a:r>
            <a:r>
              <a:rPr lang="th-TH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กล่องทรงจั่ว : </a:t>
            </a:r>
            <a:r>
              <a:rPr lang="en-US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Gable Top with Auto Bottom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CECA9A-4BE1-45D4-8B3A-20152D984830}"/>
              </a:ext>
            </a:extLst>
          </p:cNvPr>
          <p:cNvSpPr/>
          <p:nvPr/>
        </p:nvSpPr>
        <p:spPr>
          <a:xfrm>
            <a:off x="6096000" y="2786472"/>
            <a:ext cx="5036598" cy="46071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B74323-591E-4C02-A13A-74FCEFF7501E}"/>
              </a:ext>
            </a:extLst>
          </p:cNvPr>
          <p:cNvSpPr txBox="1"/>
          <p:nvPr/>
        </p:nvSpPr>
        <p:spPr>
          <a:xfrm>
            <a:off x="5733734" y="584775"/>
            <a:ext cx="893218" cy="589002"/>
          </a:xfrm>
          <a:prstGeom prst="roundRect">
            <a:avLst>
              <a:gd name="adj" fmla="val 19734"/>
            </a:avLst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L side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7CFCB6-60A7-4E4A-9209-90426F58A436}"/>
              </a:ext>
            </a:extLst>
          </p:cNvPr>
          <p:cNvSpPr txBox="1"/>
          <p:nvPr/>
        </p:nvSpPr>
        <p:spPr>
          <a:xfrm>
            <a:off x="6825810" y="5639469"/>
            <a:ext cx="2683095" cy="4001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* : 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คูณ, </a:t>
            </a:r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/ :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หาร</a:t>
            </a:r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, N: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จำนวนชิ้นงาน</a:t>
            </a:r>
            <a:endParaRPr lang="en-US" sz="20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84310DE-506F-4ED1-8DA4-5EEC3148E528}"/>
              </a:ext>
            </a:extLst>
          </p:cNvPr>
          <p:cNvGrpSpPr/>
          <p:nvPr/>
        </p:nvGrpSpPr>
        <p:grpSpPr>
          <a:xfrm>
            <a:off x="6096000" y="1225212"/>
            <a:ext cx="3434916" cy="2049971"/>
            <a:chOff x="6096000" y="1225212"/>
            <a:chExt cx="3434916" cy="204997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8F07B25-69FD-47F1-9267-6D6638CF7E33}"/>
                </a:ext>
              </a:extLst>
            </p:cNvPr>
            <p:cNvSpPr txBox="1"/>
            <p:nvPr/>
          </p:nvSpPr>
          <p:spPr>
            <a:xfrm>
              <a:off x="6096000" y="1225212"/>
              <a:ext cx="34129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Case I: 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กรณี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 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ของ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w side =1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845526E-7348-426C-98DB-50B0C85B303E}"/>
                </a:ext>
              </a:extLst>
            </p:cNvPr>
            <p:cNvSpPr txBox="1"/>
            <p:nvPr/>
          </p:nvSpPr>
          <p:spPr>
            <a:xfrm>
              <a:off x="6520155" y="1705523"/>
              <a:ext cx="3010761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*(2*(w+l+b)+g) </a:t>
              </a:r>
              <a:endParaRPr lang="en-US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2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2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*(2*(w+l+b)+g) </a:t>
              </a:r>
              <a:endParaRPr lang="en-US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3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3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*(2*(w+l+b)+g) </a:t>
              </a:r>
              <a:endParaRPr lang="en-US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n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pl-PL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n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*(2*(w+l+b)+g)</a:t>
              </a:r>
              <a:endParaRPr lang="en-US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E65118BC-EDA1-4599-9D6A-C94C7FFF99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7047" y="726230"/>
            <a:ext cx="4759562" cy="4400027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93B1FC39-C660-47CC-A33F-BFCC9E225669}"/>
              </a:ext>
            </a:extLst>
          </p:cNvPr>
          <p:cNvGrpSpPr/>
          <p:nvPr/>
        </p:nvGrpSpPr>
        <p:grpSpPr>
          <a:xfrm>
            <a:off x="332608" y="1003177"/>
            <a:ext cx="400110" cy="2425823"/>
            <a:chOff x="332608" y="1003177"/>
            <a:chExt cx="400110" cy="2425823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A7B7164D-4D28-4678-8412-DD1CD7215AE2}"/>
                </a:ext>
              </a:extLst>
            </p:cNvPr>
            <p:cNvCxnSpPr>
              <a:cxnSpLocks/>
            </p:cNvCxnSpPr>
            <p:nvPr/>
          </p:nvCxnSpPr>
          <p:spPr>
            <a:xfrm>
              <a:off x="532660" y="1003177"/>
              <a:ext cx="0" cy="2425823"/>
            </a:xfrm>
            <a:prstGeom prst="straightConnector1">
              <a:avLst/>
            </a:prstGeom>
            <a:ln w="38100">
              <a:solidFill>
                <a:schemeClr val="bg1">
                  <a:lumMod val="6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C073FF2-E0C5-43D0-A4A4-2578587464D0}"/>
                </a:ext>
              </a:extLst>
            </p:cNvPr>
            <p:cNvSpPr txBox="1"/>
            <p:nvPr/>
          </p:nvSpPr>
          <p:spPr>
            <a:xfrm rot="16200000">
              <a:off x="135759" y="2095715"/>
              <a:ext cx="793807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 SIDE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DF0852C-E4D8-49F6-BBBB-A10730C209A2}"/>
              </a:ext>
            </a:extLst>
          </p:cNvPr>
          <p:cNvGrpSpPr/>
          <p:nvPr/>
        </p:nvGrpSpPr>
        <p:grpSpPr>
          <a:xfrm rot="5400000">
            <a:off x="2796158" y="1956359"/>
            <a:ext cx="400110" cy="3213716"/>
            <a:chOff x="347995" y="1003177"/>
            <a:chExt cx="400110" cy="3213716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B6BFF5FA-A779-42BC-9C1D-D411FC9FF9D7}"/>
                </a:ext>
              </a:extLst>
            </p:cNvPr>
            <p:cNvCxnSpPr/>
            <p:nvPr/>
          </p:nvCxnSpPr>
          <p:spPr>
            <a:xfrm>
              <a:off x="532660" y="1003177"/>
              <a:ext cx="0" cy="3213716"/>
            </a:xfrm>
            <a:prstGeom prst="straightConnector1">
              <a:avLst/>
            </a:prstGeom>
            <a:ln w="38100">
              <a:solidFill>
                <a:srgbClr val="00206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30558FE-0588-46D7-8F13-F1C89D60E2AF}"/>
                </a:ext>
              </a:extLst>
            </p:cNvPr>
            <p:cNvSpPr txBox="1"/>
            <p:nvPr/>
          </p:nvSpPr>
          <p:spPr>
            <a:xfrm rot="16200000">
              <a:off x="184008" y="2362146"/>
              <a:ext cx="728084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 SIDE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B3F74FA1-4D1F-4D19-A4CD-630E30331F33}"/>
              </a:ext>
            </a:extLst>
          </p:cNvPr>
          <p:cNvSpPr txBox="1"/>
          <p:nvPr/>
        </p:nvSpPr>
        <p:spPr>
          <a:xfrm>
            <a:off x="399923" y="4833869"/>
            <a:ext cx="2632452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Parameter: w, l,</a:t>
            </a:r>
            <a:r>
              <a:rPr lang="th-TH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n, b, g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A524919-E48B-4303-9E0F-6E919EEEA085}"/>
              </a:ext>
            </a:extLst>
          </p:cNvPr>
          <p:cNvSpPr/>
          <p:nvPr/>
        </p:nvSpPr>
        <p:spPr>
          <a:xfrm>
            <a:off x="6096000" y="5077222"/>
            <a:ext cx="5036598" cy="46071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2CDEF55-3DB6-492F-BA40-73F6A4DEB303}"/>
              </a:ext>
            </a:extLst>
          </p:cNvPr>
          <p:cNvSpPr txBox="1"/>
          <p:nvPr/>
        </p:nvSpPr>
        <p:spPr>
          <a:xfrm>
            <a:off x="1528685" y="3147717"/>
            <a:ext cx="359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ol</a:t>
            </a:r>
            <a:endParaRPr lang="en-US" sz="14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24A6104-388B-435C-95D8-340A612F6FAE}"/>
              </a:ext>
            </a:extLst>
          </p:cNvPr>
          <p:cNvSpPr txBox="1"/>
          <p:nvPr/>
        </p:nvSpPr>
        <p:spPr>
          <a:xfrm>
            <a:off x="2045852" y="1500911"/>
            <a:ext cx="8436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Tuck flap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19A371F-3210-45F4-83C2-D3286F0289A3}"/>
              </a:ext>
            </a:extLst>
          </p:cNvPr>
          <p:cNvGrpSpPr/>
          <p:nvPr/>
        </p:nvGrpSpPr>
        <p:grpSpPr>
          <a:xfrm>
            <a:off x="6096000" y="3547827"/>
            <a:ext cx="3684984" cy="2021978"/>
            <a:chOff x="6096000" y="1225212"/>
            <a:chExt cx="3684984" cy="2021978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7C98E2F-E2EC-4E03-9DE8-81B9F471285F}"/>
                </a:ext>
              </a:extLst>
            </p:cNvPr>
            <p:cNvSpPr txBox="1"/>
            <p:nvPr/>
          </p:nvSpPr>
          <p:spPr>
            <a:xfrm>
              <a:off x="6096000" y="1225212"/>
              <a:ext cx="34129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Case II: 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กรณี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 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ของ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w side &gt;1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A79EB99-E95F-45A4-BD1B-47127D993E4F}"/>
                </a:ext>
              </a:extLst>
            </p:cNvPr>
            <p:cNvSpPr txBox="1"/>
            <p:nvPr/>
          </p:nvSpPr>
          <p:spPr>
            <a:xfrm>
              <a:off x="6520155" y="1677530"/>
              <a:ext cx="3260829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2*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w+l+b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)+(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2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)*g</a:t>
              </a:r>
              <a:endParaRPr lang="en-US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2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2*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2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w+l+b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)+(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3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)*g</a:t>
              </a: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3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2*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3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w+l+b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)+(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4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)*g</a:t>
              </a: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n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2*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n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w+l+b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)+(</a:t>
              </a:r>
              <a:r>
                <a:rPr lang="pt-BR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n+1</a:t>
              </a:r>
              <a:r>
                <a:rPr lang="pt-BR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)*g</a:t>
              </a:r>
              <a:endParaRPr lang="en-US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9E9F4F2-C2CF-48AC-B741-ECD3DF88449D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24" name="สี่เหลี่ยมผืนผ้า 33">
              <a:extLst>
                <a:ext uri="{FF2B5EF4-FFF2-40B4-BE49-F238E27FC236}">
                  <a16:creationId xmlns:a16="http://schemas.microsoft.com/office/drawing/2014/main" id="{8F695F63-FDF4-47F1-BBC6-3F85A4B3F713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กล่องข้อความ 34">
              <a:extLst>
                <a:ext uri="{FF2B5EF4-FFF2-40B4-BE49-F238E27FC236}">
                  <a16:creationId xmlns:a16="http://schemas.microsoft.com/office/drawing/2014/main" id="{4F125B1F-1825-4B01-9DF8-5AB8F8F200E0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83591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FB17AF-314E-42D9-A41A-CBAA2786B75D}"/>
              </a:ext>
            </a:extLst>
          </p:cNvPr>
          <p:cNvSpPr txBox="1"/>
          <p:nvPr/>
        </p:nvSpPr>
        <p:spPr>
          <a:xfrm>
            <a:off x="-2" y="0"/>
            <a:ext cx="7235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Template Type 9:</a:t>
            </a:r>
            <a:r>
              <a:rPr lang="th-TH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ปลอกกล่อง : </a:t>
            </a:r>
            <a:r>
              <a:rPr lang="en-US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Sleeve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DF99AC-A5F2-4FB5-9500-A5B79F33E5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6176" y="726230"/>
            <a:ext cx="4621304" cy="440002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7F450275-4764-41FB-AF20-74E3754EC753}"/>
              </a:ext>
            </a:extLst>
          </p:cNvPr>
          <p:cNvGrpSpPr/>
          <p:nvPr/>
        </p:nvGrpSpPr>
        <p:grpSpPr>
          <a:xfrm>
            <a:off x="332607" y="1003177"/>
            <a:ext cx="400110" cy="3213716"/>
            <a:chOff x="332607" y="1003177"/>
            <a:chExt cx="400110" cy="3213716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ABF4E47-35B8-4993-BBF5-2A908137351E}"/>
                </a:ext>
              </a:extLst>
            </p:cNvPr>
            <p:cNvCxnSpPr/>
            <p:nvPr/>
          </p:nvCxnSpPr>
          <p:spPr>
            <a:xfrm>
              <a:off x="532660" y="1003177"/>
              <a:ext cx="0" cy="3213716"/>
            </a:xfrm>
            <a:prstGeom prst="straightConnector1">
              <a:avLst/>
            </a:prstGeom>
            <a:ln w="38100">
              <a:solidFill>
                <a:srgbClr val="00206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529A478-85D2-4CA5-A5E9-3BD9CA7D98D4}"/>
                </a:ext>
              </a:extLst>
            </p:cNvPr>
            <p:cNvSpPr txBox="1"/>
            <p:nvPr/>
          </p:nvSpPr>
          <p:spPr>
            <a:xfrm rot="16200000">
              <a:off x="135758" y="2295622"/>
              <a:ext cx="793807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 SIDE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86FB84B-3092-48A0-96F4-617FE9508B2C}"/>
              </a:ext>
            </a:extLst>
          </p:cNvPr>
          <p:cNvGrpSpPr/>
          <p:nvPr/>
        </p:nvGrpSpPr>
        <p:grpSpPr>
          <a:xfrm rot="5400000">
            <a:off x="2219110" y="2982634"/>
            <a:ext cx="400110" cy="3213716"/>
            <a:chOff x="347995" y="1003177"/>
            <a:chExt cx="400110" cy="3213716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0327BDC-B0E0-4081-95D9-0249B8A67A4F}"/>
                </a:ext>
              </a:extLst>
            </p:cNvPr>
            <p:cNvCxnSpPr/>
            <p:nvPr/>
          </p:nvCxnSpPr>
          <p:spPr>
            <a:xfrm>
              <a:off x="532660" y="1003177"/>
              <a:ext cx="0" cy="3213716"/>
            </a:xfrm>
            <a:prstGeom prst="straightConnector1">
              <a:avLst/>
            </a:prstGeom>
            <a:ln w="38100">
              <a:solidFill>
                <a:schemeClr val="bg2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2541832-56A3-4053-87A8-C933033B1A85}"/>
                </a:ext>
              </a:extLst>
            </p:cNvPr>
            <p:cNvSpPr txBox="1"/>
            <p:nvPr/>
          </p:nvSpPr>
          <p:spPr>
            <a:xfrm rot="16200000">
              <a:off x="184008" y="2362146"/>
              <a:ext cx="728084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 SIDE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C757515-930D-4F45-9C41-5BA49C4DF3D6}"/>
              </a:ext>
            </a:extLst>
          </p:cNvPr>
          <p:cNvSpPr txBox="1"/>
          <p:nvPr/>
        </p:nvSpPr>
        <p:spPr>
          <a:xfrm>
            <a:off x="399923" y="4833869"/>
            <a:ext cx="2117887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Parameter: d, n, 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7CFCB6-60A7-4E4A-9209-90426F58A436}"/>
              </a:ext>
            </a:extLst>
          </p:cNvPr>
          <p:cNvSpPr txBox="1"/>
          <p:nvPr/>
        </p:nvSpPr>
        <p:spPr>
          <a:xfrm>
            <a:off x="6814522" y="3291391"/>
            <a:ext cx="2683095" cy="4001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* : 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คูณ, </a:t>
            </a:r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/ :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หาร</a:t>
            </a:r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, N: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จำนวนชิ้นงาน</a:t>
            </a:r>
            <a:endParaRPr lang="en-US" sz="20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C6A82A5-1E31-4212-BE5B-773BC0ABC485}"/>
              </a:ext>
            </a:extLst>
          </p:cNvPr>
          <p:cNvSpPr txBox="1"/>
          <p:nvPr/>
        </p:nvSpPr>
        <p:spPr>
          <a:xfrm>
            <a:off x="5733734" y="584775"/>
            <a:ext cx="973856" cy="578882"/>
          </a:xfrm>
          <a:prstGeom prst="roundRect">
            <a:avLst>
              <a:gd name="adj" fmla="val 19734"/>
            </a:avLst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W side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AC7720F-23BA-40DB-80E4-AC3A24770C3B}"/>
              </a:ext>
            </a:extLst>
          </p:cNvPr>
          <p:cNvSpPr/>
          <p:nvPr/>
        </p:nvSpPr>
        <p:spPr>
          <a:xfrm>
            <a:off x="6520156" y="2802560"/>
            <a:ext cx="3576620" cy="3937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C229F3E-54B1-4FFD-A248-976041FB7CCB}"/>
              </a:ext>
            </a:extLst>
          </p:cNvPr>
          <p:cNvSpPr txBox="1"/>
          <p:nvPr/>
        </p:nvSpPr>
        <p:spPr>
          <a:xfrm>
            <a:off x="6096001" y="1225212"/>
            <a:ext cx="8370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Case I: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B09EDE-0BCD-4782-AE1A-27390DF43AC9}"/>
              </a:ext>
            </a:extLst>
          </p:cNvPr>
          <p:cNvSpPr txBox="1"/>
          <p:nvPr/>
        </p:nvSpPr>
        <p:spPr>
          <a:xfrm>
            <a:off x="6520155" y="1677530"/>
            <a:ext cx="251863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N=</a:t>
            </a:r>
            <a:r>
              <a:rPr lang="en-US" sz="2400" b="1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1</a:t>
            </a:r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:</a:t>
            </a:r>
            <a:r>
              <a:rPr lang="en-US" sz="2400" b="1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w</a:t>
            </a:r>
            <a:r>
              <a:rPr lang="th-TH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side = </a:t>
            </a:r>
            <a:r>
              <a:rPr lang="en-US" sz="2400" b="1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1</a:t>
            </a:r>
            <a:r>
              <a:rPr lang="pl-PL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*(d+2*b)</a:t>
            </a:r>
            <a:endParaRPr lang="en-US" sz="24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N=</a:t>
            </a:r>
            <a:r>
              <a:rPr lang="en-US" sz="2400" b="1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2</a:t>
            </a:r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:</a:t>
            </a:r>
            <a:r>
              <a:rPr lang="en-US" sz="2400" b="1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w</a:t>
            </a:r>
            <a:r>
              <a:rPr lang="th-TH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side = </a:t>
            </a:r>
            <a:r>
              <a:rPr lang="en-US" sz="2400" b="1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2</a:t>
            </a:r>
            <a:r>
              <a:rPr lang="pl-PL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*(d+2*b)) </a:t>
            </a:r>
            <a:endParaRPr lang="en-US" sz="24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N=</a:t>
            </a:r>
            <a:r>
              <a:rPr lang="en-US" sz="2400" b="1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3</a:t>
            </a:r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:</a:t>
            </a:r>
            <a:r>
              <a:rPr lang="en-US" sz="2400" b="1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w</a:t>
            </a:r>
            <a:r>
              <a:rPr lang="th-TH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side = </a:t>
            </a:r>
            <a:r>
              <a:rPr lang="en-US" sz="2400" b="1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3</a:t>
            </a:r>
            <a:r>
              <a:rPr lang="pl-PL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*(d+2*b)</a:t>
            </a:r>
            <a:endParaRPr lang="en-US" sz="24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N=</a:t>
            </a:r>
            <a:r>
              <a:rPr lang="en-US" sz="2400" b="1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n</a:t>
            </a:r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:</a:t>
            </a:r>
            <a:r>
              <a:rPr lang="en-US" sz="2400" b="1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w</a:t>
            </a:r>
            <a:r>
              <a:rPr lang="th-TH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side = </a:t>
            </a:r>
            <a:r>
              <a:rPr lang="pl-PL" sz="2400" b="1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n</a:t>
            </a:r>
            <a:r>
              <a:rPr lang="pl-PL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*(d+2*b)</a:t>
            </a:r>
            <a:endParaRPr lang="en-US" sz="24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D2B9DDD-17FB-40E1-8B1D-F8CE4366C7E0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17" name="สี่เหลี่ยมผืนผ้า 33">
              <a:extLst>
                <a:ext uri="{FF2B5EF4-FFF2-40B4-BE49-F238E27FC236}">
                  <a16:creationId xmlns:a16="http://schemas.microsoft.com/office/drawing/2014/main" id="{E9F0F82E-CC67-41B9-B32F-2B11FC1905C2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กล่องข้อความ 34">
              <a:extLst>
                <a:ext uri="{FF2B5EF4-FFF2-40B4-BE49-F238E27FC236}">
                  <a16:creationId xmlns:a16="http://schemas.microsoft.com/office/drawing/2014/main" id="{1FD41E72-2F75-4375-BE64-2245ED65C47B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1958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FB17AF-314E-42D9-A41A-CBAA2786B75D}"/>
              </a:ext>
            </a:extLst>
          </p:cNvPr>
          <p:cNvSpPr txBox="1"/>
          <p:nvPr/>
        </p:nvSpPr>
        <p:spPr>
          <a:xfrm>
            <a:off x="-2" y="0"/>
            <a:ext cx="7235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Template Type 9:</a:t>
            </a:r>
            <a:r>
              <a:rPr lang="th-TH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ปลอกกล่อง : </a:t>
            </a:r>
            <a:r>
              <a:rPr lang="en-US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Sleeve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DF99AC-A5F2-4FB5-9500-A5B79F33E5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6176" y="726230"/>
            <a:ext cx="4621304" cy="440002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7F450275-4764-41FB-AF20-74E3754EC753}"/>
              </a:ext>
            </a:extLst>
          </p:cNvPr>
          <p:cNvGrpSpPr/>
          <p:nvPr/>
        </p:nvGrpSpPr>
        <p:grpSpPr>
          <a:xfrm>
            <a:off x="332607" y="1003177"/>
            <a:ext cx="400110" cy="3213716"/>
            <a:chOff x="332607" y="1003177"/>
            <a:chExt cx="400110" cy="3213716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ABF4E47-35B8-4993-BBF5-2A908137351E}"/>
                </a:ext>
              </a:extLst>
            </p:cNvPr>
            <p:cNvCxnSpPr/>
            <p:nvPr/>
          </p:nvCxnSpPr>
          <p:spPr>
            <a:xfrm>
              <a:off x="532660" y="1003177"/>
              <a:ext cx="0" cy="3213716"/>
            </a:xfrm>
            <a:prstGeom prst="straightConnector1">
              <a:avLst/>
            </a:prstGeom>
            <a:ln w="38100">
              <a:solidFill>
                <a:schemeClr val="bg2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529A478-85D2-4CA5-A5E9-3BD9CA7D98D4}"/>
                </a:ext>
              </a:extLst>
            </p:cNvPr>
            <p:cNvSpPr txBox="1"/>
            <p:nvPr/>
          </p:nvSpPr>
          <p:spPr>
            <a:xfrm rot="16200000">
              <a:off x="135758" y="2295622"/>
              <a:ext cx="793807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 SIDE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86FB84B-3092-48A0-96F4-617FE9508B2C}"/>
              </a:ext>
            </a:extLst>
          </p:cNvPr>
          <p:cNvGrpSpPr/>
          <p:nvPr/>
        </p:nvGrpSpPr>
        <p:grpSpPr>
          <a:xfrm rot="5400000">
            <a:off x="2219110" y="2982634"/>
            <a:ext cx="400110" cy="3213716"/>
            <a:chOff x="347995" y="1003177"/>
            <a:chExt cx="400110" cy="3213716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0327BDC-B0E0-4081-95D9-0249B8A67A4F}"/>
                </a:ext>
              </a:extLst>
            </p:cNvPr>
            <p:cNvCxnSpPr/>
            <p:nvPr/>
          </p:nvCxnSpPr>
          <p:spPr>
            <a:xfrm>
              <a:off x="532660" y="1003177"/>
              <a:ext cx="0" cy="3213716"/>
            </a:xfrm>
            <a:prstGeom prst="straightConnector1">
              <a:avLst/>
            </a:prstGeom>
            <a:ln w="38100">
              <a:solidFill>
                <a:srgbClr val="00206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2541832-56A3-4053-87A8-C933033B1A85}"/>
                </a:ext>
              </a:extLst>
            </p:cNvPr>
            <p:cNvSpPr txBox="1"/>
            <p:nvPr/>
          </p:nvSpPr>
          <p:spPr>
            <a:xfrm rot="16200000">
              <a:off x="184008" y="2362146"/>
              <a:ext cx="728084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 SIDE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C757515-930D-4F45-9C41-5BA49C4DF3D6}"/>
              </a:ext>
            </a:extLst>
          </p:cNvPr>
          <p:cNvSpPr txBox="1"/>
          <p:nvPr/>
        </p:nvSpPr>
        <p:spPr>
          <a:xfrm>
            <a:off x="399923" y="4833869"/>
            <a:ext cx="2632452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Parameter: w, l, b, n, 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CECA9A-4BE1-45D4-8B3A-20152D984830}"/>
              </a:ext>
            </a:extLst>
          </p:cNvPr>
          <p:cNvSpPr/>
          <p:nvPr/>
        </p:nvSpPr>
        <p:spPr>
          <a:xfrm>
            <a:off x="6096000" y="2786472"/>
            <a:ext cx="5249662" cy="46071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B74323-591E-4C02-A13A-74FCEFF7501E}"/>
              </a:ext>
            </a:extLst>
          </p:cNvPr>
          <p:cNvSpPr txBox="1"/>
          <p:nvPr/>
        </p:nvSpPr>
        <p:spPr>
          <a:xfrm>
            <a:off x="5733734" y="584775"/>
            <a:ext cx="893218" cy="589002"/>
          </a:xfrm>
          <a:prstGeom prst="roundRect">
            <a:avLst>
              <a:gd name="adj" fmla="val 19734"/>
            </a:avLst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L side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7CFCB6-60A7-4E4A-9209-90426F58A436}"/>
              </a:ext>
            </a:extLst>
          </p:cNvPr>
          <p:cNvSpPr txBox="1"/>
          <p:nvPr/>
        </p:nvSpPr>
        <p:spPr>
          <a:xfrm>
            <a:off x="6933089" y="3410756"/>
            <a:ext cx="2683095" cy="4001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* : 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คูณ, </a:t>
            </a:r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/ :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หาร</a:t>
            </a:r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, N: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จำนวนชิ้นงาน</a:t>
            </a:r>
            <a:endParaRPr lang="en-US" sz="20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84310DE-506F-4ED1-8DA4-5EEC3148E528}"/>
              </a:ext>
            </a:extLst>
          </p:cNvPr>
          <p:cNvGrpSpPr/>
          <p:nvPr/>
        </p:nvGrpSpPr>
        <p:grpSpPr>
          <a:xfrm>
            <a:off x="6096000" y="1225212"/>
            <a:ext cx="3333926" cy="2021978"/>
            <a:chOff x="6096000" y="1225212"/>
            <a:chExt cx="3333926" cy="202197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8F07B25-69FD-47F1-9267-6D6638CF7E33}"/>
                </a:ext>
              </a:extLst>
            </p:cNvPr>
            <p:cNvSpPr txBox="1"/>
            <p:nvPr/>
          </p:nvSpPr>
          <p:spPr>
            <a:xfrm>
              <a:off x="6096000" y="1225212"/>
              <a:ext cx="8370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Case I: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845526E-7348-426C-98DB-50B0C85B303E}"/>
                </a:ext>
              </a:extLst>
            </p:cNvPr>
            <p:cNvSpPr txBox="1"/>
            <p:nvPr/>
          </p:nvSpPr>
          <p:spPr>
            <a:xfrm>
              <a:off x="6520155" y="1677530"/>
              <a:ext cx="2909771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*(2*(w+l+b)+g) </a:t>
              </a:r>
              <a:endParaRPr lang="en-US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2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2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*(2*(w+l+b)+g)</a:t>
              </a:r>
              <a:endParaRPr lang="en-US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3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3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*(2*(w+l+b)+g) </a:t>
              </a:r>
              <a:endParaRPr lang="en-US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n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pl-PL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n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*(2*(w+l+b)+g)</a:t>
              </a:r>
              <a:endParaRPr lang="en-US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266BD59-571B-4B56-A29A-33FC37753942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18" name="สี่เหลี่ยมผืนผ้า 33">
              <a:extLst>
                <a:ext uri="{FF2B5EF4-FFF2-40B4-BE49-F238E27FC236}">
                  <a16:creationId xmlns:a16="http://schemas.microsoft.com/office/drawing/2014/main" id="{B8FAC72A-1EFC-41D0-B06E-AF4E4D5E40A3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กล่องข้อความ 34">
              <a:extLst>
                <a:ext uri="{FF2B5EF4-FFF2-40B4-BE49-F238E27FC236}">
                  <a16:creationId xmlns:a16="http://schemas.microsoft.com/office/drawing/2014/main" id="{068D5F1E-2C48-4376-B209-C7D63A25DC48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35470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FB17AF-314E-42D9-A41A-CBAA2786B75D}"/>
              </a:ext>
            </a:extLst>
          </p:cNvPr>
          <p:cNvSpPr txBox="1"/>
          <p:nvPr/>
        </p:nvSpPr>
        <p:spPr>
          <a:xfrm>
            <a:off x="-2" y="0"/>
            <a:ext cx="7235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Template Type 10:</a:t>
            </a:r>
            <a:r>
              <a:rPr lang="th-TH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กล่องทรงหมอน : </a:t>
            </a:r>
            <a:r>
              <a:rPr lang="en-US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Pillow Box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DF99AC-A5F2-4FB5-9500-A5B79F33E5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6176" y="789904"/>
            <a:ext cx="4621304" cy="427267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7F450275-4764-41FB-AF20-74E3754EC753}"/>
              </a:ext>
            </a:extLst>
          </p:cNvPr>
          <p:cNvGrpSpPr/>
          <p:nvPr/>
        </p:nvGrpSpPr>
        <p:grpSpPr>
          <a:xfrm>
            <a:off x="332607" y="1003177"/>
            <a:ext cx="400110" cy="3213716"/>
            <a:chOff x="332607" y="1003177"/>
            <a:chExt cx="400110" cy="3213716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ABF4E47-35B8-4993-BBF5-2A908137351E}"/>
                </a:ext>
              </a:extLst>
            </p:cNvPr>
            <p:cNvCxnSpPr/>
            <p:nvPr/>
          </p:nvCxnSpPr>
          <p:spPr>
            <a:xfrm>
              <a:off x="532660" y="1003177"/>
              <a:ext cx="0" cy="3213716"/>
            </a:xfrm>
            <a:prstGeom prst="straightConnector1">
              <a:avLst/>
            </a:prstGeom>
            <a:ln w="38100">
              <a:solidFill>
                <a:srgbClr val="00206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529A478-85D2-4CA5-A5E9-3BD9CA7D98D4}"/>
                </a:ext>
              </a:extLst>
            </p:cNvPr>
            <p:cNvSpPr txBox="1"/>
            <p:nvPr/>
          </p:nvSpPr>
          <p:spPr>
            <a:xfrm rot="16200000">
              <a:off x="135758" y="2295622"/>
              <a:ext cx="793807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 SIDE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86FB84B-3092-48A0-96F4-617FE9508B2C}"/>
              </a:ext>
            </a:extLst>
          </p:cNvPr>
          <p:cNvGrpSpPr/>
          <p:nvPr/>
        </p:nvGrpSpPr>
        <p:grpSpPr>
          <a:xfrm rot="5400000">
            <a:off x="2219110" y="2982634"/>
            <a:ext cx="400110" cy="3213716"/>
            <a:chOff x="347995" y="1003177"/>
            <a:chExt cx="400110" cy="3213716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0327BDC-B0E0-4081-95D9-0249B8A67A4F}"/>
                </a:ext>
              </a:extLst>
            </p:cNvPr>
            <p:cNvCxnSpPr/>
            <p:nvPr/>
          </p:nvCxnSpPr>
          <p:spPr>
            <a:xfrm>
              <a:off x="532660" y="1003177"/>
              <a:ext cx="0" cy="3213716"/>
            </a:xfrm>
            <a:prstGeom prst="straightConnector1">
              <a:avLst/>
            </a:prstGeom>
            <a:ln w="38100">
              <a:solidFill>
                <a:schemeClr val="bg2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2541832-56A3-4053-87A8-C933033B1A85}"/>
                </a:ext>
              </a:extLst>
            </p:cNvPr>
            <p:cNvSpPr txBox="1"/>
            <p:nvPr/>
          </p:nvSpPr>
          <p:spPr>
            <a:xfrm rot="16200000">
              <a:off x="184008" y="2362146"/>
              <a:ext cx="728084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 SIDE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C757515-930D-4F45-9C41-5BA49C4DF3D6}"/>
              </a:ext>
            </a:extLst>
          </p:cNvPr>
          <p:cNvSpPr txBox="1"/>
          <p:nvPr/>
        </p:nvSpPr>
        <p:spPr>
          <a:xfrm>
            <a:off x="399923" y="4833869"/>
            <a:ext cx="2316660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Parameter: l, d, n, 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7CFCB6-60A7-4E4A-9209-90426F58A436}"/>
              </a:ext>
            </a:extLst>
          </p:cNvPr>
          <p:cNvSpPr txBox="1"/>
          <p:nvPr/>
        </p:nvSpPr>
        <p:spPr>
          <a:xfrm>
            <a:off x="6933090" y="3299398"/>
            <a:ext cx="2683095" cy="4001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* : 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คูณ, </a:t>
            </a:r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/ :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หาร</a:t>
            </a:r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, N: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จำนวนชิ้นงาน</a:t>
            </a:r>
            <a:endParaRPr lang="en-US" sz="20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C6A82A5-1E31-4212-BE5B-773BC0ABC485}"/>
              </a:ext>
            </a:extLst>
          </p:cNvPr>
          <p:cNvSpPr txBox="1"/>
          <p:nvPr/>
        </p:nvSpPr>
        <p:spPr>
          <a:xfrm>
            <a:off x="5733734" y="584775"/>
            <a:ext cx="973856" cy="578882"/>
          </a:xfrm>
          <a:prstGeom prst="roundRect">
            <a:avLst>
              <a:gd name="adj" fmla="val 19734"/>
            </a:avLst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W side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AC7720F-23BA-40DB-80E4-AC3A24770C3B}"/>
              </a:ext>
            </a:extLst>
          </p:cNvPr>
          <p:cNvSpPr/>
          <p:nvPr/>
        </p:nvSpPr>
        <p:spPr>
          <a:xfrm>
            <a:off x="6520156" y="2811891"/>
            <a:ext cx="3576620" cy="35460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C229F3E-54B1-4FFD-A248-976041FB7CCB}"/>
              </a:ext>
            </a:extLst>
          </p:cNvPr>
          <p:cNvSpPr txBox="1"/>
          <p:nvPr/>
        </p:nvSpPr>
        <p:spPr>
          <a:xfrm>
            <a:off x="6096001" y="1225212"/>
            <a:ext cx="8370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Case I: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B09EDE-0BCD-4782-AE1A-27390DF43AC9}"/>
              </a:ext>
            </a:extLst>
          </p:cNvPr>
          <p:cNvSpPr txBox="1"/>
          <p:nvPr/>
        </p:nvSpPr>
        <p:spPr>
          <a:xfrm>
            <a:off x="6520155" y="1677530"/>
            <a:ext cx="254428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N=</a:t>
            </a:r>
            <a:r>
              <a:rPr lang="en-US" sz="2400" b="1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1</a:t>
            </a:r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:</a:t>
            </a:r>
            <a:r>
              <a:rPr lang="en-US" sz="2400" b="1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w</a:t>
            </a:r>
            <a:r>
              <a:rPr lang="th-TH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side = </a:t>
            </a:r>
            <a:r>
              <a:rPr lang="pt-BR" sz="2400" b="1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1</a:t>
            </a:r>
            <a:r>
              <a:rPr lang="pt-BR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*(l+d+2*b)</a:t>
            </a:r>
            <a:endParaRPr lang="en-US" sz="24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N=</a:t>
            </a:r>
            <a:r>
              <a:rPr lang="en-US" sz="2400" b="1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2</a:t>
            </a:r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:</a:t>
            </a:r>
            <a:r>
              <a:rPr lang="en-US" sz="2400" b="1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w</a:t>
            </a:r>
            <a:r>
              <a:rPr lang="th-TH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side = </a:t>
            </a:r>
            <a:r>
              <a:rPr lang="pt-BR" sz="2400" b="1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2</a:t>
            </a:r>
            <a:r>
              <a:rPr lang="pt-BR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*(l+d+2*b)</a:t>
            </a:r>
            <a:endParaRPr lang="en-US" sz="24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N=</a:t>
            </a:r>
            <a:r>
              <a:rPr lang="en-US" sz="2400" b="1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3</a:t>
            </a:r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:</a:t>
            </a:r>
            <a:r>
              <a:rPr lang="en-US" sz="2400" b="1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w</a:t>
            </a:r>
            <a:r>
              <a:rPr lang="th-TH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side = </a:t>
            </a:r>
            <a:r>
              <a:rPr lang="pt-BR" sz="2400" b="1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3</a:t>
            </a:r>
            <a:r>
              <a:rPr lang="pt-BR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*(l+d+2*b)</a:t>
            </a:r>
            <a:endParaRPr lang="en-US" sz="24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N=</a:t>
            </a:r>
            <a:r>
              <a:rPr lang="en-US" sz="2400" b="1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n</a:t>
            </a:r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:</a:t>
            </a:r>
            <a:r>
              <a:rPr lang="en-US" sz="2400" b="1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w</a:t>
            </a:r>
            <a:r>
              <a:rPr lang="th-TH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side = </a:t>
            </a:r>
            <a:r>
              <a:rPr lang="pt-BR" sz="2400" b="1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n</a:t>
            </a:r>
            <a:r>
              <a:rPr lang="pt-BR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*(l+d+2*b)</a:t>
            </a:r>
            <a:endParaRPr lang="en-US" sz="24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995BBA8-4EA6-4BB1-A945-2312DDF12893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17" name="สี่เหลี่ยมผืนผ้า 33">
              <a:extLst>
                <a:ext uri="{FF2B5EF4-FFF2-40B4-BE49-F238E27FC236}">
                  <a16:creationId xmlns:a16="http://schemas.microsoft.com/office/drawing/2014/main" id="{85DD7BA8-F2A4-459B-A11E-87FF556EE240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กล่องข้อความ 34">
              <a:extLst>
                <a:ext uri="{FF2B5EF4-FFF2-40B4-BE49-F238E27FC236}">
                  <a16:creationId xmlns:a16="http://schemas.microsoft.com/office/drawing/2014/main" id="{C6614A9C-7C33-46B2-9595-8BF3956D247E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051751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FB17AF-314E-42D9-A41A-CBAA2786B75D}"/>
              </a:ext>
            </a:extLst>
          </p:cNvPr>
          <p:cNvSpPr txBox="1"/>
          <p:nvPr/>
        </p:nvSpPr>
        <p:spPr>
          <a:xfrm>
            <a:off x="-2" y="0"/>
            <a:ext cx="7235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Template Type 10:</a:t>
            </a:r>
            <a:r>
              <a:rPr lang="th-TH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กล่องทรงหมอน : </a:t>
            </a:r>
            <a:r>
              <a:rPr lang="en-US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Pillow Box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DF99AC-A5F2-4FB5-9500-A5B79F33E5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6176" y="794505"/>
            <a:ext cx="4621304" cy="4263476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7F450275-4764-41FB-AF20-74E3754EC753}"/>
              </a:ext>
            </a:extLst>
          </p:cNvPr>
          <p:cNvGrpSpPr/>
          <p:nvPr/>
        </p:nvGrpSpPr>
        <p:grpSpPr>
          <a:xfrm>
            <a:off x="332607" y="1003177"/>
            <a:ext cx="400110" cy="3213716"/>
            <a:chOff x="332607" y="1003177"/>
            <a:chExt cx="400110" cy="3213716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ABF4E47-35B8-4993-BBF5-2A908137351E}"/>
                </a:ext>
              </a:extLst>
            </p:cNvPr>
            <p:cNvCxnSpPr/>
            <p:nvPr/>
          </p:nvCxnSpPr>
          <p:spPr>
            <a:xfrm>
              <a:off x="532660" y="1003177"/>
              <a:ext cx="0" cy="3213716"/>
            </a:xfrm>
            <a:prstGeom prst="straightConnector1">
              <a:avLst/>
            </a:prstGeom>
            <a:ln w="38100">
              <a:solidFill>
                <a:schemeClr val="bg2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529A478-85D2-4CA5-A5E9-3BD9CA7D98D4}"/>
                </a:ext>
              </a:extLst>
            </p:cNvPr>
            <p:cNvSpPr txBox="1"/>
            <p:nvPr/>
          </p:nvSpPr>
          <p:spPr>
            <a:xfrm rot="16200000">
              <a:off x="135758" y="2295622"/>
              <a:ext cx="793807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 SIDE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86FB84B-3092-48A0-96F4-617FE9508B2C}"/>
              </a:ext>
            </a:extLst>
          </p:cNvPr>
          <p:cNvGrpSpPr/>
          <p:nvPr/>
        </p:nvGrpSpPr>
        <p:grpSpPr>
          <a:xfrm rot="5400000">
            <a:off x="2219110" y="2982634"/>
            <a:ext cx="400110" cy="3213716"/>
            <a:chOff x="347995" y="1003177"/>
            <a:chExt cx="400110" cy="3213716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0327BDC-B0E0-4081-95D9-0249B8A67A4F}"/>
                </a:ext>
              </a:extLst>
            </p:cNvPr>
            <p:cNvCxnSpPr/>
            <p:nvPr/>
          </p:nvCxnSpPr>
          <p:spPr>
            <a:xfrm>
              <a:off x="532660" y="1003177"/>
              <a:ext cx="0" cy="3213716"/>
            </a:xfrm>
            <a:prstGeom prst="straightConnector1">
              <a:avLst/>
            </a:prstGeom>
            <a:ln w="38100">
              <a:solidFill>
                <a:srgbClr val="00206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2541832-56A3-4053-87A8-C933033B1A85}"/>
                </a:ext>
              </a:extLst>
            </p:cNvPr>
            <p:cNvSpPr txBox="1"/>
            <p:nvPr/>
          </p:nvSpPr>
          <p:spPr>
            <a:xfrm rot="16200000">
              <a:off x="184008" y="2362146"/>
              <a:ext cx="728084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 SIDE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C757515-930D-4F45-9C41-5BA49C4DF3D6}"/>
              </a:ext>
            </a:extLst>
          </p:cNvPr>
          <p:cNvSpPr txBox="1"/>
          <p:nvPr/>
        </p:nvSpPr>
        <p:spPr>
          <a:xfrm>
            <a:off x="399923" y="4833869"/>
            <a:ext cx="2513830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Parameter: w, b, n, 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CECA9A-4BE1-45D4-8B3A-20152D984830}"/>
              </a:ext>
            </a:extLst>
          </p:cNvPr>
          <p:cNvSpPr/>
          <p:nvPr/>
        </p:nvSpPr>
        <p:spPr>
          <a:xfrm>
            <a:off x="6096000" y="2786472"/>
            <a:ext cx="5249662" cy="46071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B74323-591E-4C02-A13A-74FCEFF7501E}"/>
              </a:ext>
            </a:extLst>
          </p:cNvPr>
          <p:cNvSpPr txBox="1"/>
          <p:nvPr/>
        </p:nvSpPr>
        <p:spPr>
          <a:xfrm>
            <a:off x="5733734" y="584775"/>
            <a:ext cx="893218" cy="589002"/>
          </a:xfrm>
          <a:prstGeom prst="roundRect">
            <a:avLst>
              <a:gd name="adj" fmla="val 19734"/>
            </a:avLst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L side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7CFCB6-60A7-4E4A-9209-90426F58A436}"/>
              </a:ext>
            </a:extLst>
          </p:cNvPr>
          <p:cNvSpPr txBox="1"/>
          <p:nvPr/>
        </p:nvSpPr>
        <p:spPr>
          <a:xfrm>
            <a:off x="7138930" y="3299398"/>
            <a:ext cx="2683095" cy="4001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* : 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คูณ, </a:t>
            </a:r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/ :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หาร</a:t>
            </a:r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, N: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จำนวนชิ้นงาน</a:t>
            </a:r>
            <a:endParaRPr lang="en-US" sz="20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84310DE-506F-4ED1-8DA4-5EEC3148E528}"/>
              </a:ext>
            </a:extLst>
          </p:cNvPr>
          <p:cNvGrpSpPr/>
          <p:nvPr/>
        </p:nvGrpSpPr>
        <p:grpSpPr>
          <a:xfrm>
            <a:off x="6096000" y="1225212"/>
            <a:ext cx="3159199" cy="2021978"/>
            <a:chOff x="6096000" y="1225212"/>
            <a:chExt cx="3159199" cy="202197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8F07B25-69FD-47F1-9267-6D6638CF7E33}"/>
                </a:ext>
              </a:extLst>
            </p:cNvPr>
            <p:cNvSpPr txBox="1"/>
            <p:nvPr/>
          </p:nvSpPr>
          <p:spPr>
            <a:xfrm>
              <a:off x="6096000" y="1225212"/>
              <a:ext cx="8370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Case I: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845526E-7348-426C-98DB-50B0C85B303E}"/>
                </a:ext>
              </a:extLst>
            </p:cNvPr>
            <p:cNvSpPr txBox="1"/>
            <p:nvPr/>
          </p:nvSpPr>
          <p:spPr>
            <a:xfrm>
              <a:off x="6520155" y="1677530"/>
              <a:ext cx="2735044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*(2*w+2*b+g)</a:t>
              </a:r>
              <a:endParaRPr lang="en-US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2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2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*(2*w+2*b+g)</a:t>
              </a:r>
              <a:endParaRPr lang="en-US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3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3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*(2*w+2*b+g)</a:t>
              </a:r>
              <a:endParaRPr lang="en-US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n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pl-PL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n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*(2*w+2*b+g)</a:t>
              </a:r>
              <a:endParaRPr lang="en-US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6459A48-79EB-4F04-BD5A-1B5BE725E49E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18" name="สี่เหลี่ยมผืนผ้า 33">
              <a:extLst>
                <a:ext uri="{FF2B5EF4-FFF2-40B4-BE49-F238E27FC236}">
                  <a16:creationId xmlns:a16="http://schemas.microsoft.com/office/drawing/2014/main" id="{F4A92C15-895E-4D30-818E-7A3B045B5BFF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กล่องข้อความ 34">
              <a:extLst>
                <a:ext uri="{FF2B5EF4-FFF2-40B4-BE49-F238E27FC236}">
                  <a16:creationId xmlns:a16="http://schemas.microsoft.com/office/drawing/2014/main" id="{26EA38E0-FEB1-4791-B121-0EB6FEA23F40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60158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FB17AF-314E-42D9-A41A-CBAA2786B75D}"/>
              </a:ext>
            </a:extLst>
          </p:cNvPr>
          <p:cNvSpPr txBox="1"/>
          <p:nvPr/>
        </p:nvSpPr>
        <p:spPr>
          <a:xfrm>
            <a:off x="-2" y="0"/>
            <a:ext cx="7235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Template Type 11:</a:t>
            </a:r>
            <a:r>
              <a:rPr lang="th-TH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กล่องฝาปิดแบบทากาว : </a:t>
            </a:r>
            <a:r>
              <a:rPr lang="en-US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Seal End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DF99AC-A5F2-4FB5-9500-A5B79F33E5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6176" y="736765"/>
            <a:ext cx="4621304" cy="437895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7F450275-4764-41FB-AF20-74E3754EC753}"/>
              </a:ext>
            </a:extLst>
          </p:cNvPr>
          <p:cNvGrpSpPr/>
          <p:nvPr/>
        </p:nvGrpSpPr>
        <p:grpSpPr>
          <a:xfrm>
            <a:off x="332607" y="1003177"/>
            <a:ext cx="400110" cy="3213716"/>
            <a:chOff x="332607" y="1003177"/>
            <a:chExt cx="400110" cy="3213716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ABF4E47-35B8-4993-BBF5-2A908137351E}"/>
                </a:ext>
              </a:extLst>
            </p:cNvPr>
            <p:cNvCxnSpPr/>
            <p:nvPr/>
          </p:nvCxnSpPr>
          <p:spPr>
            <a:xfrm>
              <a:off x="532660" y="1003177"/>
              <a:ext cx="0" cy="3213716"/>
            </a:xfrm>
            <a:prstGeom prst="straightConnector1">
              <a:avLst/>
            </a:prstGeom>
            <a:ln w="38100">
              <a:solidFill>
                <a:srgbClr val="00206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529A478-85D2-4CA5-A5E9-3BD9CA7D98D4}"/>
                </a:ext>
              </a:extLst>
            </p:cNvPr>
            <p:cNvSpPr txBox="1"/>
            <p:nvPr/>
          </p:nvSpPr>
          <p:spPr>
            <a:xfrm rot="16200000">
              <a:off x="135758" y="2295622"/>
              <a:ext cx="793807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 SIDE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86FB84B-3092-48A0-96F4-617FE9508B2C}"/>
              </a:ext>
            </a:extLst>
          </p:cNvPr>
          <p:cNvGrpSpPr/>
          <p:nvPr/>
        </p:nvGrpSpPr>
        <p:grpSpPr>
          <a:xfrm rot="5400000">
            <a:off x="2219110" y="2982634"/>
            <a:ext cx="400110" cy="3213716"/>
            <a:chOff x="347995" y="1003177"/>
            <a:chExt cx="400110" cy="3213716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0327BDC-B0E0-4081-95D9-0249B8A67A4F}"/>
                </a:ext>
              </a:extLst>
            </p:cNvPr>
            <p:cNvCxnSpPr/>
            <p:nvPr/>
          </p:nvCxnSpPr>
          <p:spPr>
            <a:xfrm>
              <a:off x="532660" y="1003177"/>
              <a:ext cx="0" cy="3213716"/>
            </a:xfrm>
            <a:prstGeom prst="straightConnector1">
              <a:avLst/>
            </a:prstGeom>
            <a:ln w="38100">
              <a:solidFill>
                <a:schemeClr val="bg2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2541832-56A3-4053-87A8-C933033B1A85}"/>
                </a:ext>
              </a:extLst>
            </p:cNvPr>
            <p:cNvSpPr txBox="1"/>
            <p:nvPr/>
          </p:nvSpPr>
          <p:spPr>
            <a:xfrm rot="16200000">
              <a:off x="184008" y="2362146"/>
              <a:ext cx="728084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 SIDE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C757515-930D-4F45-9C41-5BA49C4DF3D6}"/>
              </a:ext>
            </a:extLst>
          </p:cNvPr>
          <p:cNvSpPr txBox="1"/>
          <p:nvPr/>
        </p:nvSpPr>
        <p:spPr>
          <a:xfrm>
            <a:off x="399923" y="4833869"/>
            <a:ext cx="2433680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Parameter: w, d, n, 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7CFCB6-60A7-4E4A-9209-90426F58A436}"/>
              </a:ext>
            </a:extLst>
          </p:cNvPr>
          <p:cNvSpPr txBox="1"/>
          <p:nvPr/>
        </p:nvSpPr>
        <p:spPr>
          <a:xfrm>
            <a:off x="6933090" y="3299398"/>
            <a:ext cx="2683095" cy="4001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* : 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คูณ, </a:t>
            </a:r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/ :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หาร</a:t>
            </a:r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, N: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จำนวนชิ้นงาน</a:t>
            </a:r>
            <a:endParaRPr lang="en-US" sz="20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C6A82A5-1E31-4212-BE5B-773BC0ABC485}"/>
              </a:ext>
            </a:extLst>
          </p:cNvPr>
          <p:cNvSpPr txBox="1"/>
          <p:nvPr/>
        </p:nvSpPr>
        <p:spPr>
          <a:xfrm>
            <a:off x="5733734" y="584775"/>
            <a:ext cx="973856" cy="578882"/>
          </a:xfrm>
          <a:prstGeom prst="roundRect">
            <a:avLst>
              <a:gd name="adj" fmla="val 19734"/>
            </a:avLst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W side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AC7720F-23BA-40DB-80E4-AC3A24770C3B}"/>
              </a:ext>
            </a:extLst>
          </p:cNvPr>
          <p:cNvSpPr/>
          <p:nvPr/>
        </p:nvSpPr>
        <p:spPr>
          <a:xfrm>
            <a:off x="6520156" y="2811891"/>
            <a:ext cx="3576620" cy="35460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C229F3E-54B1-4FFD-A248-976041FB7CCB}"/>
              </a:ext>
            </a:extLst>
          </p:cNvPr>
          <p:cNvSpPr txBox="1"/>
          <p:nvPr/>
        </p:nvSpPr>
        <p:spPr>
          <a:xfrm>
            <a:off x="6096001" y="1225212"/>
            <a:ext cx="8370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Case I: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B09EDE-0BCD-4782-AE1A-27390DF43AC9}"/>
              </a:ext>
            </a:extLst>
          </p:cNvPr>
          <p:cNvSpPr txBox="1"/>
          <p:nvPr/>
        </p:nvSpPr>
        <p:spPr>
          <a:xfrm>
            <a:off x="6520155" y="1677530"/>
            <a:ext cx="28360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N=</a:t>
            </a:r>
            <a:r>
              <a:rPr lang="en-US" sz="2400" b="1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1</a:t>
            </a:r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:</a:t>
            </a:r>
            <a:r>
              <a:rPr lang="en-US" sz="2400" b="1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w</a:t>
            </a:r>
            <a:r>
              <a:rPr lang="th-TH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side = </a:t>
            </a:r>
            <a:r>
              <a:rPr lang="en-US" sz="2400" b="1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1</a:t>
            </a:r>
            <a:r>
              <a:rPr lang="pl-PL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*(d+2*w+2*b)</a:t>
            </a:r>
            <a:endParaRPr lang="en-US" sz="24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N=</a:t>
            </a:r>
            <a:r>
              <a:rPr lang="en-US" sz="2400" b="1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2</a:t>
            </a:r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:</a:t>
            </a:r>
            <a:r>
              <a:rPr lang="en-US" sz="2400" b="1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w</a:t>
            </a:r>
            <a:r>
              <a:rPr lang="th-TH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side = </a:t>
            </a:r>
            <a:r>
              <a:rPr lang="en-US" sz="2400" b="1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2</a:t>
            </a:r>
            <a:r>
              <a:rPr lang="pl-PL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*(d+2*w+2*b)</a:t>
            </a:r>
            <a:endParaRPr lang="en-US" sz="24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N=</a:t>
            </a:r>
            <a:r>
              <a:rPr lang="en-US" sz="2400" b="1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3</a:t>
            </a:r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:</a:t>
            </a:r>
            <a:r>
              <a:rPr lang="en-US" sz="2400" b="1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w</a:t>
            </a:r>
            <a:r>
              <a:rPr lang="th-TH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side = </a:t>
            </a:r>
            <a:r>
              <a:rPr lang="en-US" sz="2400" b="1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3</a:t>
            </a:r>
            <a:r>
              <a:rPr lang="pl-PL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*(d+2*w+2*b)</a:t>
            </a:r>
            <a:endParaRPr lang="en-US" sz="24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N=</a:t>
            </a:r>
            <a:r>
              <a:rPr lang="en-US" sz="2400" b="1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n</a:t>
            </a:r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:</a:t>
            </a:r>
            <a:r>
              <a:rPr lang="en-US" sz="2400" b="1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w</a:t>
            </a:r>
            <a:r>
              <a:rPr lang="th-TH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side = </a:t>
            </a:r>
            <a:r>
              <a:rPr lang="pl-PL" sz="2400" b="1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n</a:t>
            </a:r>
            <a:r>
              <a:rPr lang="pl-PL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*(d+2*w+2*b)</a:t>
            </a:r>
            <a:endParaRPr lang="en-US" sz="24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899BF2-B9B6-48CE-B1B3-9CBF5DDD4E6C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17" name="สี่เหลี่ยมผืนผ้า 33">
              <a:extLst>
                <a:ext uri="{FF2B5EF4-FFF2-40B4-BE49-F238E27FC236}">
                  <a16:creationId xmlns:a16="http://schemas.microsoft.com/office/drawing/2014/main" id="{325F0B51-484D-4873-BA1C-2BA7857B9567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กล่องข้อความ 34">
              <a:extLst>
                <a:ext uri="{FF2B5EF4-FFF2-40B4-BE49-F238E27FC236}">
                  <a16:creationId xmlns:a16="http://schemas.microsoft.com/office/drawing/2014/main" id="{C7188689-DB85-4D93-8471-10EBCACBB8B5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459572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FB17AF-314E-42D9-A41A-CBAA2786B75D}"/>
              </a:ext>
            </a:extLst>
          </p:cNvPr>
          <p:cNvSpPr txBox="1"/>
          <p:nvPr/>
        </p:nvSpPr>
        <p:spPr>
          <a:xfrm>
            <a:off x="-2" y="0"/>
            <a:ext cx="7235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Template Type 11:</a:t>
            </a:r>
            <a:r>
              <a:rPr lang="th-TH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กล่องฝาปิดแบบทากาว : </a:t>
            </a:r>
            <a:r>
              <a:rPr lang="en-US" sz="3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Seal End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DF99AC-A5F2-4FB5-9500-A5B79F33E5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6176" y="741212"/>
            <a:ext cx="4621304" cy="4370063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7F450275-4764-41FB-AF20-74E3754EC753}"/>
              </a:ext>
            </a:extLst>
          </p:cNvPr>
          <p:cNvGrpSpPr/>
          <p:nvPr/>
        </p:nvGrpSpPr>
        <p:grpSpPr>
          <a:xfrm>
            <a:off x="332607" y="1003177"/>
            <a:ext cx="400110" cy="3213716"/>
            <a:chOff x="332607" y="1003177"/>
            <a:chExt cx="400110" cy="3213716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ABF4E47-35B8-4993-BBF5-2A908137351E}"/>
                </a:ext>
              </a:extLst>
            </p:cNvPr>
            <p:cNvCxnSpPr/>
            <p:nvPr/>
          </p:nvCxnSpPr>
          <p:spPr>
            <a:xfrm>
              <a:off x="532660" y="1003177"/>
              <a:ext cx="0" cy="3213716"/>
            </a:xfrm>
            <a:prstGeom prst="straightConnector1">
              <a:avLst/>
            </a:prstGeom>
            <a:ln w="38100">
              <a:solidFill>
                <a:schemeClr val="bg2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529A478-85D2-4CA5-A5E9-3BD9CA7D98D4}"/>
                </a:ext>
              </a:extLst>
            </p:cNvPr>
            <p:cNvSpPr txBox="1"/>
            <p:nvPr/>
          </p:nvSpPr>
          <p:spPr>
            <a:xfrm rot="16200000">
              <a:off x="135758" y="2295622"/>
              <a:ext cx="793807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W SIDE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86FB84B-3092-48A0-96F4-617FE9508B2C}"/>
              </a:ext>
            </a:extLst>
          </p:cNvPr>
          <p:cNvGrpSpPr/>
          <p:nvPr/>
        </p:nvGrpSpPr>
        <p:grpSpPr>
          <a:xfrm rot="5400000">
            <a:off x="2219110" y="2982634"/>
            <a:ext cx="400110" cy="3213716"/>
            <a:chOff x="347995" y="1003177"/>
            <a:chExt cx="400110" cy="3213716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0327BDC-B0E0-4081-95D9-0249B8A67A4F}"/>
                </a:ext>
              </a:extLst>
            </p:cNvPr>
            <p:cNvCxnSpPr/>
            <p:nvPr/>
          </p:nvCxnSpPr>
          <p:spPr>
            <a:xfrm>
              <a:off x="532660" y="1003177"/>
              <a:ext cx="0" cy="3213716"/>
            </a:xfrm>
            <a:prstGeom prst="straightConnector1">
              <a:avLst/>
            </a:prstGeom>
            <a:ln w="38100">
              <a:solidFill>
                <a:srgbClr val="00206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2541832-56A3-4053-87A8-C933033B1A85}"/>
                </a:ext>
              </a:extLst>
            </p:cNvPr>
            <p:cNvSpPr txBox="1"/>
            <p:nvPr/>
          </p:nvSpPr>
          <p:spPr>
            <a:xfrm rot="16200000">
              <a:off x="184008" y="2362146"/>
              <a:ext cx="728084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 SIDE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C757515-930D-4F45-9C41-5BA49C4DF3D6}"/>
              </a:ext>
            </a:extLst>
          </p:cNvPr>
          <p:cNvSpPr txBox="1"/>
          <p:nvPr/>
        </p:nvSpPr>
        <p:spPr>
          <a:xfrm>
            <a:off x="399923" y="4833869"/>
            <a:ext cx="2632452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Parameter: w, l, b, n, 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CECA9A-4BE1-45D4-8B3A-20152D984830}"/>
              </a:ext>
            </a:extLst>
          </p:cNvPr>
          <p:cNvSpPr/>
          <p:nvPr/>
        </p:nvSpPr>
        <p:spPr>
          <a:xfrm>
            <a:off x="6096000" y="2786472"/>
            <a:ext cx="5249662" cy="46071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B74323-591E-4C02-A13A-74FCEFF7501E}"/>
              </a:ext>
            </a:extLst>
          </p:cNvPr>
          <p:cNvSpPr txBox="1"/>
          <p:nvPr/>
        </p:nvSpPr>
        <p:spPr>
          <a:xfrm>
            <a:off x="5733734" y="584775"/>
            <a:ext cx="893218" cy="589002"/>
          </a:xfrm>
          <a:prstGeom prst="roundRect">
            <a:avLst>
              <a:gd name="adj" fmla="val 19734"/>
            </a:avLst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L side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7CFCB6-60A7-4E4A-9209-90426F58A436}"/>
              </a:ext>
            </a:extLst>
          </p:cNvPr>
          <p:cNvSpPr txBox="1"/>
          <p:nvPr/>
        </p:nvSpPr>
        <p:spPr>
          <a:xfrm>
            <a:off x="7379283" y="3410756"/>
            <a:ext cx="2683095" cy="4001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* : 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คูณ, </a:t>
            </a:r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/ :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หาร</a:t>
            </a:r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, N:</a:t>
            </a: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จำนวนชิ้นงาน</a:t>
            </a:r>
            <a:endParaRPr lang="en-US" sz="20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84310DE-506F-4ED1-8DA4-5EEC3148E528}"/>
              </a:ext>
            </a:extLst>
          </p:cNvPr>
          <p:cNvGrpSpPr/>
          <p:nvPr/>
        </p:nvGrpSpPr>
        <p:grpSpPr>
          <a:xfrm>
            <a:off x="6096000" y="1225212"/>
            <a:ext cx="3333926" cy="2021978"/>
            <a:chOff x="6096000" y="1225212"/>
            <a:chExt cx="3333926" cy="202197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8F07B25-69FD-47F1-9267-6D6638CF7E33}"/>
                </a:ext>
              </a:extLst>
            </p:cNvPr>
            <p:cNvSpPr txBox="1"/>
            <p:nvPr/>
          </p:nvSpPr>
          <p:spPr>
            <a:xfrm>
              <a:off x="6096000" y="1225212"/>
              <a:ext cx="8370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Case I: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845526E-7348-426C-98DB-50B0C85B303E}"/>
                </a:ext>
              </a:extLst>
            </p:cNvPr>
            <p:cNvSpPr txBox="1"/>
            <p:nvPr/>
          </p:nvSpPr>
          <p:spPr>
            <a:xfrm>
              <a:off x="6520155" y="1677530"/>
              <a:ext cx="2909771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1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*(2*(b+w+l)+g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</a:t>
              </a: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2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2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*(2*(b+w+l)+g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</a:t>
              </a: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3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3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*(2*(b+w+l)+g)</a:t>
              </a:r>
              <a:endParaRPr lang="en-US" sz="24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  <a:p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N=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n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:</a:t>
              </a:r>
              <a:r>
                <a:rPr lang="en-US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l</a:t>
              </a:r>
              <a:r>
                <a:rPr lang="th-TH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side = </a:t>
              </a:r>
              <a:r>
                <a:rPr lang="pl-PL" sz="2400" b="1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n</a:t>
              </a:r>
              <a:r>
                <a:rPr lang="pl-PL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*(2*(b+w+l)+g</a:t>
              </a:r>
              <a:r>
                <a:rPr lang="en-US" sz="24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)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D61351F-94E5-41E5-A841-C10096439249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18" name="สี่เหลี่ยมผืนผ้า 33">
              <a:extLst>
                <a:ext uri="{FF2B5EF4-FFF2-40B4-BE49-F238E27FC236}">
                  <a16:creationId xmlns:a16="http://schemas.microsoft.com/office/drawing/2014/main" id="{B3989311-FA06-4037-9591-A97527B0B961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กล่องข้อความ 34">
              <a:extLst>
                <a:ext uri="{FF2B5EF4-FFF2-40B4-BE49-F238E27FC236}">
                  <a16:creationId xmlns:a16="http://schemas.microsoft.com/office/drawing/2014/main" id="{2C9BEE28-0C8C-485D-82E3-43DB366684B4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64740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4408ED08-EC03-46F8-9E47-64AEF5F0BBD0}"/>
              </a:ext>
            </a:extLst>
          </p:cNvPr>
          <p:cNvGrpSpPr/>
          <p:nvPr/>
        </p:nvGrpSpPr>
        <p:grpSpPr>
          <a:xfrm>
            <a:off x="2090977" y="354563"/>
            <a:ext cx="7556876" cy="5965013"/>
            <a:chOff x="903678" y="213747"/>
            <a:chExt cx="8825104" cy="6863436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B3B6104-71E5-4E1B-856C-1EB75DBF62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prstClr val="black"/>
                <a:prstClr val="black">
                  <a:tint val="45000"/>
                  <a:satMod val="400000"/>
                </a:prst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5157" b="76969" l="6814" r="57459">
                          <a14:foregroundMark x1="15838" y1="18504" x2="16759" y2="32283"/>
                          <a14:foregroundMark x1="24678" y1="23622" x2="34254" y2="30512"/>
                          <a14:foregroundMark x1="23020" y1="27362" x2="32597" y2="41732"/>
                          <a14:foregroundMark x1="24309" y1="37992" x2="40884" y2="49213"/>
                          <a14:foregroundMark x1="25967" y1="40945" x2="39411" y2="48425"/>
                          <a14:foregroundMark x1="27256" y1="40748" x2="45672" y2="48228"/>
                          <a14:foregroundMark x1="27993" y1="39961" x2="44936" y2="48819"/>
                          <a14:foregroundMark x1="55433" y1="23425" x2="57459" y2="66929"/>
                          <a14:foregroundMark x1="16759" y1="71850" x2="18416" y2="77165"/>
                          <a14:foregroundMark x1="6998" y1="32283" x2="6998" y2="42126"/>
                          <a14:foregroundMark x1="15101" y1="16732" x2="17127" y2="19882"/>
                          <a14:foregroundMark x1="13996" y1="15157" x2="19153" y2="15354"/>
                        </a14:backgroundRemoval>
                      </a14:imgEffect>
                      <a14:imgEffect>
                        <a14:brightnessContrast bright="-4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53" t="12720" r="40679" b="20606"/>
            <a:stretch/>
          </p:blipFill>
          <p:spPr>
            <a:xfrm>
              <a:off x="927137" y="849630"/>
              <a:ext cx="2524125" cy="293370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4CF0A11-E213-4202-A83C-9D401300D21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prstClr val="black"/>
                <a:prstClr val="black">
                  <a:tint val="45000"/>
                  <a:satMod val="400000"/>
                </a:prst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5157" b="76969" l="6814" r="57459">
                          <a14:foregroundMark x1="15838" y1="18504" x2="16759" y2="32283"/>
                          <a14:foregroundMark x1="24678" y1="23622" x2="34254" y2="30512"/>
                          <a14:foregroundMark x1="23020" y1="27362" x2="32597" y2="41732"/>
                          <a14:foregroundMark x1="24309" y1="37992" x2="40884" y2="49213"/>
                          <a14:foregroundMark x1="25967" y1="40945" x2="39411" y2="48425"/>
                          <a14:foregroundMark x1="27256" y1="40748" x2="45672" y2="48228"/>
                          <a14:foregroundMark x1="27993" y1="39961" x2="44936" y2="48819"/>
                          <a14:foregroundMark x1="55433" y1="23425" x2="57459" y2="66929"/>
                          <a14:foregroundMark x1="16759" y1="71850" x2="18416" y2="77165"/>
                          <a14:foregroundMark x1="6998" y1="32283" x2="6998" y2="42126"/>
                          <a14:foregroundMark x1="15101" y1="16732" x2="17127" y2="19882"/>
                          <a14:foregroundMark x1="13996" y1="15157" x2="19153" y2="15354"/>
                        </a14:backgroundRemoval>
                      </a14:imgEffect>
                      <a14:imgEffect>
                        <a14:brightnessContrast bright="-4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53" t="12720" r="40679" b="20606"/>
            <a:stretch/>
          </p:blipFill>
          <p:spPr>
            <a:xfrm rot="10800000">
              <a:off x="950595" y="3356611"/>
              <a:ext cx="2524125" cy="29337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73860A7-3003-4585-B9DA-6E63F0B8B5F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prstClr val="black"/>
                <a:prstClr val="black">
                  <a:tint val="45000"/>
                  <a:satMod val="400000"/>
                </a:prst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5157" b="76969" l="6814" r="57459">
                          <a14:foregroundMark x1="15838" y1="18504" x2="16759" y2="32283"/>
                          <a14:foregroundMark x1="24678" y1="23622" x2="34254" y2="30512"/>
                          <a14:foregroundMark x1="23020" y1="27362" x2="32597" y2="41732"/>
                          <a14:foregroundMark x1="24309" y1="37992" x2="40884" y2="49213"/>
                          <a14:foregroundMark x1="25967" y1="40945" x2="39411" y2="48425"/>
                          <a14:foregroundMark x1="27256" y1="40748" x2="45672" y2="48228"/>
                          <a14:foregroundMark x1="27993" y1="39961" x2="44936" y2="48819"/>
                          <a14:foregroundMark x1="55433" y1="23425" x2="57459" y2="66929"/>
                          <a14:foregroundMark x1="16759" y1="71850" x2="18416" y2="77165"/>
                          <a14:foregroundMark x1="6998" y1="32283" x2="6998" y2="42126"/>
                          <a14:foregroundMark x1="15101" y1="16732" x2="17127" y2="19882"/>
                          <a14:foregroundMark x1="13996" y1="15157" x2="19153" y2="15354"/>
                        </a14:backgroundRemoval>
                      </a14:imgEffect>
                      <a14:imgEffect>
                        <a14:brightnessContrast bright="-4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53" t="12720" r="40679" b="20606"/>
            <a:stretch/>
          </p:blipFill>
          <p:spPr>
            <a:xfrm rot="10800000">
              <a:off x="7204657" y="4143483"/>
              <a:ext cx="2524125" cy="293370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BD9FCD8-FF1C-47B8-8599-A1D9D8F12C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prstClr val="black"/>
                <a:prstClr val="black">
                  <a:tint val="45000"/>
                  <a:satMod val="400000"/>
                </a:prst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5157" b="76969" l="6814" r="57459">
                          <a14:foregroundMark x1="15838" y1="18504" x2="16759" y2="32283"/>
                          <a14:foregroundMark x1="24678" y1="23622" x2="34254" y2="30512"/>
                          <a14:foregroundMark x1="23020" y1="27362" x2="32597" y2="41732"/>
                          <a14:foregroundMark x1="24309" y1="37992" x2="40884" y2="49213"/>
                          <a14:foregroundMark x1="25967" y1="40945" x2="39411" y2="48425"/>
                          <a14:foregroundMark x1="27256" y1="40748" x2="45672" y2="48228"/>
                          <a14:foregroundMark x1="27993" y1="39961" x2="44936" y2="48819"/>
                          <a14:foregroundMark x1="55433" y1="23425" x2="57459" y2="66929"/>
                          <a14:foregroundMark x1="16759" y1="71850" x2="18416" y2="77165"/>
                          <a14:foregroundMark x1="6998" y1="32283" x2="6998" y2="42126"/>
                          <a14:foregroundMark x1="15101" y1="16732" x2="17127" y2="19882"/>
                          <a14:foregroundMark x1="13996" y1="15157" x2="19153" y2="15354"/>
                        </a14:backgroundRemoval>
                      </a14:imgEffect>
                      <a14:imgEffect>
                        <a14:brightnessContrast bright="-4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53" t="12720" r="40679" b="20606"/>
            <a:stretch/>
          </p:blipFill>
          <p:spPr>
            <a:xfrm>
              <a:off x="7134897" y="1151890"/>
              <a:ext cx="2524125" cy="2933700"/>
            </a:xfrm>
            <a:prstGeom prst="rect">
              <a:avLst/>
            </a:prstGeom>
          </p:spPr>
        </p:pic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45D4951-D5D0-40F0-B263-000F9025A0B8}"/>
                </a:ext>
              </a:extLst>
            </p:cNvPr>
            <p:cNvCxnSpPr>
              <a:cxnSpLocks/>
            </p:cNvCxnSpPr>
            <p:nvPr/>
          </p:nvCxnSpPr>
          <p:spPr>
            <a:xfrm>
              <a:off x="903678" y="721360"/>
              <a:ext cx="0" cy="5689600"/>
            </a:xfrm>
            <a:prstGeom prst="line">
              <a:avLst/>
            </a:prstGeom>
            <a:ln w="76200">
              <a:solidFill>
                <a:srgbClr val="FFC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3CACB99-85C9-4169-B172-B2035C9364D2}"/>
                </a:ext>
              </a:extLst>
            </p:cNvPr>
            <p:cNvCxnSpPr>
              <a:cxnSpLocks/>
            </p:cNvCxnSpPr>
            <p:nvPr/>
          </p:nvCxnSpPr>
          <p:spPr>
            <a:xfrm>
              <a:off x="3451262" y="721360"/>
              <a:ext cx="0" cy="5689600"/>
            </a:xfrm>
            <a:prstGeom prst="line">
              <a:avLst/>
            </a:prstGeom>
            <a:ln w="76200">
              <a:solidFill>
                <a:srgbClr val="FFC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66A966C-6078-40A1-B8D5-7DA02E202788}"/>
                </a:ext>
              </a:extLst>
            </p:cNvPr>
            <p:cNvCxnSpPr>
              <a:cxnSpLocks/>
            </p:cNvCxnSpPr>
            <p:nvPr/>
          </p:nvCxnSpPr>
          <p:spPr>
            <a:xfrm>
              <a:off x="6948879" y="721360"/>
              <a:ext cx="0" cy="5689600"/>
            </a:xfrm>
            <a:prstGeom prst="line">
              <a:avLst/>
            </a:prstGeom>
            <a:ln w="76200">
              <a:solidFill>
                <a:srgbClr val="FFC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D4828-4297-4E57-9CEB-D877AA39C037}"/>
                </a:ext>
              </a:extLst>
            </p:cNvPr>
            <p:cNvCxnSpPr>
              <a:cxnSpLocks/>
            </p:cNvCxnSpPr>
            <p:nvPr/>
          </p:nvCxnSpPr>
          <p:spPr>
            <a:xfrm>
              <a:off x="9659022" y="721360"/>
              <a:ext cx="0" cy="5689600"/>
            </a:xfrm>
            <a:prstGeom prst="line">
              <a:avLst/>
            </a:prstGeom>
            <a:ln w="76200">
              <a:solidFill>
                <a:srgbClr val="FFC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FE9C555-FB90-498D-BCCD-98B1E2DA242C}"/>
                </a:ext>
              </a:extLst>
            </p:cNvPr>
            <p:cNvSpPr txBox="1"/>
            <p:nvPr/>
          </p:nvSpPr>
          <p:spPr>
            <a:xfrm>
              <a:off x="1717040" y="213747"/>
              <a:ext cx="134524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Straight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DA0D08F-37A3-4F6F-B002-A139DA821E6F}"/>
                </a:ext>
              </a:extLst>
            </p:cNvPr>
            <p:cNvSpPr txBox="1"/>
            <p:nvPr/>
          </p:nvSpPr>
          <p:spPr>
            <a:xfrm>
              <a:off x="7784482" y="213747"/>
              <a:ext cx="13644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Overlap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5F86E81-7B79-4A6A-B99D-DCA03A6C0C73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17" name="สี่เหลี่ยมผืนผ้า 33">
              <a:extLst>
                <a:ext uri="{FF2B5EF4-FFF2-40B4-BE49-F238E27FC236}">
                  <a16:creationId xmlns:a16="http://schemas.microsoft.com/office/drawing/2014/main" id="{CD5BD39A-DDEB-45E2-AF1A-49EC7ADC3B19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กล่องข้อความ 34">
              <a:extLst>
                <a:ext uri="{FF2B5EF4-FFF2-40B4-BE49-F238E27FC236}">
                  <a16:creationId xmlns:a16="http://schemas.microsoft.com/office/drawing/2014/main" id="{C652D2E3-4553-4413-838B-8E16835D49CC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132074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0F5FC69-08FA-422F-8884-14FD035EF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526" y="668238"/>
            <a:ext cx="8544947" cy="3870925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86DA7D7E-EDA7-4CC1-ACA3-7A7114F88187}"/>
              </a:ext>
            </a:extLst>
          </p:cNvPr>
          <p:cNvGrpSpPr/>
          <p:nvPr/>
        </p:nvGrpSpPr>
        <p:grpSpPr>
          <a:xfrm>
            <a:off x="1081644" y="4908495"/>
            <a:ext cx="10028711" cy="1477328"/>
            <a:chOff x="448789" y="5081766"/>
            <a:chExt cx="10028711" cy="1477328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8366223-49BB-47B4-95AC-B739DF7D09C8}"/>
                </a:ext>
              </a:extLst>
            </p:cNvPr>
            <p:cNvGrpSpPr/>
            <p:nvPr/>
          </p:nvGrpSpPr>
          <p:grpSpPr>
            <a:xfrm>
              <a:off x="448789" y="5081766"/>
              <a:ext cx="3440365" cy="1477328"/>
              <a:chOff x="955735" y="4975860"/>
              <a:chExt cx="3440365" cy="1477328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20BD3D0-B1A8-4DF1-BE84-57461C6EC9BF}"/>
                  </a:ext>
                </a:extLst>
              </p:cNvPr>
              <p:cNvSpPr txBox="1"/>
              <p:nvPr/>
            </p:nvSpPr>
            <p:spPr>
              <a:xfrm>
                <a:off x="955735" y="4975860"/>
                <a:ext cx="22509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Cordia New" panose="020B0304020202020204" pitchFamily="34" charset="-34"/>
                    <a:cs typeface="Cordia New" panose="020B0304020202020204" pitchFamily="34" charset="-34"/>
                  </a:rPr>
                  <a:t>After ups </a:t>
                </a:r>
                <a:r>
                  <a:rPr lang="en-US" dirty="0">
                    <a:latin typeface="Cordia New" panose="020B0304020202020204" pitchFamily="34" charset="-34"/>
                    <a:cs typeface="Cordia New" panose="020B0304020202020204" pitchFamily="34" charset="-34"/>
                  </a:rPr>
                  <a:t>= Roundup(Qty/Ups)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3DC14B3-580F-4929-B92E-8DEA7AA1F93D}"/>
                  </a:ext>
                </a:extLst>
              </p:cNvPr>
              <p:cNvSpPr txBox="1"/>
              <p:nvPr/>
            </p:nvSpPr>
            <p:spPr>
              <a:xfrm>
                <a:off x="955735" y="5345192"/>
                <a:ext cx="34403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Cordia New" panose="020B0304020202020204" pitchFamily="34" charset="-34"/>
                    <a:cs typeface="Cordia New" panose="020B0304020202020204" pitchFamily="34" charset="-34"/>
                  </a:rPr>
                  <a:t>Waste</a:t>
                </a:r>
                <a:r>
                  <a:rPr lang="en-US" dirty="0">
                    <a:latin typeface="Cordia New" panose="020B0304020202020204" pitchFamily="34" charset="-34"/>
                    <a:cs typeface="Cordia New" panose="020B0304020202020204" pitchFamily="34" charset="-34"/>
                  </a:rPr>
                  <a:t> </a:t>
                </a:r>
                <a:r>
                  <a:rPr lang="th-TH" dirty="0">
                    <a:latin typeface="Cordia New" panose="020B0304020202020204" pitchFamily="34" charset="-34"/>
                    <a:cs typeface="Cordia New" panose="020B0304020202020204" pitchFamily="34" charset="-34"/>
                  </a:rPr>
                  <a:t>เทียบตาราง</a:t>
                </a:r>
                <a:r>
                  <a:rPr lang="en-US" dirty="0">
                    <a:latin typeface="Cordia New" panose="020B0304020202020204" pitchFamily="34" charset="-34"/>
                    <a:cs typeface="Cordia New" panose="020B0304020202020204" pitchFamily="34" charset="-34"/>
                  </a:rPr>
                  <a:t> waste</a:t>
                </a:r>
                <a:r>
                  <a:rPr lang="th-TH" dirty="0">
                    <a:latin typeface="Cordia New" panose="020B0304020202020204" pitchFamily="34" charset="-34"/>
                    <a:cs typeface="Cordia New" panose="020B0304020202020204" pitchFamily="34" charset="-34"/>
                  </a:rPr>
                  <a:t> จาก</a:t>
                </a:r>
                <a:r>
                  <a:rPr lang="en-US" dirty="0">
                    <a:latin typeface="Cordia New" panose="020B0304020202020204" pitchFamily="34" charset="-34"/>
                    <a:cs typeface="Cordia New" panose="020B0304020202020204" pitchFamily="34" charset="-34"/>
                  </a:rPr>
                  <a:t> </a:t>
                </a:r>
                <a:r>
                  <a:rPr lang="en-US" dirty="0" err="1">
                    <a:latin typeface="Cordia New" panose="020B0304020202020204" pitchFamily="34" charset="-34"/>
                    <a:cs typeface="Cordia New" panose="020B0304020202020204" pitchFamily="34" charset="-34"/>
                  </a:rPr>
                  <a:t>db</a:t>
                </a:r>
                <a:r>
                  <a:rPr lang="th-TH" dirty="0">
                    <a:latin typeface="Cordia New" panose="020B0304020202020204" pitchFamily="34" charset="-34"/>
                    <a:cs typeface="Cordia New" panose="020B0304020202020204" pitchFamily="34" charset="-34"/>
                  </a:rPr>
                  <a:t> โดยใช้</a:t>
                </a:r>
                <a:r>
                  <a:rPr lang="en-US" dirty="0">
                    <a:latin typeface="Cordia New" panose="020B0304020202020204" pitchFamily="34" charset="-34"/>
                    <a:cs typeface="Cordia New" panose="020B0304020202020204" pitchFamily="34" charset="-34"/>
                  </a:rPr>
                  <a:t> After ups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2FECA4D-76E7-474E-AD1C-2D0F07288D00}"/>
                  </a:ext>
                </a:extLst>
              </p:cNvPr>
              <p:cNvSpPr txBox="1"/>
              <p:nvPr/>
            </p:nvSpPr>
            <p:spPr>
              <a:xfrm>
                <a:off x="955735" y="5714524"/>
                <a:ext cx="23984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Cordia New" panose="020B0304020202020204" pitchFamily="34" charset="-34"/>
                    <a:cs typeface="Cordia New" panose="020B0304020202020204" pitchFamily="34" charset="-34"/>
                  </a:rPr>
                  <a:t>After</a:t>
                </a:r>
                <a:r>
                  <a:rPr lang="en-US" dirty="0">
                    <a:latin typeface="Cordia New" panose="020B0304020202020204" pitchFamily="34" charset="-34"/>
                    <a:cs typeface="Cordia New" panose="020B0304020202020204" pitchFamily="34" charset="-34"/>
                  </a:rPr>
                  <a:t> </a:t>
                </a:r>
                <a:r>
                  <a:rPr lang="en-US" b="1" dirty="0">
                    <a:latin typeface="Cordia New" panose="020B0304020202020204" pitchFamily="34" charset="-34"/>
                    <a:cs typeface="Cordia New" panose="020B0304020202020204" pitchFamily="34" charset="-34"/>
                  </a:rPr>
                  <a:t>Waste</a:t>
                </a:r>
                <a:r>
                  <a:rPr lang="en-US" dirty="0">
                    <a:latin typeface="Cordia New" panose="020B0304020202020204" pitchFamily="34" charset="-34"/>
                    <a:cs typeface="Cordia New" panose="020B0304020202020204" pitchFamily="34" charset="-34"/>
                  </a:rPr>
                  <a:t> = After ups + Waste 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B4655E9-2F19-4C2D-B68C-454A2BDA00A5}"/>
                  </a:ext>
                </a:extLst>
              </p:cNvPr>
              <p:cNvSpPr txBox="1"/>
              <p:nvPr/>
            </p:nvSpPr>
            <p:spPr>
              <a:xfrm>
                <a:off x="955735" y="6083856"/>
                <a:ext cx="24657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Cordia New" panose="020B0304020202020204" pitchFamily="34" charset="-34"/>
                    <a:cs typeface="Cordia New" panose="020B0304020202020204" pitchFamily="34" charset="-34"/>
                  </a:rPr>
                  <a:t>Sig</a:t>
                </a:r>
                <a:r>
                  <a:rPr lang="en-US" dirty="0">
                    <a:latin typeface="Cordia New" panose="020B0304020202020204" pitchFamily="34" charset="-34"/>
                    <a:cs typeface="Cordia New" panose="020B0304020202020204" pitchFamily="34" charset="-34"/>
                  </a:rPr>
                  <a:t> = 1</a:t>
                </a:r>
                <a:r>
                  <a:rPr lang="th-TH" dirty="0">
                    <a:latin typeface="Cordia New" panose="020B0304020202020204" pitchFamily="34" charset="-34"/>
                    <a:cs typeface="Cordia New" panose="020B0304020202020204" pitchFamily="34" charset="-34"/>
                  </a:rPr>
                  <a:t> </a:t>
                </a:r>
                <a:r>
                  <a:rPr lang="en-US" dirty="0">
                    <a:latin typeface="Cordia New" panose="020B0304020202020204" pitchFamily="34" charset="-34"/>
                    <a:cs typeface="Cordia New" panose="020B0304020202020204" pitchFamily="34" charset="-34"/>
                  </a:rPr>
                  <a:t>(</a:t>
                </a:r>
                <a:r>
                  <a:rPr lang="th-TH" dirty="0">
                    <a:latin typeface="Cordia New" panose="020B0304020202020204" pitchFamily="34" charset="-34"/>
                    <a:cs typeface="Cordia New" panose="020B0304020202020204" pitchFamily="34" charset="-34"/>
                  </a:rPr>
                  <a:t>งาน </a:t>
                </a:r>
                <a:r>
                  <a:rPr lang="en-US" dirty="0">
                    <a:latin typeface="Cordia New" panose="020B0304020202020204" pitchFamily="34" charset="-34"/>
                    <a:cs typeface="Cordia New" panose="020B0304020202020204" pitchFamily="34" charset="-34"/>
                  </a:rPr>
                  <a:t>Packaging</a:t>
                </a:r>
                <a:r>
                  <a:rPr lang="th-TH" dirty="0">
                    <a:latin typeface="Cordia New" panose="020B0304020202020204" pitchFamily="34" charset="-34"/>
                    <a:cs typeface="Cordia New" panose="020B0304020202020204" pitchFamily="34" charset="-34"/>
                  </a:rPr>
                  <a:t> </a:t>
                </a:r>
                <a:r>
                  <a:rPr lang="en-US" dirty="0">
                    <a:latin typeface="Cordia New" panose="020B0304020202020204" pitchFamily="34" charset="-34"/>
                    <a:cs typeface="Cordia New" panose="020B0304020202020204" pitchFamily="34" charset="-34"/>
                  </a:rPr>
                  <a:t>= 1</a:t>
                </a:r>
                <a:r>
                  <a:rPr lang="th-TH" dirty="0">
                    <a:latin typeface="Cordia New" panose="020B0304020202020204" pitchFamily="34" charset="-34"/>
                    <a:cs typeface="Cordia New" panose="020B0304020202020204" pitchFamily="34" charset="-34"/>
                  </a:rPr>
                  <a:t> เสมอ)</a:t>
                </a:r>
                <a:endParaRPr lang="en-US" dirty="0">
                  <a:latin typeface="Cordia New" panose="020B0304020202020204" pitchFamily="34" charset="-34"/>
                  <a:cs typeface="Cordia New" panose="020B0304020202020204" pitchFamily="34" charset="-34"/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2B66AD4-2735-42F8-87CE-B5353557560B}"/>
                </a:ext>
              </a:extLst>
            </p:cNvPr>
            <p:cNvGrpSpPr/>
            <p:nvPr/>
          </p:nvGrpSpPr>
          <p:grpSpPr>
            <a:xfrm>
              <a:off x="4021116" y="5081766"/>
              <a:ext cx="6456384" cy="1477328"/>
              <a:chOff x="955735" y="4975860"/>
              <a:chExt cx="6456384" cy="1477328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1A5E6E9-EBE8-4DB0-9B36-50D306EFE8CB}"/>
                  </a:ext>
                </a:extLst>
              </p:cNvPr>
              <p:cNvSpPr txBox="1"/>
              <p:nvPr/>
            </p:nvSpPr>
            <p:spPr>
              <a:xfrm>
                <a:off x="955735" y="4975860"/>
                <a:ext cx="22509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Cordia New" panose="020B0304020202020204" pitchFamily="34" charset="-34"/>
                    <a:cs typeface="Cordia New" panose="020B0304020202020204" pitchFamily="34" charset="-34"/>
                  </a:rPr>
                  <a:t>Paper</a:t>
                </a:r>
                <a:r>
                  <a:rPr lang="en-US" dirty="0">
                    <a:latin typeface="Cordia New" panose="020B0304020202020204" pitchFamily="34" charset="-34"/>
                    <a:cs typeface="Cordia New" panose="020B0304020202020204" pitchFamily="34" charset="-34"/>
                  </a:rPr>
                  <a:t> </a:t>
                </a:r>
                <a:r>
                  <a:rPr lang="en-US" b="1" dirty="0">
                    <a:latin typeface="Cordia New" panose="020B0304020202020204" pitchFamily="34" charset="-34"/>
                    <a:cs typeface="Cordia New" panose="020B0304020202020204" pitchFamily="34" charset="-34"/>
                  </a:rPr>
                  <a:t>Print</a:t>
                </a:r>
                <a:r>
                  <a:rPr lang="en-US" dirty="0">
                    <a:latin typeface="Cordia New" panose="020B0304020202020204" pitchFamily="34" charset="-34"/>
                    <a:cs typeface="Cordia New" panose="020B0304020202020204" pitchFamily="34" charset="-34"/>
                  </a:rPr>
                  <a:t> =</a:t>
                </a:r>
                <a:r>
                  <a:rPr lang="th-TH" dirty="0">
                    <a:latin typeface="Cordia New" panose="020B0304020202020204" pitchFamily="34" charset="-34"/>
                    <a:cs typeface="Cordia New" panose="020B0304020202020204" pitchFamily="34" charset="-34"/>
                  </a:rPr>
                  <a:t> </a:t>
                </a:r>
                <a:r>
                  <a:rPr lang="en-US" dirty="0">
                    <a:latin typeface="Cordia New" panose="020B0304020202020204" pitchFamily="34" charset="-34"/>
                    <a:cs typeface="Cordia New" panose="020B0304020202020204" pitchFamily="34" charset="-34"/>
                  </a:rPr>
                  <a:t>After Waste * Sig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C41B53F-0BF3-4AE1-A9DA-F475FE34753E}"/>
                  </a:ext>
                </a:extLst>
              </p:cNvPr>
              <p:cNvSpPr txBox="1"/>
              <p:nvPr/>
            </p:nvSpPr>
            <p:spPr>
              <a:xfrm>
                <a:off x="955735" y="5345192"/>
                <a:ext cx="62887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Cordia New" panose="020B0304020202020204" pitchFamily="34" charset="-34"/>
                    <a:cs typeface="Cordia New" panose="020B0304020202020204" pitchFamily="34" charset="-34"/>
                  </a:rPr>
                  <a:t>Split</a:t>
                </a:r>
                <a:r>
                  <a:rPr lang="en-US" dirty="0">
                    <a:latin typeface="Cordia New" panose="020B0304020202020204" pitchFamily="34" charset="-34"/>
                    <a:cs typeface="Cordia New" panose="020B0304020202020204" pitchFamily="34" charset="-34"/>
                  </a:rPr>
                  <a:t> =  </a:t>
                </a:r>
                <a:r>
                  <a:rPr lang="en-US" dirty="0" err="1">
                    <a:latin typeface="Cordia New" panose="020B0304020202020204" pitchFamily="34" charset="-34"/>
                    <a:cs typeface="Cordia New" panose="020B0304020202020204" pitchFamily="34" charset="-34"/>
                  </a:rPr>
                  <a:t>Rounddown</a:t>
                </a:r>
                <a:r>
                  <a:rPr lang="en-US" dirty="0">
                    <a:latin typeface="Cordia New" panose="020B0304020202020204" pitchFamily="34" charset="-34"/>
                    <a:cs typeface="Cordia New" panose="020B0304020202020204" pitchFamily="34" charset="-34"/>
                  </a:rPr>
                  <a:t>(Paper size(W)/Lay size(W)) * </a:t>
                </a:r>
                <a:r>
                  <a:rPr lang="en-US" dirty="0" err="1">
                    <a:latin typeface="Cordia New" panose="020B0304020202020204" pitchFamily="34" charset="-34"/>
                    <a:cs typeface="Cordia New" panose="020B0304020202020204" pitchFamily="34" charset="-34"/>
                  </a:rPr>
                  <a:t>Rounddown</a:t>
                </a:r>
                <a:r>
                  <a:rPr lang="en-US" dirty="0">
                    <a:latin typeface="Cordia New" panose="020B0304020202020204" pitchFamily="34" charset="-34"/>
                    <a:cs typeface="Cordia New" panose="020B0304020202020204" pitchFamily="34" charset="-34"/>
                  </a:rPr>
                  <a:t>(Paper size(L)/Lay size(L)) 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C1A9137-D833-49D9-971C-B8EA3A66077B}"/>
                  </a:ext>
                </a:extLst>
              </p:cNvPr>
              <p:cNvSpPr txBox="1"/>
              <p:nvPr/>
            </p:nvSpPr>
            <p:spPr>
              <a:xfrm>
                <a:off x="955735" y="5714524"/>
                <a:ext cx="23984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Cordia New" panose="020B0304020202020204" pitchFamily="34" charset="-34"/>
                    <a:cs typeface="Cordia New" panose="020B0304020202020204" pitchFamily="34" charset="-34"/>
                  </a:rPr>
                  <a:t>Paper</a:t>
                </a:r>
                <a:r>
                  <a:rPr lang="en-US" dirty="0">
                    <a:latin typeface="Cordia New" panose="020B0304020202020204" pitchFamily="34" charset="-34"/>
                    <a:cs typeface="Cordia New" panose="020B0304020202020204" pitchFamily="34" charset="-34"/>
                  </a:rPr>
                  <a:t> </a:t>
                </a:r>
                <a:r>
                  <a:rPr lang="en-US" b="1" dirty="0">
                    <a:latin typeface="Cordia New" panose="020B0304020202020204" pitchFamily="34" charset="-34"/>
                    <a:cs typeface="Cordia New" panose="020B0304020202020204" pitchFamily="34" charset="-34"/>
                  </a:rPr>
                  <a:t>Qty</a:t>
                </a:r>
                <a:r>
                  <a:rPr lang="en-US" dirty="0">
                    <a:latin typeface="Cordia New" panose="020B0304020202020204" pitchFamily="34" charset="-34"/>
                    <a:cs typeface="Cordia New" panose="020B0304020202020204" pitchFamily="34" charset="-34"/>
                  </a:rPr>
                  <a:t> = Paper Print / Split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BB8902A-2F83-40DE-9874-504875BE4DB5}"/>
                  </a:ext>
                </a:extLst>
              </p:cNvPr>
              <p:cNvSpPr txBox="1"/>
              <p:nvPr/>
            </p:nvSpPr>
            <p:spPr>
              <a:xfrm>
                <a:off x="955735" y="6083856"/>
                <a:ext cx="64563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Cordia New" panose="020B0304020202020204" pitchFamily="34" charset="-34"/>
                    <a:cs typeface="Cordia New" panose="020B0304020202020204" pitchFamily="34" charset="-34"/>
                  </a:rPr>
                  <a:t>Paper</a:t>
                </a:r>
                <a:r>
                  <a:rPr lang="en-US" dirty="0">
                    <a:latin typeface="Cordia New" panose="020B0304020202020204" pitchFamily="34" charset="-34"/>
                    <a:cs typeface="Cordia New" panose="020B0304020202020204" pitchFamily="34" charset="-34"/>
                  </a:rPr>
                  <a:t> </a:t>
                </a:r>
                <a:r>
                  <a:rPr lang="en-US" b="1" dirty="0">
                    <a:latin typeface="Cordia New" panose="020B0304020202020204" pitchFamily="34" charset="-34"/>
                    <a:cs typeface="Cordia New" panose="020B0304020202020204" pitchFamily="34" charset="-34"/>
                  </a:rPr>
                  <a:t>Net</a:t>
                </a:r>
                <a:r>
                  <a:rPr lang="en-US" dirty="0">
                    <a:latin typeface="Cordia New" panose="020B0304020202020204" pitchFamily="34" charset="-34"/>
                    <a:cs typeface="Cordia New" panose="020B0304020202020204" pitchFamily="34" charset="-34"/>
                  </a:rPr>
                  <a:t> = Roundup(Paper qty) </a:t>
                </a:r>
                <a:r>
                  <a:rPr lang="th-TH" dirty="0">
                    <a:latin typeface="Cordia New" panose="020B0304020202020204" pitchFamily="34" charset="-34"/>
                    <a:cs typeface="Cordia New" panose="020B0304020202020204" pitchFamily="34" charset="-34"/>
                  </a:rPr>
                  <a:t>เต็มร้อย</a:t>
                </a:r>
                <a:r>
                  <a:rPr lang="en-US" dirty="0">
                    <a:latin typeface="Cordia New" panose="020B0304020202020204" pitchFamily="34" charset="-34"/>
                    <a:cs typeface="Cordia New" panose="020B0304020202020204" pitchFamily="34" charset="-34"/>
                  </a:rPr>
                  <a:t>	</a:t>
                </a:r>
                <a:r>
                  <a:rPr lang="en-US" b="1" dirty="0">
                    <a:latin typeface="Cordia New" panose="020B0304020202020204" pitchFamily="34" charset="-34"/>
                    <a:cs typeface="Cordia New" panose="020B0304020202020204" pitchFamily="34" charset="-34"/>
                  </a:rPr>
                  <a:t>Tons</a:t>
                </a:r>
                <a:r>
                  <a:rPr lang="en-US" dirty="0">
                    <a:latin typeface="Cordia New" panose="020B0304020202020204" pitchFamily="34" charset="-34"/>
                    <a:cs typeface="Cordia New" panose="020B0304020202020204" pitchFamily="34" charset="-34"/>
                  </a:rPr>
                  <a:t> = Paper Size * </a:t>
                </a:r>
                <a:r>
                  <a:rPr lang="en-US" dirty="0" err="1">
                    <a:latin typeface="Cordia New" panose="020B0304020202020204" pitchFamily="34" charset="-34"/>
                    <a:cs typeface="Cordia New" panose="020B0304020202020204" pitchFamily="34" charset="-34"/>
                  </a:rPr>
                  <a:t>gsm</a:t>
                </a:r>
                <a:r>
                  <a:rPr lang="en-US" dirty="0">
                    <a:latin typeface="Cordia New" panose="020B0304020202020204" pitchFamily="34" charset="-34"/>
                    <a:cs typeface="Cordia New" panose="020B0304020202020204" pitchFamily="34" charset="-34"/>
                  </a:rPr>
                  <a:t> * Paper Net</a:t>
                </a:r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8E03409-5523-48BA-B787-AE23FA8061E5}"/>
              </a:ext>
            </a:extLst>
          </p:cNvPr>
          <p:cNvSpPr txBox="1"/>
          <p:nvPr/>
        </p:nvSpPr>
        <p:spPr>
          <a:xfrm>
            <a:off x="180683" y="198879"/>
            <a:ext cx="5505450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th-TH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การคิดจำนวนของเสีย </a:t>
            </a:r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(Waste), </a:t>
            </a:r>
            <a:r>
              <a:rPr lang="th-TH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จำนวนกระดาษ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7E6757B-B5FA-4864-ADB1-3A032DEEB065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20" name="สี่เหลี่ยมผืนผ้า 33">
              <a:extLst>
                <a:ext uri="{FF2B5EF4-FFF2-40B4-BE49-F238E27FC236}">
                  <a16:creationId xmlns:a16="http://schemas.microsoft.com/office/drawing/2014/main" id="{5CE3C9BE-B86A-4144-A207-42771298F931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กล่องข้อความ 34">
              <a:extLst>
                <a:ext uri="{FF2B5EF4-FFF2-40B4-BE49-F238E27FC236}">
                  <a16:creationId xmlns:a16="http://schemas.microsoft.com/office/drawing/2014/main" id="{7509E491-9691-43A1-B61F-61C7EFA8D311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83983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0980C3-BB8E-440E-91C5-468D701AC665}"/>
              </a:ext>
            </a:extLst>
          </p:cNvPr>
          <p:cNvSpPr txBox="1"/>
          <p:nvPr/>
        </p:nvSpPr>
        <p:spPr>
          <a:xfrm>
            <a:off x="590550" y="514350"/>
            <a:ext cx="2367254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การคิดราคากระดาษ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695944-53DA-4033-A520-2D5B88373D30}"/>
              </a:ext>
            </a:extLst>
          </p:cNvPr>
          <p:cNvSpPr txBox="1"/>
          <p:nvPr/>
        </p:nvSpPr>
        <p:spPr>
          <a:xfrm>
            <a:off x="590550" y="1168400"/>
            <a:ext cx="5366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Case 1: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คิดราคาจากกระดาษม้วน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F1451C-D100-43C5-A5A0-E3A78D2F7CEF}"/>
              </a:ext>
            </a:extLst>
          </p:cNvPr>
          <p:cNvSpPr txBox="1"/>
          <p:nvPr/>
        </p:nvSpPr>
        <p:spPr>
          <a:xfrm>
            <a:off x="590549" y="1668562"/>
            <a:ext cx="8900691" cy="985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Unit price</a:t>
            </a:r>
            <a:r>
              <a:rPr lang="th-TH" sz="24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en-US" sz="24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(B/kg) = paper cost(B/kg) x %mark-up x %</a:t>
            </a:r>
            <a:r>
              <a:rPr lang="th-TH" sz="24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ค่าตัดกระดาษม้วน</a:t>
            </a:r>
            <a:endParaRPr lang="en-US" sz="2400" dirty="0">
              <a:effectLst/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Unit price</a:t>
            </a:r>
            <a:r>
              <a:rPr lang="th-TH" sz="24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en-US" sz="24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(B/sheet) </a:t>
            </a:r>
            <a:r>
              <a:rPr lang="en-US" sz="24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= paper size(</a:t>
            </a:r>
            <a:r>
              <a:rPr lang="en-US" sz="2400" dirty="0" err="1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sqin</a:t>
            </a:r>
            <a:r>
              <a:rPr lang="en-US" sz="24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) x paper gram x Unit price(B/kg) /1,550,000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7D2AF0-2D2F-4C88-B146-00D79EB4BB30}"/>
              </a:ext>
            </a:extLst>
          </p:cNvPr>
          <p:cNvSpPr txBox="1"/>
          <p:nvPr/>
        </p:nvSpPr>
        <p:spPr>
          <a:xfrm>
            <a:off x="590549" y="2930785"/>
            <a:ext cx="5366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Case 2: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คิดราคาจากกระดาษแผ่น 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D5EC8E-0AC8-40EA-A076-897323FFA0B7}"/>
              </a:ext>
            </a:extLst>
          </p:cNvPr>
          <p:cNvSpPr txBox="1"/>
          <p:nvPr/>
        </p:nvSpPr>
        <p:spPr>
          <a:xfrm>
            <a:off x="590550" y="3401268"/>
            <a:ext cx="8752984" cy="487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Unit price</a:t>
            </a:r>
            <a:r>
              <a:rPr lang="th-TH" sz="24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en-US" sz="24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(B/sheet) </a:t>
            </a:r>
            <a:r>
              <a:rPr lang="en-US" sz="24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= paper cost(B/sheet) x %mark-up</a:t>
            </a:r>
            <a:endParaRPr lang="en-US" dirty="0">
              <a:effectLst/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A22CE7-96D0-44D1-8753-EB692D3BC9B3}"/>
              </a:ext>
            </a:extLst>
          </p:cNvPr>
          <p:cNvSpPr txBox="1"/>
          <p:nvPr/>
        </p:nvSpPr>
        <p:spPr>
          <a:xfrm>
            <a:off x="590550" y="4392457"/>
            <a:ext cx="8752984" cy="487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Price = Qty</a:t>
            </a:r>
            <a:r>
              <a:rPr lang="th-TH" sz="24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en-US" sz="24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(Paper Net) x Unit price(B/sheet)</a:t>
            </a:r>
            <a:endParaRPr lang="en-US" b="1" dirty="0">
              <a:effectLst/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974B356-B47E-4B77-B863-1831D287CFC0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10" name="สี่เหลี่ยมผืนผ้า 33">
              <a:extLst>
                <a:ext uri="{FF2B5EF4-FFF2-40B4-BE49-F238E27FC236}">
                  <a16:creationId xmlns:a16="http://schemas.microsoft.com/office/drawing/2014/main" id="{8BA10426-BEB9-47CC-A0D6-A36B7AA71825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2" name="กล่องข้อความ 34">
              <a:extLst>
                <a:ext uri="{FF2B5EF4-FFF2-40B4-BE49-F238E27FC236}">
                  <a16:creationId xmlns:a16="http://schemas.microsoft.com/office/drawing/2014/main" id="{74E1410F-2885-4282-BED9-6D33EF0074C2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163829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6724E5-46D8-4910-9C77-E7797DD8FDDA}"/>
              </a:ext>
            </a:extLst>
          </p:cNvPr>
          <p:cNvSpPr txBox="1"/>
          <p:nvPr/>
        </p:nvSpPr>
        <p:spPr>
          <a:xfrm>
            <a:off x="590550" y="514350"/>
            <a:ext cx="2040683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การคิดราคาเพลท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9F0748-ADF9-456D-9433-112BE12DB113}"/>
              </a:ext>
            </a:extLst>
          </p:cNvPr>
          <p:cNvSpPr txBox="1"/>
          <p:nvPr/>
        </p:nvSpPr>
        <p:spPr>
          <a:xfrm>
            <a:off x="882571" y="1218134"/>
            <a:ext cx="10205976" cy="4967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th-TH" sz="24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แยกคิด</a:t>
            </a:r>
            <a:r>
              <a:rPr lang="en-US" sz="24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Outside, Inside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th-TH" sz="2400" b="1" u="sng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ประเภทพิมพ์ </a:t>
            </a:r>
            <a:r>
              <a:rPr lang="en-US" sz="2400" b="1" u="sng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:</a:t>
            </a:r>
            <a:r>
              <a:rPr lang="th-TH" sz="2400" b="1" u="sng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en-US" sz="2400" b="1" u="sng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Offset</a:t>
            </a:r>
            <a:endParaRPr lang="en-US" sz="2400" b="1" u="sng" dirty="0">
              <a:effectLst/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Unit Price =</a:t>
            </a:r>
            <a:r>
              <a:rPr lang="th-TH" sz="24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จำนวนสีที่พิมพ์</a:t>
            </a:r>
            <a:r>
              <a:rPr lang="en-US" sz="24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x</a:t>
            </a:r>
            <a:r>
              <a:rPr lang="th-TH" sz="24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จำนวนยก</a:t>
            </a:r>
            <a:r>
              <a:rPr lang="en-US" sz="24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x</a:t>
            </a:r>
            <a:r>
              <a:rPr lang="th-TH" sz="24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ราคาเพลท</a:t>
            </a:r>
            <a:r>
              <a:rPr lang="en-US" sz="24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/</a:t>
            </a:r>
            <a:r>
              <a:rPr lang="th-TH" sz="24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สี</a:t>
            </a:r>
            <a:r>
              <a:rPr lang="en-US" sz="24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(800 B/color)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Price = Qty (1 Plate) x Unit Price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400" dirty="0"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h-TH" sz="2400" b="1" u="sng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ประเภทพิมพ์ </a:t>
            </a:r>
            <a:r>
              <a:rPr lang="en-US" sz="2400" b="1" u="sng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:</a:t>
            </a:r>
            <a:r>
              <a:rPr lang="th-TH" sz="2400" b="1" u="sng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en-US" sz="2400" b="1" u="sng" dirty="0" err="1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Flexo</a:t>
            </a:r>
            <a:endParaRPr lang="en-US" sz="2400" b="1" u="sng" dirty="0"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Unit Price = 5.4 </a:t>
            </a:r>
            <a:r>
              <a:rPr lang="en-US" sz="2400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*1.1(</a:t>
            </a:r>
            <a:r>
              <a:rPr lang="th-TH" sz="2400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เพิ่ม 10</a:t>
            </a:r>
            <a:r>
              <a:rPr lang="en-US" sz="2400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%)</a:t>
            </a:r>
            <a:r>
              <a:rPr lang="en-US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(THB/</a:t>
            </a:r>
            <a:r>
              <a:rPr lang="en-US" sz="2400" dirty="0" err="1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sqin</a:t>
            </a:r>
            <a:r>
              <a:rPr lang="en-US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) * </a:t>
            </a:r>
            <a:r>
              <a:rPr lang="en-US" sz="2400" dirty="0" err="1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Flexo</a:t>
            </a:r>
            <a:r>
              <a:rPr lang="en-US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size (in</a:t>
            </a:r>
            <a:r>
              <a:rPr lang="en-US" sz="2400" baseline="300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2</a:t>
            </a:r>
            <a:r>
              <a:rPr lang="en-US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Qty = ups * (</a:t>
            </a:r>
            <a:r>
              <a:rPr lang="th-TH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จำนวนสี</a:t>
            </a:r>
            <a:r>
              <a:rPr lang="en-US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Price = </a:t>
            </a:r>
            <a:r>
              <a:rPr lang="en-US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Qty * Unit Price</a:t>
            </a:r>
            <a:endParaRPr lang="th-TH" sz="2400" dirty="0"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h-TH" sz="2400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*** ตั้ง </a:t>
            </a:r>
            <a:r>
              <a:rPr lang="en-US" sz="2400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Price </a:t>
            </a:r>
            <a:r>
              <a:rPr lang="th-TH" sz="2400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ขั้นต่ำไว้ที่ 50 บาท</a:t>
            </a:r>
            <a:endParaRPr lang="en-US" sz="2400" dirty="0">
              <a:solidFill>
                <a:srgbClr val="FF0000"/>
              </a:solidFill>
              <a:effectLst/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1CC141-589E-4DBA-AD96-D0F9EB41680C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7" name="สี่เหลี่ยมผืนผ้า 33">
              <a:extLst>
                <a:ext uri="{FF2B5EF4-FFF2-40B4-BE49-F238E27FC236}">
                  <a16:creationId xmlns:a16="http://schemas.microsoft.com/office/drawing/2014/main" id="{7A923604-A14B-4F2A-AE6C-5F15F5CB6B2A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8" name="กล่องข้อความ 34">
              <a:extLst>
                <a:ext uri="{FF2B5EF4-FFF2-40B4-BE49-F238E27FC236}">
                  <a16:creationId xmlns:a16="http://schemas.microsoft.com/office/drawing/2014/main" id="{9620F99B-ED6C-40CF-8B97-1AE869FCD475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26049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9BC165-AE00-4B04-A1B7-7C36A434097D}"/>
              </a:ext>
            </a:extLst>
          </p:cNvPr>
          <p:cNvSpPr txBox="1"/>
          <p:nvPr/>
        </p:nvSpPr>
        <p:spPr>
          <a:xfrm>
            <a:off x="590550" y="514350"/>
            <a:ext cx="1844740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การคิดราคาพิมพ์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E72EF0-A3EF-462A-AA1F-AE3BA82B6686}"/>
              </a:ext>
            </a:extLst>
          </p:cNvPr>
          <p:cNvSpPr txBox="1"/>
          <p:nvPr/>
        </p:nvSpPr>
        <p:spPr>
          <a:xfrm>
            <a:off x="590550" y="1037570"/>
            <a:ext cx="6733982" cy="5229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24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แยกคิด</a:t>
            </a:r>
            <a:r>
              <a:rPr lang="en-US" sz="24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Outside, Inside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th-TH" sz="2400" dirty="0">
              <a:effectLst/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pPr>
              <a:lnSpc>
                <a:spcPct val="107000"/>
              </a:lnSpc>
            </a:pPr>
            <a:r>
              <a:rPr lang="th-TH" sz="2400" b="1" u="sng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ประเภทพิมพ์</a:t>
            </a:r>
            <a:r>
              <a:rPr lang="en-US" sz="2400" b="1" u="sng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:</a:t>
            </a:r>
            <a:r>
              <a:rPr lang="th-TH" sz="2400" b="1" u="sng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en-US" sz="2400" b="1" u="sng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Offset</a:t>
            </a:r>
            <a:endParaRPr lang="th-TH" sz="2400" b="1" u="sng" dirty="0"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pPr marL="34290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th-TH" sz="24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ค่าพิมพ์ เทียบจาก</a:t>
            </a:r>
            <a:r>
              <a:rPr lang="th-TH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ตารางราคา โดยใช้คอลัมน์ </a:t>
            </a:r>
            <a:r>
              <a:rPr lang="th-TH" sz="2400" b="1" dirty="0">
                <a:solidFill>
                  <a:srgbClr val="0070C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ค่าพิมพ์</a:t>
            </a:r>
            <a:r>
              <a:rPr lang="th-TH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, </a:t>
            </a:r>
            <a:r>
              <a:rPr lang="en-US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After ups,</a:t>
            </a:r>
            <a:r>
              <a:rPr lang="th-TH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endParaRPr lang="th-TH" sz="2400" b="1" dirty="0"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pPr>
              <a:lnSpc>
                <a:spcPct val="107000"/>
              </a:lnSpc>
            </a:pPr>
            <a:r>
              <a:rPr lang="th-TH" sz="2400" b="1" u="sng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ประเภทพิมพ์</a:t>
            </a:r>
            <a:r>
              <a:rPr lang="en-US" sz="2400" b="1" u="sng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: </a:t>
            </a:r>
            <a:r>
              <a:rPr lang="en-US" sz="2400" b="1" u="sng" dirty="0" err="1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Flexo</a:t>
            </a:r>
            <a:endParaRPr lang="en-US" sz="2400" b="1" u="sng" dirty="0"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pPr marL="34290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th-TH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ค่าพิมพ์ </a:t>
            </a:r>
            <a:r>
              <a:rPr lang="th-TH" sz="24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เทียบจาก</a:t>
            </a:r>
            <a:r>
              <a:rPr lang="th-TH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ตารางราคา โดยใช้คอลัมน์ </a:t>
            </a:r>
            <a:r>
              <a:rPr lang="th-TH" sz="2400" b="1" dirty="0">
                <a:solidFill>
                  <a:srgbClr val="0070C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ค่าพิมพ์</a:t>
            </a:r>
            <a:r>
              <a:rPr lang="th-TH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, </a:t>
            </a:r>
            <a:r>
              <a:rPr lang="en-US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After ups,</a:t>
            </a:r>
            <a:endParaRPr lang="th-TH" sz="2400" dirty="0"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pPr marL="34290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th-TH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ตอนนี้ยอดเท่าไหร่ ก็ 1 บาท/ใบพิมพ์ </a:t>
            </a:r>
            <a:r>
              <a:rPr lang="en-US" sz="2400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(After ups)</a:t>
            </a:r>
            <a:endParaRPr lang="th-TH" sz="2400" dirty="0">
              <a:solidFill>
                <a:srgbClr val="FF0000"/>
              </a:solidFill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pPr marL="34290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Ink Factor = 1</a:t>
            </a:r>
          </a:p>
          <a:p>
            <a:pPr>
              <a:lnSpc>
                <a:spcPct val="107000"/>
              </a:lnSpc>
            </a:pPr>
            <a:endParaRPr lang="en-US" sz="2400" dirty="0"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pPr>
              <a:lnSpc>
                <a:spcPct val="107000"/>
              </a:lnSpc>
            </a:pPr>
            <a:r>
              <a:rPr lang="en-US" sz="2400" b="1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Unit price = ink factor * </a:t>
            </a:r>
            <a:r>
              <a:rPr lang="th-TH" sz="2400" b="1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ค่าพิมพ์</a:t>
            </a:r>
            <a:r>
              <a:rPr lang="en-US" sz="2400" b="1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* </a:t>
            </a:r>
            <a:r>
              <a:rPr lang="th-TH" sz="2400" b="1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จำนวนสี </a:t>
            </a:r>
            <a:r>
              <a:rPr lang="en-US" sz="2400" b="1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*</a:t>
            </a:r>
            <a:r>
              <a:rPr lang="th-TH" sz="2400" b="1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 ยก</a:t>
            </a:r>
            <a:endParaRPr lang="en-US" sz="2400" b="1" dirty="0"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pPr>
              <a:lnSpc>
                <a:spcPct val="107000"/>
              </a:lnSpc>
            </a:pPr>
            <a:r>
              <a:rPr lang="en-US" sz="2400" b="1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Qty = 1</a:t>
            </a:r>
          </a:p>
          <a:p>
            <a:pPr>
              <a:lnSpc>
                <a:spcPct val="107000"/>
              </a:lnSpc>
            </a:pPr>
            <a:r>
              <a:rPr lang="en-US" sz="2400" b="1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Price = Qty * Unit Price</a:t>
            </a:r>
          </a:p>
          <a:p>
            <a:pPr>
              <a:lnSpc>
                <a:spcPct val="107000"/>
              </a:lnSpc>
            </a:pPr>
            <a:endParaRPr lang="en-US" sz="2400" dirty="0"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94C6A6-839E-4B5C-8D03-CC576598F876}"/>
              </a:ext>
            </a:extLst>
          </p:cNvPr>
          <p:cNvSpPr txBox="1"/>
          <p:nvPr/>
        </p:nvSpPr>
        <p:spPr>
          <a:xfrm>
            <a:off x="7657038" y="775960"/>
            <a:ext cx="4250481" cy="4439229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2400" b="1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การเลือกคอลัมน์</a:t>
            </a:r>
            <a:r>
              <a:rPr lang="en-US" sz="2400" b="1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th-TH" sz="2400" b="1" dirty="0">
                <a:solidFill>
                  <a:srgbClr val="0070C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ค่าพิมพ์</a:t>
            </a:r>
            <a:endParaRPr lang="en-US" sz="2400" b="1" dirty="0">
              <a:solidFill>
                <a:srgbClr val="0070C0"/>
              </a:solidFill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u="sng" dirty="0">
                <a:solidFill>
                  <a:srgbClr val="0070C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Offset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1-2 </a:t>
            </a:r>
            <a:r>
              <a:rPr lang="th-TH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สี</a:t>
            </a:r>
            <a:r>
              <a:rPr lang="en-US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th-TH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จะเทียบค่าพิมพ์คอลัมน์ </a:t>
            </a:r>
            <a:r>
              <a:rPr lang="en-US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print_1col</a:t>
            </a:r>
            <a:endParaRPr lang="th-TH" sz="2400" dirty="0"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3-4</a:t>
            </a:r>
            <a:r>
              <a:rPr lang="th-TH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สี จะเทียบค่าพิมพ์คอลัมน์ </a:t>
            </a:r>
            <a:r>
              <a:rPr lang="en-US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print_3col</a:t>
            </a:r>
            <a:endParaRPr lang="th-TH" sz="2400" dirty="0"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pPr marL="34290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&gt;=5 </a:t>
            </a:r>
            <a:r>
              <a:rPr lang="th-TH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สี</a:t>
            </a:r>
            <a:r>
              <a:rPr lang="en-US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th-TH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จะเทียบค่าพิมพ์คอลัมน์</a:t>
            </a:r>
            <a:r>
              <a:rPr lang="en-US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print_5col</a:t>
            </a:r>
          </a:p>
          <a:p>
            <a:pPr>
              <a:lnSpc>
                <a:spcPct val="107000"/>
              </a:lnSpc>
            </a:pPr>
            <a:r>
              <a:rPr lang="en-US" sz="2400" b="1" u="sng" dirty="0" err="1">
                <a:solidFill>
                  <a:srgbClr val="0070C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Flexo</a:t>
            </a:r>
            <a:endParaRPr lang="en-US" sz="2400" b="1" u="sng" dirty="0">
              <a:solidFill>
                <a:srgbClr val="0070C0"/>
              </a:solidFill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pPr marL="34290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th-TH" sz="2400" dirty="0">
                <a:solidFill>
                  <a:schemeClr val="tx1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เทียบค่าพิมพ์คอลัมน์ </a:t>
            </a:r>
            <a:r>
              <a:rPr lang="en-US" sz="2400" dirty="0" err="1">
                <a:solidFill>
                  <a:schemeClr val="tx1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print_flexo</a:t>
            </a:r>
            <a:endParaRPr lang="en-US" sz="2400" dirty="0">
              <a:solidFill>
                <a:schemeClr val="tx1"/>
              </a:solidFill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400" dirty="0"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2400" b="1" u="sng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ค่า</a:t>
            </a:r>
            <a:r>
              <a:rPr lang="en-US" sz="2400" b="1" u="sng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Ink factor 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th-TH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หมึกธรรมดา</a:t>
            </a:r>
            <a:r>
              <a:rPr lang="en-US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: ink factor = 1 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th-TH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หมึก</a:t>
            </a:r>
            <a:r>
              <a:rPr lang="en-US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UV: ink factor = 4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845B93E-EEFA-42D1-9DD0-1A54A80DDC95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7" name="สี่เหลี่ยมผืนผ้า 33">
              <a:extLst>
                <a:ext uri="{FF2B5EF4-FFF2-40B4-BE49-F238E27FC236}">
                  <a16:creationId xmlns:a16="http://schemas.microsoft.com/office/drawing/2014/main" id="{D445C707-2253-41EA-B4BB-F1B4B9D8DDC7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" name="กล่องข้อความ 34">
              <a:extLst>
                <a:ext uri="{FF2B5EF4-FFF2-40B4-BE49-F238E27FC236}">
                  <a16:creationId xmlns:a16="http://schemas.microsoft.com/office/drawing/2014/main" id="{EFC7B0B1-A5F0-4776-8E64-9E0742310B72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720013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9BC165-AE00-4B04-A1B7-7C36A434097D}"/>
              </a:ext>
            </a:extLst>
          </p:cNvPr>
          <p:cNvSpPr txBox="1"/>
          <p:nvPr/>
        </p:nvSpPr>
        <p:spPr>
          <a:xfrm>
            <a:off x="590550" y="514350"/>
            <a:ext cx="2078005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การคิดราคาเคลือบ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E72EF0-A3EF-462A-AA1F-AE3BA82B6686}"/>
              </a:ext>
            </a:extLst>
          </p:cNvPr>
          <p:cNvSpPr txBox="1"/>
          <p:nvPr/>
        </p:nvSpPr>
        <p:spPr>
          <a:xfrm>
            <a:off x="590549" y="1037570"/>
            <a:ext cx="6389371" cy="5097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2400" b="1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เคลือบ</a:t>
            </a:r>
            <a:r>
              <a:rPr lang="en-US" sz="2400" b="1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: B-PACK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Coating rate </a:t>
            </a:r>
            <a:r>
              <a:rPr lang="th-TH" sz="20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เทียบจากตารางราคา ใช้ ขนาด</a:t>
            </a:r>
            <a:r>
              <a:rPr lang="en-US" sz="20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open size, </a:t>
            </a:r>
            <a:r>
              <a:rPr lang="th-TH" sz="20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ชนิดสารเคลือบ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Unit price = coating price * </a:t>
            </a:r>
            <a:r>
              <a:rPr lang="th-TH" sz="20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จำนวนด้านที่เคลือบ</a:t>
            </a: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2400" b="1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เคลือบ</a:t>
            </a:r>
            <a:r>
              <a:rPr lang="en-US" sz="2400" b="1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: </a:t>
            </a:r>
            <a:r>
              <a:rPr lang="th-TH" sz="2400" b="1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อื่นๆ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Coating rate </a:t>
            </a:r>
            <a:r>
              <a:rPr lang="th-TH" sz="20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เทียบตารางจาก</a:t>
            </a:r>
            <a:r>
              <a:rPr lang="en-US" sz="20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en-US" sz="2000" dirty="0" err="1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db</a:t>
            </a:r>
            <a:r>
              <a:rPr lang="th-TH" sz="20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ตามชนิดเคลือบ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Unit price = ups factor * coating size * coating rate * </a:t>
            </a:r>
            <a:r>
              <a:rPr lang="th-TH" sz="20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จำนวนด้านที่เคลือบ</a:t>
            </a: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th-TH" sz="2400" b="1" dirty="0"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Qty = </a:t>
            </a:r>
            <a:r>
              <a:rPr lang="en-US" sz="28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Paper Print</a:t>
            </a: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Price = Qty * Unit price</a:t>
            </a:r>
            <a:endParaRPr lang="th-TH" sz="2800" b="1" dirty="0"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th-TH" sz="2800" b="1" dirty="0"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20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กรณีเคลือบ</a:t>
            </a:r>
            <a:r>
              <a:rPr lang="en-US" sz="20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UV</a:t>
            </a:r>
            <a:r>
              <a:rPr lang="th-TH" sz="20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เว้นลิ้น</a:t>
            </a:r>
            <a:r>
              <a:rPr lang="en-US" sz="20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(UV_GAP) </a:t>
            </a:r>
            <a:r>
              <a:rPr lang="th-TH" sz="20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และ </a:t>
            </a:r>
            <a:r>
              <a:rPr lang="en-US" sz="20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Spot </a:t>
            </a:r>
            <a:r>
              <a:rPr lang="en-US" sz="2000" b="1" dirty="0" err="1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waterbase</a:t>
            </a:r>
            <a:r>
              <a:rPr lang="en-US" sz="20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th-TH" sz="20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จะมี</a:t>
            </a:r>
            <a:r>
              <a:rPr lang="en-US" sz="20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cost</a:t>
            </a:r>
            <a:r>
              <a:rPr lang="th-TH" sz="20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ผ้ายางเพิ่มในส่วนของ</a:t>
            </a:r>
            <a:r>
              <a:rPr lang="en-US" sz="20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material 3,000</a:t>
            </a:r>
            <a:r>
              <a:rPr lang="th-TH" sz="20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บาท</a:t>
            </a: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th-TH" sz="2800" b="1" dirty="0"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2E3F70-043F-4418-8E27-46991B1BCFF6}"/>
              </a:ext>
            </a:extLst>
          </p:cNvPr>
          <p:cNvSpPr txBox="1"/>
          <p:nvPr/>
        </p:nvSpPr>
        <p:spPr>
          <a:xfrm>
            <a:off x="7626893" y="514350"/>
            <a:ext cx="4250481" cy="2463367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2400" b="1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เคลือบทั่วไป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B0F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Coating Size </a:t>
            </a:r>
            <a:r>
              <a:rPr lang="en-US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= </a:t>
            </a:r>
            <a:r>
              <a:rPr lang="th-TH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ใช้</a:t>
            </a:r>
            <a:r>
              <a:rPr lang="en-US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layout size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B05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Ups factor </a:t>
            </a:r>
            <a:r>
              <a:rPr lang="en-US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= 1</a:t>
            </a: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2400" b="1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เคลือบ</a:t>
            </a:r>
            <a:r>
              <a:rPr lang="en-US" sz="2400" b="1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Spot UV (S-UV)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B0F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Coating Size </a:t>
            </a:r>
            <a:r>
              <a:rPr lang="en-US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= Input size from user</a:t>
            </a:r>
          </a:p>
          <a:p>
            <a:pPr marL="34290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B05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Ups factor </a:t>
            </a:r>
            <a:r>
              <a:rPr lang="en-US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= ups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FD7D2C-C238-4525-8219-CF8265AF0F8B}"/>
              </a:ext>
            </a:extLst>
          </p:cNvPr>
          <p:cNvSpPr txBox="1"/>
          <p:nvPr/>
        </p:nvSpPr>
        <p:spPr>
          <a:xfrm>
            <a:off x="7626893" y="3347985"/>
            <a:ext cx="4250481" cy="2858539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th-TH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ถ้า หน่วยของราคาขั้นต่ำเป็น ‘</a:t>
            </a:r>
            <a:r>
              <a:rPr lang="en-US" sz="2400" b="1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sheet</a:t>
            </a:r>
            <a:r>
              <a:rPr lang="en-US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’ </a:t>
            </a:r>
            <a:r>
              <a:rPr lang="th-TH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ให้เทียบ </a:t>
            </a:r>
            <a:r>
              <a:rPr lang="en-US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unit price </a:t>
            </a:r>
            <a:r>
              <a:rPr lang="th-TH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ถ้าน้อยกว่า </a:t>
            </a:r>
            <a:r>
              <a:rPr lang="en-US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min price =&gt; unit price = min price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th-TH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ถ้า หน่วยของราคาขั้นต่ำเป็น ‘</a:t>
            </a:r>
            <a:r>
              <a:rPr lang="en-US" sz="2400" b="1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price</a:t>
            </a:r>
            <a:r>
              <a:rPr lang="en-US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’ </a:t>
            </a:r>
            <a:r>
              <a:rPr lang="th-TH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ให้เทียบ </a:t>
            </a:r>
            <a:r>
              <a:rPr lang="en-US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price(qty x unit price) </a:t>
            </a:r>
            <a:r>
              <a:rPr lang="th-TH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ถ้าน้อยกว่า </a:t>
            </a:r>
            <a:r>
              <a:rPr lang="en-US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min price =&gt; price = min price</a:t>
            </a:r>
            <a:endParaRPr lang="th-TH" sz="2400" dirty="0"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	</a:t>
            </a:r>
            <a:r>
              <a:rPr lang="en-US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(</a:t>
            </a:r>
            <a:r>
              <a:rPr lang="th-TH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ดูหน่วยจาก</a:t>
            </a:r>
            <a:r>
              <a:rPr lang="en-US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database</a:t>
            </a:r>
            <a:r>
              <a:rPr lang="th-TH" sz="24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)</a:t>
            </a:r>
            <a:endParaRPr lang="en-US" sz="2400" dirty="0"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AD0F02D-05DF-4260-AF91-5DE8360F21B3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8" name="สี่เหลี่ยมผืนผ้า 33">
              <a:extLst>
                <a:ext uri="{FF2B5EF4-FFF2-40B4-BE49-F238E27FC236}">
                  <a16:creationId xmlns:a16="http://schemas.microsoft.com/office/drawing/2014/main" id="{DC72D00B-FF49-4F67-9FD2-C25B4C70EBB7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0" name="กล่องข้อความ 34">
              <a:extLst>
                <a:ext uri="{FF2B5EF4-FFF2-40B4-BE49-F238E27FC236}">
                  <a16:creationId xmlns:a16="http://schemas.microsoft.com/office/drawing/2014/main" id="{A1652B87-64BF-4A71-998B-9E5497692FDC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91462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9BC165-AE00-4B04-A1B7-7C36A434097D}"/>
              </a:ext>
            </a:extLst>
          </p:cNvPr>
          <p:cNvSpPr txBox="1"/>
          <p:nvPr/>
        </p:nvSpPr>
        <p:spPr>
          <a:xfrm>
            <a:off x="590550" y="514350"/>
            <a:ext cx="2768470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การคิดราคา </a:t>
            </a:r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Foil Stamp</a:t>
            </a:r>
            <a:endParaRPr lang="th-TH" sz="28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E72EF0-A3EF-462A-AA1F-AE3BA82B6686}"/>
              </a:ext>
            </a:extLst>
          </p:cNvPr>
          <p:cNvSpPr txBox="1"/>
          <p:nvPr/>
        </p:nvSpPr>
        <p:spPr>
          <a:xfrm>
            <a:off x="590550" y="1037570"/>
            <a:ext cx="5760008" cy="4659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20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ค่า</a:t>
            </a:r>
            <a:r>
              <a:rPr lang="en-US" sz="2000" b="1" u="sng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Block</a:t>
            </a:r>
            <a:endParaRPr lang="en-US" sz="2000" u="sng" dirty="0">
              <a:effectLst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th-TH" sz="2000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ค่า </a:t>
            </a:r>
            <a:r>
              <a:rPr lang="en-US" sz="2000" u="sng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Block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: Unit price = 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block size 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x block price rate (cost table)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ถ้า น้อยกว่า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min cost (Default: 70 B/block)</a:t>
            </a: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unit price = min cost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th-TH" sz="2000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ค่า ยิงฟิล์ม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: Unit price = 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block size 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x </a:t>
            </a: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เรทยิงฟิล์ม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(Default: 1.25 B/</a:t>
            </a:r>
            <a:r>
              <a:rPr lang="en-US" sz="2000" dirty="0" err="1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sqin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ถ้า น้อยกว่า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min cost (Default: 120 B/block)</a:t>
            </a: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unit price = min cost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Unit Price = Unit Price </a:t>
            </a:r>
            <a:r>
              <a:rPr lang="th-TH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ค่า</a:t>
            </a: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Block + Unit Price</a:t>
            </a:r>
            <a:r>
              <a:rPr lang="th-TH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ค่ายิงฟิล์ม</a:t>
            </a:r>
            <a:endParaRPr lang="en-US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</a:rPr>
              <a:t>Price= Qty (</a:t>
            </a:r>
            <a:r>
              <a:rPr lang="th-TH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</a:rPr>
              <a:t>จำนวน</a:t>
            </a: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</a:rPr>
              <a:t> ups) x Unit Price</a:t>
            </a:r>
            <a:endParaRPr lang="th-TH" sz="2000" b="1" dirty="0">
              <a:effectLst/>
              <a:latin typeface="Cordia New" panose="020B0304020202020204" pitchFamily="34" charset="-34"/>
              <a:ea typeface="Calibri" panose="020F0502020204030204" pitchFamily="34" charset="0"/>
            </a:endParaRPr>
          </a:p>
          <a:p>
            <a:endParaRPr lang="th-TH" sz="2000" b="1" dirty="0">
              <a:effectLst/>
              <a:latin typeface="Cordia New" panose="020B0304020202020204" pitchFamily="34" charset="-34"/>
              <a:ea typeface="Calibri" panose="020F0502020204030204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20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ค่าม้วน</a:t>
            </a:r>
            <a:r>
              <a:rPr lang="en-US" sz="2000" b="1" u="sng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Foil</a:t>
            </a:r>
            <a:endParaRPr lang="en-US" sz="2000" u="sng" dirty="0">
              <a:effectLst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th-TH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จำนวนที่ทำได้ต่อ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1</a:t>
            </a: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ม้วน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=</a:t>
            </a: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(</a:t>
            </a: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หน้ากว้างม้วน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/(</a:t>
            </a: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ความกว้าง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foil stamp + (2 x </a:t>
            </a: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ระยะเผื่อด้านกว้าง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(0.5 inch))) x (</a:t>
            </a: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ความยาวม้วน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/(</a:t>
            </a: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ความยาว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foil stamp) +</a:t>
            </a: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ระยะเผื่อด้านยาว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1</a:t>
            </a: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inch)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Unit Price = </a:t>
            </a:r>
            <a:r>
              <a:rPr lang="th-TH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ราคา</a:t>
            </a: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/</a:t>
            </a:r>
            <a:r>
              <a:rPr lang="th-TH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ม้วน</a:t>
            </a: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/ </a:t>
            </a:r>
            <a:r>
              <a:rPr lang="th-TH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จำนวนที่ทำได้</a:t>
            </a: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/</a:t>
            </a:r>
            <a:r>
              <a:rPr lang="th-TH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ม้วน</a:t>
            </a:r>
            <a:endParaRPr lang="en-US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Price</a:t>
            </a:r>
            <a:r>
              <a:rPr lang="th-TH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</a:t>
            </a: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= Qty(</a:t>
            </a:r>
            <a:r>
              <a:rPr lang="th-TH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จำนวนยอดงาน)</a:t>
            </a: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x Unit Price</a:t>
            </a:r>
            <a:endParaRPr lang="en-US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0197CD-3297-476E-A4A1-0D3EEBE60591}"/>
              </a:ext>
            </a:extLst>
          </p:cNvPr>
          <p:cNvSpPr txBox="1"/>
          <p:nvPr/>
        </p:nvSpPr>
        <p:spPr>
          <a:xfrm>
            <a:off x="6223280" y="1037570"/>
            <a:ext cx="5378172" cy="1738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20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ค่า</a:t>
            </a:r>
            <a:r>
              <a:rPr lang="en-US" sz="2000" b="1" u="sng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Foil stamp (labor)</a:t>
            </a:r>
            <a:endParaRPr lang="en-US" sz="2000" u="sng" dirty="0">
              <a:effectLst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Unit Price</a:t>
            </a: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(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B/sheet) = </a:t>
            </a: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ใช้ จำนวน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after ups </a:t>
            </a: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เทียบ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cost table</a:t>
            </a: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Unit Price(B/</a:t>
            </a: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ตัว)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= Unit Price</a:t>
            </a: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(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B/sheet) / ups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Price = Qty (</a:t>
            </a:r>
            <a:r>
              <a:rPr lang="th-TH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จำนวนยอดงาน</a:t>
            </a: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) x Unit Price</a:t>
            </a:r>
            <a:endParaRPr lang="en-US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ถ้า </a:t>
            </a: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Price</a:t>
            </a:r>
            <a:r>
              <a:rPr lang="th-TH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น้อยกว่า</a:t>
            </a: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min cost =&gt; Price = min cost</a:t>
            </a:r>
            <a:endParaRPr lang="en-US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896B1C-03D2-47EC-991F-E47ACFEDAE12}"/>
              </a:ext>
            </a:extLst>
          </p:cNvPr>
          <p:cNvSpPr txBox="1"/>
          <p:nvPr/>
        </p:nvSpPr>
        <p:spPr>
          <a:xfrm>
            <a:off x="7214911" y="3217356"/>
            <a:ext cx="3179391" cy="487506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Block size </a:t>
            </a:r>
            <a:r>
              <a:rPr lang="en-US" sz="2400" dirty="0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= foil stamp size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193B839-D2D9-40E5-BDD9-4141FDCC6C9E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10" name="สี่เหลี่ยมผืนผ้า 33">
              <a:extLst>
                <a:ext uri="{FF2B5EF4-FFF2-40B4-BE49-F238E27FC236}">
                  <a16:creationId xmlns:a16="http://schemas.microsoft.com/office/drawing/2014/main" id="{5FCACBE0-10F8-4A64-9B38-AA80C81DF26E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กล่องข้อความ 34">
              <a:extLst>
                <a:ext uri="{FF2B5EF4-FFF2-40B4-BE49-F238E27FC236}">
                  <a16:creationId xmlns:a16="http://schemas.microsoft.com/office/drawing/2014/main" id="{4E877E3C-34AA-42E5-B5F0-56B84E0CEB64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5260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9BC165-AE00-4B04-A1B7-7C36A434097D}"/>
              </a:ext>
            </a:extLst>
          </p:cNvPr>
          <p:cNvSpPr txBox="1"/>
          <p:nvPr/>
        </p:nvSpPr>
        <p:spPr>
          <a:xfrm>
            <a:off x="590550" y="514350"/>
            <a:ext cx="4382666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การคิดราคา </a:t>
            </a:r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Bossing (Emboss/Deboss)</a:t>
            </a:r>
            <a:endParaRPr lang="th-TH" sz="28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E72EF0-A3EF-462A-AA1F-AE3BA82B6686}"/>
              </a:ext>
            </a:extLst>
          </p:cNvPr>
          <p:cNvSpPr txBox="1"/>
          <p:nvPr/>
        </p:nvSpPr>
        <p:spPr>
          <a:xfrm>
            <a:off x="590550" y="1037570"/>
            <a:ext cx="5760008" cy="4681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20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ค่า</a:t>
            </a:r>
            <a:r>
              <a:rPr lang="en-US" sz="2000" b="1" u="sng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Block</a:t>
            </a:r>
            <a:endParaRPr lang="en-US" sz="2000" u="sng" dirty="0">
              <a:effectLst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th-TH" sz="2000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ค่า </a:t>
            </a:r>
            <a:r>
              <a:rPr lang="en-US" sz="2000" u="sng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Block: 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Unit price = 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block size 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x block price rate (cost table)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ถ้า น้อยกว่า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min cost (Default: 70 B/block)</a:t>
            </a: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unit price = min cost</a:t>
            </a: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</a:t>
            </a: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2000" dirty="0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//ในระบบไม่มี</a:t>
            </a:r>
            <a:endParaRPr lang="en-US" sz="20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th-TH" sz="2000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ค่า ยิงฟิล์ม</a:t>
            </a:r>
            <a:r>
              <a:rPr lang="en-US" sz="2000" u="sng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: 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Unit price 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= block size 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x </a:t>
            </a: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เรทยิงฟิล์ม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(Default: 1.25 B/</a:t>
            </a:r>
            <a:r>
              <a:rPr lang="en-US" sz="2000" dirty="0" err="1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sqin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ถ้า น้อยกว่า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min cost (Default: 120 B/block)</a:t>
            </a: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unit price = min cost</a:t>
            </a:r>
            <a:endParaRPr lang="th-TH" sz="2000" dirty="0">
              <a:effectLst/>
              <a:latin typeface="Cordia New" panose="020B0304020202020204" pitchFamily="34" charset="-34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Unit Price = Unit Price </a:t>
            </a:r>
            <a:r>
              <a:rPr lang="th-TH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ค่า</a:t>
            </a: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Block + Unit Price</a:t>
            </a:r>
            <a:r>
              <a:rPr lang="th-TH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ค่ายิงฟิล์ม</a:t>
            </a:r>
            <a:endParaRPr lang="en-US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</a:rPr>
              <a:t>Price= Qty (</a:t>
            </a:r>
            <a:r>
              <a:rPr lang="th-TH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</a:rPr>
              <a:t>จำนวน</a:t>
            </a: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</a:rPr>
              <a:t> ups) x Unit Price</a:t>
            </a:r>
            <a:endParaRPr lang="en-US" sz="2000" dirty="0">
              <a:effectLst/>
              <a:latin typeface="Cordia New" panose="020B0304020202020204" pitchFamily="34" charset="-34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20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ค่า</a:t>
            </a:r>
            <a:r>
              <a:rPr lang="en-US" sz="20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 </a:t>
            </a:r>
            <a:r>
              <a:rPr lang="en-US" sz="2000" b="1" u="sng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bossing (</a:t>
            </a:r>
            <a:r>
              <a:rPr lang="th-TH" sz="2000" b="1" u="sng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ค่า</a:t>
            </a:r>
            <a:r>
              <a:rPr lang="th-TH" sz="20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แรง</a:t>
            </a:r>
            <a:r>
              <a:rPr lang="en-US" sz="2000" b="1" u="sng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)</a:t>
            </a:r>
            <a:endParaRPr lang="en-US" sz="2000" u="sng" dirty="0">
              <a:effectLst/>
              <a:latin typeface="Cordia New" panose="020B0304020202020204" pitchFamily="34" charset="-34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Unit Price</a:t>
            </a: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(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B/sheet) = </a:t>
            </a: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ใช้ จำนวน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after ups </a:t>
            </a: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เทียบ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cost table</a:t>
            </a: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Unit Price(B/</a:t>
            </a: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ตัว)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= Unit Price</a:t>
            </a: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(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B/sheet) / ups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Price = Qty (</a:t>
            </a:r>
            <a:r>
              <a:rPr lang="th-TH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ยอดงาน</a:t>
            </a: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) x Unit Price (B/</a:t>
            </a:r>
            <a:r>
              <a:rPr lang="th-TH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ตัว</a:t>
            </a: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)</a:t>
            </a:r>
            <a:endParaRPr lang="en-US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ถ้า 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Price</a:t>
            </a: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น้อยกว่า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min cost =&gt; Price = min cost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896B1C-03D2-47EC-991F-E47ACFEDAE12}"/>
              </a:ext>
            </a:extLst>
          </p:cNvPr>
          <p:cNvSpPr txBox="1"/>
          <p:nvPr/>
        </p:nvSpPr>
        <p:spPr>
          <a:xfrm>
            <a:off x="7214911" y="1237830"/>
            <a:ext cx="4250481" cy="487506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Block size </a:t>
            </a:r>
            <a:r>
              <a:rPr lang="en-US" sz="2400" dirty="0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= bossing size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2ED5B48-6D16-4F81-94A5-31C56367778D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7" name="สี่เหลี่ยมผืนผ้า 33">
              <a:extLst>
                <a:ext uri="{FF2B5EF4-FFF2-40B4-BE49-F238E27FC236}">
                  <a16:creationId xmlns:a16="http://schemas.microsoft.com/office/drawing/2014/main" id="{814281D3-92DE-4D3F-96FB-772E934DCBA9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กล่องข้อความ 34">
              <a:extLst>
                <a:ext uri="{FF2B5EF4-FFF2-40B4-BE49-F238E27FC236}">
                  <a16:creationId xmlns:a16="http://schemas.microsoft.com/office/drawing/2014/main" id="{FD34BAF1-2332-4229-A7BB-A22C285BD75C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73034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9BC165-AE00-4B04-A1B7-7C36A434097D}"/>
              </a:ext>
            </a:extLst>
          </p:cNvPr>
          <p:cNvSpPr txBox="1"/>
          <p:nvPr/>
        </p:nvSpPr>
        <p:spPr>
          <a:xfrm>
            <a:off x="590550" y="514350"/>
            <a:ext cx="3636217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การคิดราคา</a:t>
            </a:r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Assembly (</a:t>
            </a:r>
            <a:r>
              <a:rPr lang="th-TH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ติดกาว</a:t>
            </a:r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)</a:t>
            </a:r>
            <a:endParaRPr lang="th-TH" sz="28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E72EF0-A3EF-462A-AA1F-AE3BA82B6686}"/>
              </a:ext>
            </a:extLst>
          </p:cNvPr>
          <p:cNvSpPr txBox="1"/>
          <p:nvPr/>
        </p:nvSpPr>
        <p:spPr>
          <a:xfrm>
            <a:off x="590550" y="1037570"/>
            <a:ext cx="5830347" cy="1738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เช็ค 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Assembly type </a:t>
            </a: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ว่าเป็น</a:t>
            </a:r>
            <a:r>
              <a:rPr lang="th-TH" sz="2000" dirty="0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ประเภทไหน จาก</a:t>
            </a:r>
            <a:r>
              <a:rPr lang="en-US" sz="2000" dirty="0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open size</a:t>
            </a:r>
            <a:r>
              <a:rPr lang="th-TH" sz="2000" dirty="0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เทียบ</a:t>
            </a:r>
            <a:r>
              <a:rPr lang="en-US" sz="2000" dirty="0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database</a:t>
            </a:r>
            <a:endParaRPr lang="en-US" sz="2000" dirty="0">
              <a:effectLst/>
              <a:latin typeface="Cordia New" panose="020B0304020202020204" pitchFamily="34" charset="-34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U</a:t>
            </a:r>
            <a:r>
              <a:rPr lang="en-US" sz="2000" b="1" dirty="0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nit price </a:t>
            </a: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= </a:t>
            </a:r>
            <a:r>
              <a:rPr lang="th-TH" sz="2000" b="1" dirty="0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เทียบจาก</a:t>
            </a:r>
            <a:r>
              <a:rPr lang="en-US" sz="2000" b="1" dirty="0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database</a:t>
            </a:r>
            <a:r>
              <a:rPr lang="th-TH" sz="2000" b="1" dirty="0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โดยใช้  </a:t>
            </a:r>
            <a:r>
              <a:rPr lang="en-US" sz="2000" b="1" dirty="0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Assembly Type</a:t>
            </a:r>
            <a:r>
              <a:rPr lang="th-TH" sz="2000" b="1" dirty="0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</a:t>
            </a:r>
            <a:r>
              <a:rPr lang="en-US" sz="2000" b="1" dirty="0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*</a:t>
            </a:r>
            <a:r>
              <a:rPr lang="th-TH" sz="2000" dirty="0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</a:t>
            </a:r>
            <a:r>
              <a:rPr lang="en-US" sz="2000" b="1" dirty="0">
                <a:solidFill>
                  <a:srgbClr val="00B050"/>
                </a:solidFill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Assembly Factor</a:t>
            </a:r>
            <a:endParaRPr lang="en-US" sz="2000" b="1" dirty="0">
              <a:solidFill>
                <a:srgbClr val="00B050"/>
              </a:solidFill>
              <a:effectLst/>
              <a:latin typeface="Cordia New" panose="020B0304020202020204" pitchFamily="34" charset="-34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Qty =</a:t>
            </a:r>
            <a:r>
              <a:rPr lang="th-TH" sz="2000" b="1" dirty="0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จำนวนชิ้นงาน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Price = Unit Price * Qty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ถ้า 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Price</a:t>
            </a: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น้อยกว่า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min price</a:t>
            </a: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ให้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price = min price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84B4B7-B7E5-449F-956A-A838105D3944}"/>
              </a:ext>
            </a:extLst>
          </p:cNvPr>
          <p:cNvSpPr txBox="1"/>
          <p:nvPr/>
        </p:nvSpPr>
        <p:spPr>
          <a:xfrm>
            <a:off x="7190097" y="637683"/>
            <a:ext cx="4250481" cy="206819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00B050"/>
                </a:solidFill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Assembly Factor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th-TH" sz="2400" dirty="0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จุดติดกาว </a:t>
            </a:r>
            <a:r>
              <a:rPr lang="en-US" sz="2400" dirty="0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= 1, Assembly Factor = 1</a:t>
            </a:r>
          </a:p>
          <a:p>
            <a:pPr marL="34290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th-TH" sz="2400" dirty="0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จุดติดกาว </a:t>
            </a:r>
            <a:r>
              <a:rPr lang="en-US" sz="2400" dirty="0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= 2, Assembly Factor = 1.5</a:t>
            </a:r>
          </a:p>
          <a:p>
            <a:pPr marL="34290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th-TH" sz="2400" dirty="0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จุดติดกาว </a:t>
            </a:r>
            <a:r>
              <a:rPr lang="en-US" sz="2400" dirty="0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= 3, Assembly Factor = 1.75</a:t>
            </a:r>
          </a:p>
          <a:p>
            <a:pPr marL="34290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th-TH" sz="2400" dirty="0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จุดติดกาว </a:t>
            </a:r>
            <a:r>
              <a:rPr lang="en-US" sz="2400" dirty="0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= 4, Assembly Factor = 1.9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CA4B72F-3937-49B4-BA4A-415E414A0A0D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8" name="สี่เหลี่ยมผืนผ้า 33">
              <a:extLst>
                <a:ext uri="{FF2B5EF4-FFF2-40B4-BE49-F238E27FC236}">
                  <a16:creationId xmlns:a16="http://schemas.microsoft.com/office/drawing/2014/main" id="{7087B68E-82A9-4373-A8B6-AEC0C38DD7EF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กล่องข้อความ 34">
              <a:extLst>
                <a:ext uri="{FF2B5EF4-FFF2-40B4-BE49-F238E27FC236}">
                  <a16:creationId xmlns:a16="http://schemas.microsoft.com/office/drawing/2014/main" id="{71A66DA7-4C7F-42A2-BE1E-41EAE0F4932F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94D967A-7361-42FA-B104-BBB8B3C01DEE}"/>
              </a:ext>
            </a:extLst>
          </p:cNvPr>
          <p:cNvGrpSpPr/>
          <p:nvPr/>
        </p:nvGrpSpPr>
        <p:grpSpPr>
          <a:xfrm>
            <a:off x="248132" y="2739578"/>
            <a:ext cx="5636937" cy="3784405"/>
            <a:chOff x="248132" y="2739578"/>
            <a:chExt cx="5636937" cy="378440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DD80B648-B9DC-4325-9B12-C409537A45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8132" y="2741193"/>
              <a:ext cx="5636937" cy="378279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B8425C3-FAB9-4612-9C61-107EF9493C7E}"/>
                </a:ext>
              </a:extLst>
            </p:cNvPr>
            <p:cNvSpPr/>
            <p:nvPr/>
          </p:nvSpPr>
          <p:spPr>
            <a:xfrm>
              <a:off x="5140403" y="2739578"/>
              <a:ext cx="743902" cy="378279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9CB09574-D314-44DC-A88B-CE59947C485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5147"/>
          <a:stretch/>
        </p:blipFill>
        <p:spPr>
          <a:xfrm>
            <a:off x="7361855" y="3126831"/>
            <a:ext cx="3480910" cy="302659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304705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9BC165-AE00-4B04-A1B7-7C36A434097D}"/>
              </a:ext>
            </a:extLst>
          </p:cNvPr>
          <p:cNvSpPr txBox="1"/>
          <p:nvPr/>
        </p:nvSpPr>
        <p:spPr>
          <a:xfrm>
            <a:off x="590550" y="514350"/>
            <a:ext cx="2357923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th-TH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การคิดราคา</a:t>
            </a:r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Die-cut</a:t>
            </a:r>
            <a:endParaRPr lang="th-TH" sz="28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E72EF0-A3EF-462A-AA1F-AE3BA82B6686}"/>
              </a:ext>
            </a:extLst>
          </p:cNvPr>
          <p:cNvSpPr txBox="1"/>
          <p:nvPr/>
        </p:nvSpPr>
        <p:spPr>
          <a:xfrm>
            <a:off x="590550" y="1037570"/>
            <a:ext cx="5830347" cy="305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2000" b="1" u="sng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ค่า</a:t>
            </a:r>
            <a:r>
              <a:rPr lang="en-US" sz="2000" b="1" u="sng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Block</a:t>
            </a:r>
            <a:endParaRPr lang="en-US" sz="2000" u="sng" dirty="0">
              <a:effectLst/>
              <a:latin typeface="Cordia New" panose="020B0304020202020204" pitchFamily="34" charset="-34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Unit price 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= </a:t>
            </a:r>
            <a:r>
              <a:rPr lang="en-US" sz="2000" b="1" dirty="0">
                <a:solidFill>
                  <a:srgbClr val="00B0F0"/>
                </a:solidFill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Block rate </a:t>
            </a: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*</a:t>
            </a:r>
            <a:r>
              <a:rPr lang="en-US" sz="2000" b="1" dirty="0">
                <a:solidFill>
                  <a:srgbClr val="00B0F0"/>
                </a:solidFill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</a:t>
            </a:r>
            <a:r>
              <a:rPr lang="en-US" sz="2000" b="1" dirty="0">
                <a:solidFill>
                  <a:srgbClr val="00B050"/>
                </a:solidFill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Factor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Price = Qty (1) x Unit Price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000" b="1" dirty="0">
              <a:effectLst/>
              <a:latin typeface="Cordia New" panose="020B0304020202020204" pitchFamily="34" charset="-34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2000" b="1" u="sng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ค่าแรง </a:t>
            </a:r>
            <a:r>
              <a:rPr lang="en-US" sz="2000" b="1" u="sng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(Labor)</a:t>
            </a:r>
            <a:endParaRPr lang="en-US" sz="2000" u="sng" dirty="0">
              <a:effectLst/>
              <a:latin typeface="Cordia New" panose="020B0304020202020204" pitchFamily="34" charset="-34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Unit Price</a:t>
            </a: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(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B/sheet) = </a:t>
            </a: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ใช้ จำนวน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after ups </a:t>
            </a: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เทียบ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cost table</a:t>
            </a: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</a:t>
            </a:r>
            <a:endParaRPr lang="en-US" sz="2000" dirty="0">
              <a:effectLst/>
              <a:latin typeface="Cordia New" panose="020B0304020202020204" pitchFamily="34" charset="-34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Unit Price(B/</a:t>
            </a:r>
            <a:r>
              <a:rPr lang="th-TH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ตัว)</a:t>
            </a: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= Unit Price</a:t>
            </a:r>
            <a:r>
              <a:rPr lang="th-TH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(</a:t>
            </a: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B/sheet) / ups * </a:t>
            </a:r>
            <a:r>
              <a:rPr lang="en-US" sz="2000" b="1" dirty="0">
                <a:solidFill>
                  <a:srgbClr val="00B050"/>
                </a:solidFill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Factor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Price = Qty (</a:t>
            </a:r>
            <a:r>
              <a:rPr lang="th-TH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ยอดงาน</a:t>
            </a: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) x Unit Price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ถ้า 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Price</a:t>
            </a: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น้อยกว่า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min cost =&gt; Price = min cost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E55079-8BB6-4D60-BEB8-01AB4767AE5C}"/>
              </a:ext>
            </a:extLst>
          </p:cNvPr>
          <p:cNvSpPr txBox="1"/>
          <p:nvPr/>
        </p:nvSpPr>
        <p:spPr>
          <a:xfrm>
            <a:off x="7214911" y="1037570"/>
            <a:ext cx="4250481" cy="1277850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00B0F0"/>
                </a:solidFill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Block rate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th-TH" sz="2400" dirty="0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งานใหม่เทียบ</a:t>
            </a:r>
            <a:r>
              <a:rPr lang="en-US" sz="2400" dirty="0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database</a:t>
            </a:r>
            <a:r>
              <a:rPr lang="th-TH" sz="2400" dirty="0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โดยใช้</a:t>
            </a:r>
            <a:r>
              <a:rPr lang="en-US" sz="2400" dirty="0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</a:t>
            </a:r>
            <a:r>
              <a:rPr lang="en-US" sz="2400" dirty="0" err="1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Laysize</a:t>
            </a:r>
            <a:endParaRPr lang="en-US" sz="2400" dirty="0">
              <a:latin typeface="Cordia New" panose="020B0304020202020204" pitchFamily="34" charset="-34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th-TH" sz="2400" dirty="0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งาน </a:t>
            </a:r>
            <a:r>
              <a:rPr lang="en-US" sz="2400" dirty="0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reprint</a:t>
            </a:r>
            <a:r>
              <a:rPr lang="th-TH" sz="2400" dirty="0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คิดที่</a:t>
            </a:r>
            <a:r>
              <a:rPr lang="en-US" sz="2400" dirty="0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500 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20347A-F61B-4915-A08B-E2FCE77EB50C}"/>
              </a:ext>
            </a:extLst>
          </p:cNvPr>
          <p:cNvSpPr txBox="1"/>
          <p:nvPr/>
        </p:nvSpPr>
        <p:spPr>
          <a:xfrm>
            <a:off x="7214911" y="2986950"/>
            <a:ext cx="4250481" cy="1277850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00B050"/>
                </a:solidFill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Factor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th-TH" sz="2400" dirty="0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ถ้ามีการเคลือบ </a:t>
            </a:r>
            <a:r>
              <a:rPr lang="en-US" sz="2400" dirty="0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OPP Window, factor = 2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th-TH" sz="2400" dirty="0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ถ้าไม่มีการเคลือบ</a:t>
            </a:r>
            <a:r>
              <a:rPr lang="en-US" sz="2400" dirty="0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OPP Window, factor = 1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C42E383-4003-41FC-A8DF-EB4C42CC9438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8" name="สี่เหลี่ยมผืนผ้า 33">
              <a:extLst>
                <a:ext uri="{FF2B5EF4-FFF2-40B4-BE49-F238E27FC236}">
                  <a16:creationId xmlns:a16="http://schemas.microsoft.com/office/drawing/2014/main" id="{5091F55F-AAE8-4256-BF7E-BAEB891CB537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กล่องข้อความ 34">
              <a:extLst>
                <a:ext uri="{FF2B5EF4-FFF2-40B4-BE49-F238E27FC236}">
                  <a16:creationId xmlns:a16="http://schemas.microsoft.com/office/drawing/2014/main" id="{B36C42D0-9CF6-468D-9C54-9B490F09F3FE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504280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9BC165-AE00-4B04-A1B7-7C36A434097D}"/>
              </a:ext>
            </a:extLst>
          </p:cNvPr>
          <p:cNvSpPr txBox="1"/>
          <p:nvPr/>
        </p:nvSpPr>
        <p:spPr>
          <a:xfrm>
            <a:off x="590550" y="514350"/>
            <a:ext cx="3477597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การคิดราคา</a:t>
            </a:r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Corrugated Board</a:t>
            </a:r>
            <a:endParaRPr lang="th-TH" sz="28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E72EF0-A3EF-462A-AA1F-AE3BA82B6686}"/>
              </a:ext>
            </a:extLst>
          </p:cNvPr>
          <p:cNvSpPr txBox="1"/>
          <p:nvPr/>
        </p:nvSpPr>
        <p:spPr>
          <a:xfrm>
            <a:off x="590550" y="1037570"/>
            <a:ext cx="7940501" cy="2858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Corrugated Size =&gt; 2 Case</a:t>
            </a:r>
            <a:endParaRPr lang="en-US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Case 1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: Component: </a:t>
            </a: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paper + corrugated 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=&gt; Corrugated Size = Layout Size – 0.375 in (each size)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Case 2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: Component: </a:t>
            </a: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corrugated only 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=&gt; Corrugated Size = Layout Size</a:t>
            </a:r>
            <a:endParaRPr lang="th-TH" sz="2000" dirty="0">
              <a:effectLst/>
              <a:latin typeface="Cordia New" panose="020B0304020202020204" pitchFamily="34" charset="-34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Unit Price (B/</a:t>
            </a:r>
            <a:r>
              <a:rPr lang="en-US" sz="2000" dirty="0" err="1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sqin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) = Unit price(B/</a:t>
            </a:r>
            <a:r>
              <a:rPr lang="en-US" sz="2000" dirty="0" err="1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sqft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) </a:t>
            </a: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จาก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cost table x %</a:t>
            </a:r>
            <a:r>
              <a:rPr lang="en-US" sz="2000" b="1" dirty="0">
                <a:effectLst/>
                <a:highlight>
                  <a:srgbClr val="FFFF00"/>
                </a:highlight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markup</a:t>
            </a:r>
            <a:r>
              <a:rPr lang="en-US" sz="2000" b="1" dirty="0">
                <a:highlight>
                  <a:srgbClr val="FFFF00"/>
                </a:highlight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(</a:t>
            </a:r>
            <a:r>
              <a:rPr lang="en-US" sz="2000" b="1" dirty="0">
                <a:solidFill>
                  <a:srgbClr val="FF0000"/>
                </a:solidFill>
                <a:highlight>
                  <a:srgbClr val="FFFF00"/>
                </a:highlight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1.05 //14072023</a:t>
            </a:r>
            <a:r>
              <a:rPr lang="en-US" sz="2000" b="1" dirty="0">
                <a:highlight>
                  <a:srgbClr val="FFFF00"/>
                </a:highlight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)</a:t>
            </a:r>
            <a:r>
              <a:rPr lang="en-US" sz="2000" b="1" dirty="0">
                <a:effectLst/>
                <a:highlight>
                  <a:srgbClr val="FFFF00"/>
                </a:highlight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/144</a:t>
            </a:r>
            <a:endParaRPr lang="th-TH" sz="2000" dirty="0">
              <a:effectLst/>
              <a:latin typeface="Cordia New" panose="020B0304020202020204" pitchFamily="34" charset="-34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Unit Price(B/sheet) = Unit Price (B/</a:t>
            </a:r>
            <a:r>
              <a:rPr lang="en-US" sz="2400" b="1" dirty="0" err="1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sqin</a:t>
            </a:r>
            <a:r>
              <a:rPr lang="en-US" sz="24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) x Corrugated Size (</a:t>
            </a:r>
            <a:r>
              <a:rPr lang="en-US" sz="2400" b="1" dirty="0" err="1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sqin</a:t>
            </a:r>
            <a:r>
              <a:rPr lang="en-US" sz="24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)</a:t>
            </a:r>
            <a:endParaRPr lang="en-US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Price= Qty (after ups + corrugated waste table) * unit price</a:t>
            </a:r>
            <a:endParaRPr lang="en-US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04B128-C946-4619-96F1-E7F4A8153AF8}"/>
              </a:ext>
            </a:extLst>
          </p:cNvPr>
          <p:cNvSpPr txBox="1"/>
          <p:nvPr/>
        </p:nvSpPr>
        <p:spPr>
          <a:xfrm>
            <a:off x="590550" y="4077395"/>
            <a:ext cx="3477597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th-TH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การคิดราคา</a:t>
            </a:r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th-TH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การประกบลูกฟูก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B6D90E-0712-425B-9088-E482A32A1B22}"/>
              </a:ext>
            </a:extLst>
          </p:cNvPr>
          <p:cNvSpPr txBox="1"/>
          <p:nvPr/>
        </p:nvSpPr>
        <p:spPr>
          <a:xfrm>
            <a:off x="590550" y="4740134"/>
            <a:ext cx="7940501" cy="1080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Qty = after ups + waste of corrugated board (</a:t>
            </a:r>
            <a:r>
              <a:rPr lang="th-TH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เทียบจากตารางใน</a:t>
            </a: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da</a:t>
            </a:r>
            <a:r>
              <a:rPr lang="en-US" sz="2000" b="1" dirty="0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t</a:t>
            </a: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abase)</a:t>
            </a:r>
            <a:endParaRPr lang="th-TH" sz="2000" b="1" dirty="0">
              <a:effectLst/>
              <a:latin typeface="Cordia New" panose="020B0304020202020204" pitchFamily="34" charset="-34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Unit price = Corrugated size * </a:t>
            </a:r>
            <a:r>
              <a:rPr lang="th-TH" sz="2000" b="1" dirty="0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เรทติดกาว (</a:t>
            </a:r>
            <a:r>
              <a:rPr lang="en-US" sz="2000" b="1" dirty="0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Default rate = 0.0019 B/</a:t>
            </a:r>
            <a:r>
              <a:rPr lang="en-US" sz="2000" b="1" dirty="0" err="1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sqinch</a:t>
            </a:r>
            <a:r>
              <a:rPr lang="en-US" sz="2000" b="1" dirty="0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)</a:t>
            </a:r>
            <a:endParaRPr lang="th-TH" sz="2000" b="1" dirty="0">
              <a:latin typeface="Cordia New" panose="020B0304020202020204" pitchFamily="34" charset="-34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Price = Qty * Unit Price</a:t>
            </a:r>
            <a:endParaRPr lang="en-US" sz="2000" b="1" dirty="0">
              <a:effectLst/>
              <a:latin typeface="Cordia New" panose="020B0304020202020204" pitchFamily="34" charset="-34"/>
              <a:ea typeface="Calibri" panose="020F0502020204030204" pitchFamily="34" charset="0"/>
              <a:cs typeface="Cordia New" panose="020B0304020202020204" pitchFamily="34" charset="-34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ABD63D4-355F-4090-9862-911D410A52AA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10" name="สี่เหลี่ยมผืนผ้า 33">
              <a:extLst>
                <a:ext uri="{FF2B5EF4-FFF2-40B4-BE49-F238E27FC236}">
                  <a16:creationId xmlns:a16="http://schemas.microsoft.com/office/drawing/2014/main" id="{609ACAB5-2144-497C-A782-6704F2FD8ACA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กล่องข้อความ 34">
              <a:extLst>
                <a:ext uri="{FF2B5EF4-FFF2-40B4-BE49-F238E27FC236}">
                  <a16:creationId xmlns:a16="http://schemas.microsoft.com/office/drawing/2014/main" id="{BD1EDB5A-DA95-42EE-9B73-45E324848C58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757908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9BC165-AE00-4B04-A1B7-7C36A434097D}"/>
              </a:ext>
            </a:extLst>
          </p:cNvPr>
          <p:cNvSpPr txBox="1"/>
          <p:nvPr/>
        </p:nvSpPr>
        <p:spPr>
          <a:xfrm>
            <a:off x="590550" y="514350"/>
            <a:ext cx="3123034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th-TH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การคิดราคา ค่าแกะ (</a:t>
            </a:r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Chip)</a:t>
            </a:r>
            <a:endParaRPr lang="th-TH" sz="28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E72EF0-A3EF-462A-AA1F-AE3BA82B6686}"/>
              </a:ext>
            </a:extLst>
          </p:cNvPr>
          <p:cNvSpPr txBox="1"/>
          <p:nvPr/>
        </p:nvSpPr>
        <p:spPr>
          <a:xfrm>
            <a:off x="590550" y="1199736"/>
            <a:ext cx="7940501" cy="1080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Unit Price = </a:t>
            </a:r>
            <a:r>
              <a:rPr lang="th-TH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ใช้ จำนวนยอด เทียบ</a:t>
            </a: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cost table</a:t>
            </a:r>
            <a:endParaRPr lang="en-US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Price</a:t>
            </a:r>
            <a:r>
              <a:rPr lang="th-TH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</a:t>
            </a: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= Qty (</a:t>
            </a:r>
            <a:r>
              <a:rPr lang="th-TH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จำนวนยอดทั้งหมด)</a:t>
            </a: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x</a:t>
            </a:r>
            <a:r>
              <a:rPr lang="th-TH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</a:t>
            </a: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Unit Price</a:t>
            </a:r>
            <a:endParaRPr lang="en-US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ถ้า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Price</a:t>
            </a: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น้อยกว่า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min cost</a:t>
            </a: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=&gt;</a:t>
            </a: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Price = min cost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523B4B-640C-4B3E-9FF1-BAB6177FC916}"/>
              </a:ext>
            </a:extLst>
          </p:cNvPr>
          <p:cNvSpPr txBox="1"/>
          <p:nvPr/>
        </p:nvSpPr>
        <p:spPr>
          <a:xfrm>
            <a:off x="590550" y="3013237"/>
            <a:ext cx="2759140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th-TH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การคิดราคา </a:t>
            </a:r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Inspection</a:t>
            </a:r>
            <a:endParaRPr lang="th-TH" sz="28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C83B23-7F5C-4085-AF5D-935E8D165388}"/>
              </a:ext>
            </a:extLst>
          </p:cNvPr>
          <p:cNvSpPr txBox="1"/>
          <p:nvPr/>
        </p:nvSpPr>
        <p:spPr>
          <a:xfrm>
            <a:off x="590550" y="3659839"/>
            <a:ext cx="7940501" cy="1080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Unit Price = </a:t>
            </a:r>
            <a:r>
              <a:rPr lang="th-TH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ใช้ จำนวนยอด เทียบ</a:t>
            </a: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cost table</a:t>
            </a:r>
            <a:endParaRPr lang="en-US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Price</a:t>
            </a:r>
            <a:r>
              <a:rPr lang="th-TH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</a:t>
            </a: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= Qty (</a:t>
            </a:r>
            <a:r>
              <a:rPr lang="th-TH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จำนวนยอดทั้งหมด)</a:t>
            </a: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x</a:t>
            </a:r>
            <a:r>
              <a:rPr lang="th-TH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</a:t>
            </a: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Unit Price</a:t>
            </a:r>
            <a:endParaRPr lang="en-US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ถ้า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Price</a:t>
            </a: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น้อยกว่า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min cost</a:t>
            </a: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=&gt;</a:t>
            </a: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Price = min cost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08C16D0-2917-42D8-9AB6-F248EBD7EAD5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9" name="สี่เหลี่ยมผืนผ้า 33">
              <a:extLst>
                <a:ext uri="{FF2B5EF4-FFF2-40B4-BE49-F238E27FC236}">
                  <a16:creationId xmlns:a16="http://schemas.microsoft.com/office/drawing/2014/main" id="{B6656069-4202-4F12-8BDD-BA8AA9586AF3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กล่องข้อความ 34">
              <a:extLst>
                <a:ext uri="{FF2B5EF4-FFF2-40B4-BE49-F238E27FC236}">
                  <a16:creationId xmlns:a16="http://schemas.microsoft.com/office/drawing/2014/main" id="{4F87364D-9F6D-4203-8D3E-885E0507CE6A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13612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9BC165-AE00-4B04-A1B7-7C36A434097D}"/>
              </a:ext>
            </a:extLst>
          </p:cNvPr>
          <p:cNvSpPr txBox="1"/>
          <p:nvPr/>
        </p:nvSpPr>
        <p:spPr>
          <a:xfrm>
            <a:off x="590550" y="514350"/>
            <a:ext cx="2497883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การคิดราคา </a:t>
            </a:r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Delivery</a:t>
            </a:r>
            <a:endParaRPr lang="th-TH" sz="28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E72EF0-A3EF-462A-AA1F-AE3BA82B6686}"/>
              </a:ext>
            </a:extLst>
          </p:cNvPr>
          <p:cNvSpPr txBox="1"/>
          <p:nvPr/>
        </p:nvSpPr>
        <p:spPr>
          <a:xfrm>
            <a:off x="590550" y="1037570"/>
            <a:ext cx="7940501" cy="206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Gross weight = gross weight (</a:t>
            </a: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น้ำหนักต่อแพ</a:t>
            </a:r>
            <a:r>
              <a:rPr lang="th-TH" sz="2000" dirty="0" err="1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็ค</a:t>
            </a: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Unit Price = (Delivery rate (Default: 1,500 B/ton) x gross weight /1,000)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Qty = </a:t>
            </a:r>
            <a:r>
              <a:rPr lang="th-TH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จำนวน</a:t>
            </a: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pack</a:t>
            </a:r>
            <a:endParaRPr lang="en-US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Price = Qty x Unit Price</a:t>
            </a:r>
            <a:endParaRPr lang="en-US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ถ้า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Price </a:t>
            </a: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น้อยกว่า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min cost (Default: 1,500</a:t>
            </a: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THB) =&gt;</a:t>
            </a:r>
            <a:r>
              <a:rPr lang="th-TH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Price = min cost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84FC222-92A7-4724-BFD2-F887DA27D168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7" name="สี่เหลี่ยมผืนผ้า 33">
              <a:extLst>
                <a:ext uri="{FF2B5EF4-FFF2-40B4-BE49-F238E27FC236}">
                  <a16:creationId xmlns:a16="http://schemas.microsoft.com/office/drawing/2014/main" id="{4EAED631-5E2F-4492-8EA8-B5111AACD7FA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กล่องข้อความ 34">
              <a:extLst>
                <a:ext uri="{FF2B5EF4-FFF2-40B4-BE49-F238E27FC236}">
                  <a16:creationId xmlns:a16="http://schemas.microsoft.com/office/drawing/2014/main" id="{B99FCE9B-6585-4AFD-A03E-537B9E7842FF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61344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68F83E-BB8F-4BFB-8C91-A801F85E8AF0}"/>
              </a:ext>
            </a:extLst>
          </p:cNvPr>
          <p:cNvSpPr txBox="1"/>
          <p:nvPr/>
        </p:nvSpPr>
        <p:spPr>
          <a:xfrm>
            <a:off x="590550" y="514350"/>
            <a:ext cx="2367254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th-TH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การคิดราคา สีพิเศษ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B1FD61-4056-42A0-9D7F-999E22667378}"/>
              </a:ext>
            </a:extLst>
          </p:cNvPr>
          <p:cNvSpPr txBox="1"/>
          <p:nvPr/>
        </p:nvSpPr>
        <p:spPr>
          <a:xfrm>
            <a:off x="590550" y="1059140"/>
            <a:ext cx="6332764" cy="1409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Qty = roundup(1.05 * layout size * after waste * </a:t>
            </a:r>
            <a:r>
              <a:rPr lang="en-US" sz="2000" b="1" dirty="0">
                <a:solidFill>
                  <a:srgbClr val="0070C0"/>
                </a:solidFill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F</a:t>
            </a:r>
            <a:r>
              <a:rPr lang="en-US" sz="2000" b="1" dirty="0">
                <a:solidFill>
                  <a:srgbClr val="0070C0"/>
                </a:solidFill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illing percent </a:t>
            </a: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/ </a:t>
            </a:r>
            <a:r>
              <a:rPr lang="en-US" sz="2000" b="1" dirty="0">
                <a:solidFill>
                  <a:srgbClr val="00B050"/>
                </a:solidFill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factor)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Unit price </a:t>
            </a:r>
            <a:r>
              <a:rPr lang="th-TH" sz="2000" dirty="0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เทียบกับ </a:t>
            </a:r>
            <a:r>
              <a:rPr lang="en-US" sz="2000" dirty="0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database</a:t>
            </a:r>
            <a:r>
              <a:rPr lang="th-TH" sz="2000" dirty="0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ด้วยชนิดหมึก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th-TH" sz="2000" dirty="0">
              <a:effectLst/>
              <a:latin typeface="Cordia New" panose="020B0304020202020204" pitchFamily="34" charset="-34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effectLst/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Price = Qty * Unit Price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E560D64-A99A-4C62-ACFF-3BC6BACB6A6F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7" name="สี่เหลี่ยมผืนผ้า 33">
              <a:extLst>
                <a:ext uri="{FF2B5EF4-FFF2-40B4-BE49-F238E27FC236}">
                  <a16:creationId xmlns:a16="http://schemas.microsoft.com/office/drawing/2014/main" id="{82603348-50A7-47C7-A9BC-6BFC8A3F6DFC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กล่องข้อความ 34">
              <a:extLst>
                <a:ext uri="{FF2B5EF4-FFF2-40B4-BE49-F238E27FC236}">
                  <a16:creationId xmlns:a16="http://schemas.microsoft.com/office/drawing/2014/main" id="{2776C7FB-6C8D-466C-8827-858BE7AE2BBE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27698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56CABAC-79EA-4200-AD08-B143149AF2DA}"/>
              </a:ext>
            </a:extLst>
          </p:cNvPr>
          <p:cNvSpPr txBox="1"/>
          <p:nvPr/>
        </p:nvSpPr>
        <p:spPr>
          <a:xfrm>
            <a:off x="590550" y="514350"/>
            <a:ext cx="1256911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Packing</a:t>
            </a:r>
            <a:endParaRPr lang="th-TH" sz="28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BC06E5-D87C-428E-A269-533264B74C6E}"/>
              </a:ext>
            </a:extLst>
          </p:cNvPr>
          <p:cNvSpPr txBox="1"/>
          <p:nvPr/>
        </p:nvSpPr>
        <p:spPr>
          <a:xfrm>
            <a:off x="590550" y="1152525"/>
            <a:ext cx="5419726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รูปแบบการ</a:t>
            </a:r>
            <a:r>
              <a:rPr lang="en-US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Packing</a:t>
            </a:r>
            <a:r>
              <a:rPr lang="th-TH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ที่โปรแกรมคิดราคาได้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P, 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P, 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P, K, 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P, K, C, Pallet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K, 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C, Pallet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K, Pallet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Pallet</a:t>
            </a:r>
            <a:endParaRPr lang="th-TH" sz="28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th-TH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E90D22-3B63-467F-B6E3-4C5544C8C0FF}"/>
              </a:ext>
            </a:extLst>
          </p:cNvPr>
          <p:cNvSpPr txBox="1"/>
          <p:nvPr/>
        </p:nvSpPr>
        <p:spPr>
          <a:xfrm>
            <a:off x="8248650" y="1323320"/>
            <a:ext cx="2714625" cy="1815882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 	– </a:t>
            </a:r>
            <a:r>
              <a:rPr lang="en-US" sz="2800" b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Paperband</a:t>
            </a:r>
            <a:endParaRPr lang="en-US" sz="28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en-US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K 	– </a:t>
            </a:r>
            <a:r>
              <a:rPr lang="en-US" sz="2800" b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Kraftwrap</a:t>
            </a:r>
            <a:endParaRPr lang="en-US" sz="28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en-US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 	– Carton</a:t>
            </a:r>
          </a:p>
          <a:p>
            <a:r>
              <a:rPr lang="en-US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Pallet 	– Pallet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04C7C32-B2C0-4712-9DB7-EC08556E4552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9" name="สี่เหลี่ยมผืนผ้า 33">
              <a:extLst>
                <a:ext uri="{FF2B5EF4-FFF2-40B4-BE49-F238E27FC236}">
                  <a16:creationId xmlns:a16="http://schemas.microsoft.com/office/drawing/2014/main" id="{74FB7007-1026-4FBB-AB94-DB0E153E857E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0" name="กล่องข้อความ 34">
              <a:extLst>
                <a:ext uri="{FF2B5EF4-FFF2-40B4-BE49-F238E27FC236}">
                  <a16:creationId xmlns:a16="http://schemas.microsoft.com/office/drawing/2014/main" id="{B5A19E8C-9B4C-4052-A907-1D63F519303A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598569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56CABAC-79EA-4200-AD08-B143149AF2DA}"/>
              </a:ext>
            </a:extLst>
          </p:cNvPr>
          <p:cNvSpPr txBox="1"/>
          <p:nvPr/>
        </p:nvSpPr>
        <p:spPr>
          <a:xfrm>
            <a:off x="590550" y="533400"/>
            <a:ext cx="3738854" cy="5232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Concept </a:t>
            </a:r>
            <a:r>
              <a:rPr lang="th-TH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การคิดราคา </a:t>
            </a:r>
            <a:r>
              <a:rPr lang="en-US" sz="2800" b="1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Paperband</a:t>
            </a:r>
            <a:endParaRPr lang="th-TH" sz="28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5F037F-DBE1-4489-A965-023F73B0A330}"/>
              </a:ext>
            </a:extLst>
          </p:cNvPr>
          <p:cNvSpPr txBox="1"/>
          <p:nvPr/>
        </p:nvSpPr>
        <p:spPr>
          <a:xfrm>
            <a:off x="590549" y="1238250"/>
            <a:ext cx="769620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กรณี </a:t>
            </a:r>
            <a:r>
              <a:rPr lang="en-US" sz="2400" b="1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paperband</a:t>
            </a:r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+ </a:t>
            </a:r>
            <a:r>
              <a:rPr lang="en-US" sz="2400" b="1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kraftwrap</a:t>
            </a:r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, </a:t>
            </a:r>
            <a:r>
              <a:rPr lang="en-US" sz="2400" b="1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paperband</a:t>
            </a:r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+ </a:t>
            </a:r>
            <a:r>
              <a:rPr lang="en-US" sz="2400" b="1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kraftwrap</a:t>
            </a:r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+ carton</a:t>
            </a:r>
            <a:endParaRPr lang="th-TH" sz="24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เช็คถ้า จำนวนชิ้นงาน</a:t>
            </a:r>
            <a:r>
              <a:rPr lang="en-US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 /</a:t>
            </a:r>
            <a:r>
              <a:rPr lang="th-TH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kraftwrap</a:t>
            </a:r>
            <a:r>
              <a:rPr lang="th-TH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&lt;</a:t>
            </a:r>
            <a:r>
              <a:rPr lang="th-TH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 จำนวนชิ้นงาน</a:t>
            </a:r>
            <a:r>
              <a:rPr lang="en-US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 /</a:t>
            </a:r>
            <a:r>
              <a:rPr lang="th-TH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paperband</a:t>
            </a:r>
            <a:r>
              <a:rPr lang="th-TH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endParaRPr lang="en-US" sz="24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th-TH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       </a:t>
            </a:r>
            <a:r>
              <a:rPr lang="en-US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set</a:t>
            </a:r>
            <a:r>
              <a:rPr lang="th-TH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 จำนวนชิ้นงาน</a:t>
            </a:r>
            <a:r>
              <a:rPr lang="en-US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 /</a:t>
            </a:r>
            <a:r>
              <a:rPr lang="th-TH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paperband</a:t>
            </a:r>
            <a:r>
              <a:rPr lang="th-TH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 = </a:t>
            </a:r>
            <a:r>
              <a:rPr lang="th-TH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จำนวนชิ้นงาน</a:t>
            </a:r>
            <a:r>
              <a:rPr lang="en-US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 /</a:t>
            </a:r>
            <a:r>
              <a:rPr lang="th-TH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kraftwrap</a:t>
            </a:r>
            <a:endParaRPr lang="th-TH" sz="24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หาจำนวน</a:t>
            </a:r>
            <a:r>
              <a:rPr lang="en-US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 stack</a:t>
            </a:r>
            <a:r>
              <a:rPr lang="th-TH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paperband</a:t>
            </a:r>
            <a:endParaRPr lang="en-US" sz="24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หาจำนวน</a:t>
            </a:r>
            <a:r>
              <a:rPr lang="en-US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 paper band</a:t>
            </a:r>
            <a:r>
              <a:rPr lang="th-TH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( </a:t>
            </a:r>
            <a:r>
              <a:rPr lang="th-TH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ที่ต้องใช้ในการคาดชิ้นงาน</a:t>
            </a:r>
            <a:r>
              <a:rPr lang="en-US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คิด</a:t>
            </a:r>
            <a:r>
              <a:rPr lang="en-US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 cost</a:t>
            </a:r>
            <a:r>
              <a:rPr lang="th-TH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b="1" dirty="0" err="1">
                <a:solidFill>
                  <a:srgbClr val="00B05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paperband</a:t>
            </a:r>
            <a:r>
              <a:rPr lang="en-US" sz="2400" b="1" dirty="0">
                <a:solidFill>
                  <a:srgbClr val="00B05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/stack  </a:t>
            </a:r>
            <a:r>
              <a:rPr lang="en-US" sz="2400" b="1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[</a:t>
            </a:r>
            <a:r>
              <a:rPr lang="th-TH" sz="2400" b="1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ข้อมูล</a:t>
            </a:r>
            <a:r>
              <a:rPr lang="en-US" sz="2400" b="1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paperband</a:t>
            </a:r>
            <a:r>
              <a:rPr lang="th-TH" sz="2400" b="1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 แต่ละชนิดอยู่ใน</a:t>
            </a:r>
            <a:r>
              <a:rPr lang="en-US" sz="2400" b="1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 default.js]</a:t>
            </a:r>
            <a:endParaRPr lang="th-TH" sz="2400" b="1" dirty="0">
              <a:solidFill>
                <a:srgbClr val="FF0000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endParaRPr lang="th-TH" sz="24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Qty = </a:t>
            </a:r>
            <a:r>
              <a:rPr lang="th-TH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จำนวน</a:t>
            </a:r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stack </a:t>
            </a:r>
            <a:r>
              <a:rPr lang="en-US" sz="2400" b="1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paperband</a:t>
            </a:r>
            <a:endParaRPr lang="en-US" sz="24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Unit price = </a:t>
            </a:r>
            <a:r>
              <a:rPr lang="th-TH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ค่า</a:t>
            </a:r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wrap (0.5</a:t>
            </a:r>
            <a:r>
              <a:rPr lang="th-TH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THB/stack) + </a:t>
            </a:r>
            <a:r>
              <a:rPr lang="th-TH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ค่า </a:t>
            </a:r>
            <a:r>
              <a:rPr lang="en-US" sz="2400" b="1" dirty="0" err="1">
                <a:solidFill>
                  <a:srgbClr val="00B05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paperband</a:t>
            </a:r>
            <a:r>
              <a:rPr lang="en-US" sz="2400" b="1" dirty="0">
                <a:solidFill>
                  <a:srgbClr val="00B05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/stack</a:t>
            </a:r>
          </a:p>
          <a:p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Price = Qty * Unit Price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th-TH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กรณี</a:t>
            </a:r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b="1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paperband</a:t>
            </a:r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+ carton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เช็คเงื่อนไขเหมือน</a:t>
            </a:r>
            <a:r>
              <a:rPr lang="en-US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 kraft wrap</a:t>
            </a:r>
            <a:r>
              <a:rPr lang="th-TH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 แต่เปลี่ยนไปเป็นจำนวนชิ้นงาน</a:t>
            </a:r>
            <a:r>
              <a:rPr lang="en-US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/carton</a:t>
            </a:r>
            <a:endParaRPr lang="th-TH" sz="24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6A4073B-3E95-4866-A500-D2103CB291DC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7" name="สี่เหลี่ยมผืนผ้า 33">
              <a:extLst>
                <a:ext uri="{FF2B5EF4-FFF2-40B4-BE49-F238E27FC236}">
                  <a16:creationId xmlns:a16="http://schemas.microsoft.com/office/drawing/2014/main" id="{90D9AAED-B6E5-442A-9442-68C45AEFA9F2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กล่องข้อความ 34">
              <a:extLst>
                <a:ext uri="{FF2B5EF4-FFF2-40B4-BE49-F238E27FC236}">
                  <a16:creationId xmlns:a16="http://schemas.microsoft.com/office/drawing/2014/main" id="{2195A892-9A21-47A4-AB5C-E0982C022C65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868886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56CABAC-79EA-4200-AD08-B143149AF2DA}"/>
              </a:ext>
            </a:extLst>
          </p:cNvPr>
          <p:cNvSpPr txBox="1"/>
          <p:nvPr/>
        </p:nvSpPr>
        <p:spPr>
          <a:xfrm>
            <a:off x="590550" y="533400"/>
            <a:ext cx="3608226" cy="5232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Concept </a:t>
            </a:r>
            <a:r>
              <a:rPr lang="th-TH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การคิดราคา </a:t>
            </a:r>
            <a:r>
              <a:rPr lang="en-US" sz="2800" b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Kraftwrap</a:t>
            </a:r>
            <a:endParaRPr lang="th-TH" sz="28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5F037F-DBE1-4489-A965-023F73B0A330}"/>
              </a:ext>
            </a:extLst>
          </p:cNvPr>
          <p:cNvSpPr txBox="1"/>
          <p:nvPr/>
        </p:nvSpPr>
        <p:spPr>
          <a:xfrm>
            <a:off x="590549" y="1238250"/>
            <a:ext cx="76962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user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input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ข้อมูล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จำนวนที่แพ</a:t>
            </a:r>
            <a:r>
              <a:rPr lang="th-TH" sz="2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็ค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ลง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Kraftwrap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9EA2C0-D0DD-453B-827D-B8AC16995BBA}"/>
              </a:ext>
            </a:extLst>
          </p:cNvPr>
          <p:cNvSpPr txBox="1"/>
          <p:nvPr/>
        </p:nvSpPr>
        <p:spPr>
          <a:xfrm>
            <a:off x="590549" y="1891070"/>
            <a:ext cx="1045845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หา</a:t>
            </a:r>
            <a:r>
              <a:rPr lang="th-TH" sz="24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จำนวนชิ้นงานต่อ </a:t>
            </a:r>
            <a:r>
              <a:rPr lang="en-US" sz="2400" b="1" dirty="0" err="1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Kraftwrap</a:t>
            </a:r>
            <a:r>
              <a:rPr lang="th-TH" sz="24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</a:p>
          <a:p>
            <a:pPr marL="342900"/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โปรแกรมจะคำนวณเป็น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default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เงื่อนไขจาก น้ำหนักต่อแพ</a:t>
            </a:r>
            <a:r>
              <a:rPr lang="th-TH" sz="2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็ค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ไม่เกิน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5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kg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และความสูงไม่เกินขนาดที่กำหนดไว้ออกมาให้ แต่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user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สามารถใส่จำนวนที่ต้องการเองได้เช่นกัน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คำนวณ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kraftwrap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size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จากจำนวนชิ้นงานต่อแพ</a:t>
            </a:r>
            <a:r>
              <a:rPr lang="th-TH" sz="2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็ค</a:t>
            </a:r>
            <a:endParaRPr lang="th-TH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th-TH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Qty = Roundup(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จำนวนชิ้นงานทั้งหมด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/</a:t>
            </a:r>
            <a:r>
              <a:rPr lang="th-TH" sz="24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จำนวนชิ้นงานต่อ</a:t>
            </a:r>
            <a:r>
              <a:rPr lang="en-US" sz="24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400" b="1" dirty="0" err="1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Kraftwrap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)</a:t>
            </a:r>
          </a:p>
          <a:p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Unit Price = </a:t>
            </a:r>
            <a:r>
              <a:rPr lang="en-US" sz="2400" b="1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5</a:t>
            </a:r>
            <a:r>
              <a:rPr lang="th-TH" sz="2400" b="1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THB/Pack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ตอนนี้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เป็นค่า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fixed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ไว้)</a:t>
            </a:r>
          </a:p>
          <a:p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Price = Qty * Unit Price</a:t>
            </a:r>
            <a:endParaRPr lang="th-TH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th-TH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F0DB968-E6EA-49EE-B803-8509B2CFBF52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9" name="สี่เหลี่ยมผืนผ้า 33">
              <a:extLst>
                <a:ext uri="{FF2B5EF4-FFF2-40B4-BE49-F238E27FC236}">
                  <a16:creationId xmlns:a16="http://schemas.microsoft.com/office/drawing/2014/main" id="{C4514BA2-A873-423D-A880-6762CE97D3B1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0" name="กล่องข้อความ 34">
              <a:extLst>
                <a:ext uri="{FF2B5EF4-FFF2-40B4-BE49-F238E27FC236}">
                  <a16:creationId xmlns:a16="http://schemas.microsoft.com/office/drawing/2014/main" id="{813D9AE0-12F0-4E36-8623-06479D27B65D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12672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56CABAC-79EA-4200-AD08-B143149AF2DA}"/>
              </a:ext>
            </a:extLst>
          </p:cNvPr>
          <p:cNvSpPr txBox="1"/>
          <p:nvPr/>
        </p:nvSpPr>
        <p:spPr>
          <a:xfrm>
            <a:off x="366264" y="206100"/>
            <a:ext cx="3337638" cy="5232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Concept </a:t>
            </a:r>
            <a:r>
              <a:rPr lang="th-TH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การคิดราคา </a:t>
            </a:r>
            <a:r>
              <a:rPr lang="en-US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Carton</a:t>
            </a:r>
            <a:endParaRPr lang="th-TH" sz="28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5F037F-DBE1-4489-A965-023F73B0A330}"/>
              </a:ext>
            </a:extLst>
          </p:cNvPr>
          <p:cNvSpPr txBox="1"/>
          <p:nvPr/>
        </p:nvSpPr>
        <p:spPr>
          <a:xfrm>
            <a:off x="323461" y="734809"/>
            <a:ext cx="10363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ครั้งแรกโปรแกรมจะคำนวณ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Carton size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ให้โดยเงื่อนไขเรื่องขนาดที่กำหนดไว้ และน้ำหนักของกล่อง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(Net weight)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ไม่เกิน </a:t>
            </a:r>
            <a:r>
              <a:rPr lang="en-US" sz="2400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15 kg</a:t>
            </a:r>
            <a:endParaRPr lang="th-TH" sz="2400" dirty="0">
              <a:solidFill>
                <a:srgbClr val="FF000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Gross weight = Net weight + </a:t>
            </a:r>
            <a:r>
              <a:rPr lang="en-US" sz="2400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1 kg</a:t>
            </a:r>
            <a:endParaRPr lang="th-TH" sz="2400" dirty="0">
              <a:solidFill>
                <a:srgbClr val="FF000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User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สามารถ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input carton size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เองได้ แล้วโปรแกรมจะคำนวณ </a:t>
            </a:r>
            <a:r>
              <a:rPr lang="th-TH" sz="2400" b="1" dirty="0">
                <a:solidFill>
                  <a:srgbClr val="FFC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จำนวนชิ้นงานต่อ</a:t>
            </a:r>
            <a:r>
              <a:rPr lang="en-US" sz="2400" b="1" dirty="0">
                <a:solidFill>
                  <a:srgbClr val="FFC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Carton</a:t>
            </a:r>
            <a:endParaRPr lang="th-TH" sz="2400" b="1" dirty="0">
              <a:solidFill>
                <a:srgbClr val="FFC00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th-TH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th-TH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9EA2C0-D0DD-453B-827D-B8AC16995BBA}"/>
              </a:ext>
            </a:extLst>
          </p:cNvPr>
          <p:cNvSpPr txBox="1"/>
          <p:nvPr/>
        </p:nvSpPr>
        <p:spPr>
          <a:xfrm>
            <a:off x="366264" y="2161164"/>
            <a:ext cx="85724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Qty = Roundup(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จำนวนชิ้นงานทั้งหมด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/</a:t>
            </a:r>
            <a:r>
              <a:rPr lang="th-TH" sz="2400" b="1" dirty="0">
                <a:solidFill>
                  <a:srgbClr val="FFC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จำนวนชิ้นงานต่อ</a:t>
            </a:r>
            <a:r>
              <a:rPr lang="en-US" sz="2400" b="1" dirty="0">
                <a:solidFill>
                  <a:srgbClr val="FFC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Carton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Unit Price =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ค่า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Pack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(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fixed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ไว้ที่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1 THB/Carton) +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400" b="1" dirty="0">
                <a:solidFill>
                  <a:srgbClr val="00B05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ค่ากระดาษลูกฟูก</a:t>
            </a:r>
            <a:r>
              <a:rPr lang="en-US" sz="2400" b="1" dirty="0">
                <a:solidFill>
                  <a:srgbClr val="00B05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/</a:t>
            </a:r>
            <a:r>
              <a:rPr lang="th-TH" sz="2400" b="1" dirty="0">
                <a:solidFill>
                  <a:srgbClr val="00B05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400" b="1" dirty="0">
                <a:solidFill>
                  <a:srgbClr val="00B05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Carton </a:t>
            </a:r>
            <a:endParaRPr lang="th-TH" sz="2400" b="1" dirty="0">
              <a:solidFill>
                <a:srgbClr val="00B05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Price = Qty * Unit Price</a:t>
            </a:r>
            <a:endParaRPr lang="th-TH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F28473-B3B1-413C-B0BD-A6DF05435050}"/>
              </a:ext>
            </a:extLst>
          </p:cNvPr>
          <p:cNvSpPr txBox="1"/>
          <p:nvPr/>
        </p:nvSpPr>
        <p:spPr>
          <a:xfrm>
            <a:off x="9024643" y="1285495"/>
            <a:ext cx="2791214" cy="1200329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th-TH" sz="2400" b="1" dirty="0">
                <a:solidFill>
                  <a:srgbClr val="00B05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ค่ากระดาษลูกฟูก</a:t>
            </a:r>
            <a:r>
              <a:rPr lang="en-US" sz="2400" b="1" dirty="0">
                <a:solidFill>
                  <a:srgbClr val="00B05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/</a:t>
            </a:r>
            <a:r>
              <a:rPr lang="th-TH" sz="2400" b="1" dirty="0">
                <a:solidFill>
                  <a:srgbClr val="00B05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400" b="1" dirty="0">
                <a:solidFill>
                  <a:srgbClr val="00B05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Carton</a:t>
            </a:r>
          </a:p>
          <a:p>
            <a:r>
              <a:rPr lang="th-TH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ราคา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unit price/</a:t>
            </a:r>
            <a:r>
              <a:rPr lang="th-TH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พื้นที่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ของแต่ละชนิด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(Database)</a:t>
            </a:r>
            <a:r>
              <a:rPr lang="th-TH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*</a:t>
            </a:r>
            <a:r>
              <a:rPr lang="th-TH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พื้นที่ที่ใช้</a:t>
            </a:r>
            <a:endParaRPr lang="en-US" sz="2400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903CEBC-780D-4523-84A2-DAB0A16DF58A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10" name="สี่เหลี่ยมผืนผ้า 33">
              <a:extLst>
                <a:ext uri="{FF2B5EF4-FFF2-40B4-BE49-F238E27FC236}">
                  <a16:creationId xmlns:a16="http://schemas.microsoft.com/office/drawing/2014/main" id="{B2394CD9-E443-4AEA-B23B-9171E5F07320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1" name="กล่องข้อความ 34">
              <a:extLst>
                <a:ext uri="{FF2B5EF4-FFF2-40B4-BE49-F238E27FC236}">
                  <a16:creationId xmlns:a16="http://schemas.microsoft.com/office/drawing/2014/main" id="{2F3A4BEA-24B8-4C65-93E1-4FB7C1198937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4FA27F6C-4E15-4AD1-8103-2E64FFC4CE0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759"/>
          <a:stretch/>
        </p:blipFill>
        <p:spPr>
          <a:xfrm>
            <a:off x="4658082" y="2962918"/>
            <a:ext cx="7210458" cy="206628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47C714-A465-4AC8-A331-4A41F8604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393" y="4660101"/>
            <a:ext cx="6710112" cy="139217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2A890A5-C094-4813-98E2-FD4696EB5D95}"/>
              </a:ext>
            </a:extLst>
          </p:cNvPr>
          <p:cNvSpPr/>
          <p:nvPr/>
        </p:nvSpPr>
        <p:spPr>
          <a:xfrm>
            <a:off x="5006409" y="5029200"/>
            <a:ext cx="781916" cy="3191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A5C816-47C8-4C1D-A026-3374A7F49A77}"/>
              </a:ext>
            </a:extLst>
          </p:cNvPr>
          <p:cNvSpPr/>
          <p:nvPr/>
        </p:nvSpPr>
        <p:spPr>
          <a:xfrm>
            <a:off x="10263966" y="3206801"/>
            <a:ext cx="1209165" cy="2221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95837EB-566F-4759-B508-0A559D8718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393" y="6128370"/>
            <a:ext cx="9837420" cy="42672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B13CE97-93E2-4AAB-BA85-CD45F1A622B7}"/>
              </a:ext>
            </a:extLst>
          </p:cNvPr>
          <p:cNvSpPr/>
          <p:nvPr/>
        </p:nvSpPr>
        <p:spPr>
          <a:xfrm>
            <a:off x="9912082" y="6332891"/>
            <a:ext cx="435732" cy="2221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AE3571-1E92-4DB4-B985-C6C1292D9F99}"/>
              </a:ext>
            </a:extLst>
          </p:cNvPr>
          <p:cNvSpPr txBox="1"/>
          <p:nvPr/>
        </p:nvSpPr>
        <p:spPr>
          <a:xfrm>
            <a:off x="7236963" y="5024787"/>
            <a:ext cx="384558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23.99 = 1 + [((27.41*59.80)/144)*2.02]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A52791C-C7FD-42CC-AC3F-D25C1C8ECAC9}"/>
              </a:ext>
            </a:extLst>
          </p:cNvPr>
          <p:cNvSpPr/>
          <p:nvPr/>
        </p:nvSpPr>
        <p:spPr>
          <a:xfrm>
            <a:off x="1599351" y="2539129"/>
            <a:ext cx="5853872" cy="3507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87120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56CABAC-79EA-4200-AD08-B143149AF2DA}"/>
              </a:ext>
            </a:extLst>
          </p:cNvPr>
          <p:cNvSpPr txBox="1"/>
          <p:nvPr/>
        </p:nvSpPr>
        <p:spPr>
          <a:xfrm>
            <a:off x="590550" y="533400"/>
            <a:ext cx="3124200" cy="5232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Concept </a:t>
            </a:r>
            <a:r>
              <a:rPr lang="th-TH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การคิดราคา</a:t>
            </a:r>
            <a:r>
              <a:rPr lang="en-US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Pallet</a:t>
            </a:r>
            <a:endParaRPr lang="th-TH" sz="28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6DF340-F1F0-4E3D-9A24-678F134CB364}"/>
              </a:ext>
            </a:extLst>
          </p:cNvPr>
          <p:cNvSpPr txBox="1"/>
          <p:nvPr/>
        </p:nvSpPr>
        <p:spPr>
          <a:xfrm>
            <a:off x="685800" y="1238250"/>
            <a:ext cx="98202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นำ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packaging size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ที่อยู่นอกสุดมาคิดตอนวางลง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Pallet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จะได้</a:t>
            </a:r>
            <a:r>
              <a:rPr lang="th-TH" sz="2400" b="1" dirty="0">
                <a:solidFill>
                  <a:schemeClr val="accent2">
                    <a:lumMod val="75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จำนวนชิ้นงานต่อ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Pallet</a:t>
            </a:r>
            <a:endParaRPr lang="th-TH" sz="2400" b="1" dirty="0">
              <a:solidFill>
                <a:schemeClr val="accent2">
                  <a:lumMod val="75000"/>
                </a:schemeClr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เงื่อนไขการวางลง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pallet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จะมีเรื่องของน้ำหนัก ความสูง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F23EBE-AF0F-4965-9471-06714CD98F05}"/>
              </a:ext>
            </a:extLst>
          </p:cNvPr>
          <p:cNvSpPr txBox="1"/>
          <p:nvPr/>
        </p:nvSpPr>
        <p:spPr>
          <a:xfrm>
            <a:off x="685800" y="2438579"/>
            <a:ext cx="85724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Qty = Roundup(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จำนวนชิ้นงานทั้งหมด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/</a:t>
            </a:r>
            <a:r>
              <a:rPr lang="th-TH" sz="2400" b="1" dirty="0">
                <a:solidFill>
                  <a:srgbClr val="FFC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400" b="1" dirty="0">
                <a:solidFill>
                  <a:schemeClr val="accent2">
                    <a:lumMod val="75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จำนวนชิ้นงานต่อ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Pallet) </a:t>
            </a:r>
            <a:endParaRPr lang="th-TH" sz="2400" b="1" dirty="0">
              <a:solidFill>
                <a:schemeClr val="accent2">
                  <a:lumMod val="75000"/>
                </a:schemeClr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Unit Price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=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แยกตามการขนส่ง</a:t>
            </a:r>
            <a:endParaRPr lang="th-TH" sz="2400" b="1" dirty="0">
              <a:solidFill>
                <a:srgbClr val="00B05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Price = Qty * Unit Price</a:t>
            </a:r>
            <a:endParaRPr lang="th-TH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0CF01E-F315-49CD-9BF5-A5AA78DD4966}"/>
              </a:ext>
            </a:extLst>
          </p:cNvPr>
          <p:cNvSpPr txBox="1"/>
          <p:nvPr/>
        </p:nvSpPr>
        <p:spPr>
          <a:xfrm>
            <a:off x="8658226" y="868919"/>
            <a:ext cx="3124200" cy="1200329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Unit price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ในประเทศ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400 THB/Pallet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ต่างประเทศ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700</a:t>
            </a:r>
            <a:r>
              <a:rPr lang="th-TH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THB/Pallet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29D1283-3D78-43DB-85DB-6DC0423C6082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8" name="สี่เหลี่ยมผืนผ้า 33">
              <a:extLst>
                <a:ext uri="{FF2B5EF4-FFF2-40B4-BE49-F238E27FC236}">
                  <a16:creationId xmlns:a16="http://schemas.microsoft.com/office/drawing/2014/main" id="{A7D2E11B-5F32-4844-B07A-C7901CE8398A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2" name="กล่องข้อความ 34">
              <a:extLst>
                <a:ext uri="{FF2B5EF4-FFF2-40B4-BE49-F238E27FC236}">
                  <a16:creationId xmlns:a16="http://schemas.microsoft.com/office/drawing/2014/main" id="{7296C8A8-CE5C-4618-A8BD-201315D5093E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735206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56CABAC-79EA-4200-AD08-B143149AF2DA}"/>
              </a:ext>
            </a:extLst>
          </p:cNvPr>
          <p:cNvSpPr txBox="1"/>
          <p:nvPr/>
        </p:nvSpPr>
        <p:spPr>
          <a:xfrm>
            <a:off x="590550" y="533400"/>
            <a:ext cx="2423238" cy="5232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th-TH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การคิดราคา</a:t>
            </a:r>
            <a:r>
              <a:rPr lang="en-US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Delivery</a:t>
            </a:r>
            <a:endParaRPr lang="th-TH" sz="28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C7D3D2-0670-419F-8ACB-0FC86C5C651C}"/>
              </a:ext>
            </a:extLst>
          </p:cNvPr>
          <p:cNvSpPr txBox="1"/>
          <p:nvPr/>
        </p:nvSpPr>
        <p:spPr>
          <a:xfrm>
            <a:off x="685800" y="1238250"/>
            <a:ext cx="98202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คิดจากน้ำหนักจาก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Gross weight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ต่อแพ</a:t>
            </a:r>
            <a:r>
              <a:rPr lang="th-TH" sz="2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็ค</a:t>
            </a:r>
            <a:endParaRPr lang="th-TH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th-TH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Qty =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pack</a:t>
            </a:r>
          </a:p>
          <a:p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Unit Price = Gross weight/ 1000 * 1500 (THB/pack)</a:t>
            </a:r>
            <a:endParaRPr lang="th-TH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Price =  Qty * Unit Price</a:t>
            </a:r>
            <a:endParaRPr lang="th-TH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EB2AEC-644C-4342-98B9-D7C1D7CFF931}"/>
              </a:ext>
            </a:extLst>
          </p:cNvPr>
          <p:cNvSpPr txBox="1"/>
          <p:nvPr/>
        </p:nvSpPr>
        <p:spPr>
          <a:xfrm>
            <a:off x="8247680" y="964562"/>
            <a:ext cx="3124200" cy="46166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th-TH" sz="2400" b="1" dirty="0">
                <a:solidFill>
                  <a:schemeClr val="accent4">
                    <a:lumMod val="75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ราคา</a:t>
            </a: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Delivery</a:t>
            </a:r>
            <a:r>
              <a:rPr lang="th-TH" sz="2400" b="1" dirty="0">
                <a:solidFill>
                  <a:schemeClr val="accent4">
                    <a:lumMod val="75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=</a:t>
            </a:r>
            <a:r>
              <a:rPr lang="th-TH" sz="2400" b="1" dirty="0">
                <a:solidFill>
                  <a:schemeClr val="accent4">
                    <a:lumMod val="75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1500 THB/Ton</a:t>
            </a:r>
            <a:endParaRPr lang="en-US" sz="2400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391912B-8691-4418-BF9F-3312A698AE33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9" name="สี่เหลี่ยมผืนผ้า 33">
              <a:extLst>
                <a:ext uri="{FF2B5EF4-FFF2-40B4-BE49-F238E27FC236}">
                  <a16:creationId xmlns:a16="http://schemas.microsoft.com/office/drawing/2014/main" id="{4DFEE81C-A04B-4A69-BEB9-B3903E6452C4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0" name="กล่องข้อความ 34">
              <a:extLst>
                <a:ext uri="{FF2B5EF4-FFF2-40B4-BE49-F238E27FC236}">
                  <a16:creationId xmlns:a16="http://schemas.microsoft.com/office/drawing/2014/main" id="{63991252-43E3-4F9B-8D8D-5516E29E5E91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2546308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BD38B19-CB1A-41FA-B622-69EC673A7315}"/>
              </a:ext>
            </a:extLst>
          </p:cNvPr>
          <p:cNvSpPr txBox="1"/>
          <p:nvPr/>
        </p:nvSpPr>
        <p:spPr>
          <a:xfrm>
            <a:off x="590550" y="533400"/>
            <a:ext cx="1051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3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ที่อยู่ </a:t>
            </a:r>
            <a:r>
              <a:rPr lang="en-US" sz="3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back-end</a:t>
            </a:r>
            <a:endParaRPr lang="th-TH" sz="32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3BDF08-7D2B-44F1-B6FE-14FAA09B4937}"/>
              </a:ext>
            </a:extLst>
          </p:cNvPr>
          <p:cNvSpPr txBox="1"/>
          <p:nvPr/>
        </p:nvSpPr>
        <p:spPr>
          <a:xfrm>
            <a:off x="666750" y="1205984"/>
            <a:ext cx="81153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H Sarabun New" panose="020B0500040200020003" pitchFamily="34" charset="-34"/>
                <a:cs typeface="TH Sarabun New" panose="020B0500040200020003" pitchFamily="34" charset="-34"/>
                <a:hlinkClick r:id="rId3" action="ppaction://hlinkfile"/>
              </a:rPr>
              <a:t>\\192.168.5.25\www\estimate_packaging\controllers\estimate</a:t>
            </a:r>
            <a:endParaRPr lang="en-US" sz="28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H Sarabun New" panose="020B0500040200020003" pitchFamily="34" charset="-34"/>
                <a:cs typeface="TH Sarabun New" panose="020B0500040200020003" pitchFamily="34" charset="-34"/>
                <a:hlinkClick r:id="rId3" action="ppaction://hlinkfile"/>
              </a:rPr>
              <a:t>\\192.168.5.25\www\estimate_packaging\model\estimate</a:t>
            </a:r>
            <a:endParaRPr lang="en-US" sz="28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44DA52-584F-4CB9-8606-4E30A5F38701}"/>
              </a:ext>
            </a:extLst>
          </p:cNvPr>
          <p:cNvSpPr txBox="1"/>
          <p:nvPr/>
        </p:nvSpPr>
        <p:spPr>
          <a:xfrm>
            <a:off x="590550" y="2186345"/>
            <a:ext cx="1051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Link Estimate Packaging</a:t>
            </a:r>
            <a:endParaRPr lang="th-TH" sz="32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21C93D-88F5-459B-B4C6-F0D5437862AE}"/>
              </a:ext>
            </a:extLst>
          </p:cNvPr>
          <p:cNvSpPr txBox="1"/>
          <p:nvPr/>
        </p:nvSpPr>
        <p:spPr>
          <a:xfrm>
            <a:off x="666750" y="2858929"/>
            <a:ext cx="81153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H Sarabun New" panose="020B0500040200020003" pitchFamily="34" charset="-34"/>
                <a:cs typeface="TH Sarabun New" panose="020B0500040200020003" pitchFamily="34" charset="-34"/>
                <a:hlinkClick r:id="rId4"/>
              </a:rPr>
              <a:t>MI: RFQ List</a:t>
            </a:r>
            <a:endParaRPr lang="en-US" sz="32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7418C51-52A4-4F48-AD57-4555A7EA8F9A}"/>
              </a:ext>
            </a:extLst>
          </p:cNvPr>
          <p:cNvGrpSpPr/>
          <p:nvPr/>
        </p:nvGrpSpPr>
        <p:grpSpPr>
          <a:xfrm>
            <a:off x="0" y="6574379"/>
            <a:ext cx="12192000" cy="369332"/>
            <a:chOff x="0" y="6574379"/>
            <a:chExt cx="12192000" cy="369332"/>
          </a:xfrm>
        </p:grpSpPr>
        <p:sp>
          <p:nvSpPr>
            <p:cNvPr id="7" name="สี่เหลี่ยมผืนผ้า 33">
              <a:extLst>
                <a:ext uri="{FF2B5EF4-FFF2-40B4-BE49-F238E27FC236}">
                  <a16:creationId xmlns:a16="http://schemas.microsoft.com/office/drawing/2014/main" id="{00092239-214E-4404-8DA1-835142A36660}"/>
                </a:ext>
              </a:extLst>
            </p:cNvPr>
            <p:cNvSpPr/>
            <p:nvPr/>
          </p:nvSpPr>
          <p:spPr>
            <a:xfrm>
              <a:off x="0" y="6660090"/>
              <a:ext cx="12192000" cy="1979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8" name="กล่องข้อความ 34">
              <a:extLst>
                <a:ext uri="{FF2B5EF4-FFF2-40B4-BE49-F238E27FC236}">
                  <a16:creationId xmlns:a16="http://schemas.microsoft.com/office/drawing/2014/main" id="{3E25181E-DD5F-46DA-BCC4-96581093C677}"/>
                </a:ext>
              </a:extLst>
            </p:cNvPr>
            <p:cNvSpPr txBox="1"/>
            <p:nvPr/>
          </p:nvSpPr>
          <p:spPr>
            <a:xfrm>
              <a:off x="2737713" y="6574379"/>
              <a:ext cx="6610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Department of Engineer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Sirivatana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interprint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 public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co.,ltd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8852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3754</TotalTime>
  <Words>7619</Words>
  <Application>Microsoft Office PowerPoint</Application>
  <PresentationFormat>Widescreen</PresentationFormat>
  <Paragraphs>722</Paragraphs>
  <Slides>53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0" baseType="lpstr">
      <vt:lpstr>Arial</vt:lpstr>
      <vt:lpstr>Calibri</vt:lpstr>
      <vt:lpstr>Calibri Light</vt:lpstr>
      <vt:lpstr>Cordia New</vt:lpstr>
      <vt:lpstr>Symbol</vt:lpstr>
      <vt:lpstr>TH Sarabun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Engineer01</dc:creator>
  <cp:lastModifiedBy>App_Engineer</cp:lastModifiedBy>
  <cp:revision>61</cp:revision>
  <dcterms:created xsi:type="dcterms:W3CDTF">2022-01-07T06:58:36Z</dcterms:created>
  <dcterms:modified xsi:type="dcterms:W3CDTF">2026-01-27T04:35:20Z</dcterms:modified>
</cp:coreProperties>
</file>